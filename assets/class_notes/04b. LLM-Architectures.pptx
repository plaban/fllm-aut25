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93"/>
  </p:notesMasterIdLst>
  <p:sldIdLst>
    <p:sldId id="258" r:id="rId2"/>
    <p:sldId id="387" r:id="rId3"/>
    <p:sldId id="419" r:id="rId4"/>
    <p:sldId id="420" r:id="rId5"/>
    <p:sldId id="421" r:id="rId6"/>
    <p:sldId id="417" r:id="rId7"/>
    <p:sldId id="416" r:id="rId8"/>
    <p:sldId id="398" r:id="rId9"/>
    <p:sldId id="390" r:id="rId10"/>
    <p:sldId id="397" r:id="rId11"/>
    <p:sldId id="399" r:id="rId12"/>
    <p:sldId id="400" r:id="rId13"/>
    <p:sldId id="401" r:id="rId14"/>
    <p:sldId id="403" r:id="rId15"/>
    <p:sldId id="406" r:id="rId16"/>
    <p:sldId id="405" r:id="rId17"/>
    <p:sldId id="407" r:id="rId18"/>
    <p:sldId id="408" r:id="rId19"/>
    <p:sldId id="409" r:id="rId20"/>
    <p:sldId id="410" r:id="rId21"/>
    <p:sldId id="422" r:id="rId22"/>
    <p:sldId id="388" r:id="rId23"/>
    <p:sldId id="355" r:id="rId24"/>
    <p:sldId id="356" r:id="rId25"/>
    <p:sldId id="389" r:id="rId26"/>
    <p:sldId id="411" r:id="rId27"/>
    <p:sldId id="412" r:id="rId28"/>
    <p:sldId id="413" r:id="rId29"/>
    <p:sldId id="414" r:id="rId30"/>
    <p:sldId id="415" r:id="rId31"/>
    <p:sldId id="418" r:id="rId32"/>
    <p:sldId id="423" r:id="rId33"/>
    <p:sldId id="424" r:id="rId34"/>
    <p:sldId id="425" r:id="rId35"/>
    <p:sldId id="426" r:id="rId36"/>
    <p:sldId id="427" r:id="rId37"/>
    <p:sldId id="428" r:id="rId38"/>
    <p:sldId id="429" r:id="rId39"/>
    <p:sldId id="430" r:id="rId40"/>
    <p:sldId id="480" r:id="rId41"/>
    <p:sldId id="431" r:id="rId42"/>
    <p:sldId id="432" r:id="rId43"/>
    <p:sldId id="433" r:id="rId44"/>
    <p:sldId id="435" r:id="rId45"/>
    <p:sldId id="436" r:id="rId46"/>
    <p:sldId id="434" r:id="rId47"/>
    <p:sldId id="437" r:id="rId48"/>
    <p:sldId id="440" r:id="rId49"/>
    <p:sldId id="438" r:id="rId50"/>
    <p:sldId id="441" r:id="rId51"/>
    <p:sldId id="442" r:id="rId52"/>
    <p:sldId id="439" r:id="rId53"/>
    <p:sldId id="443" r:id="rId54"/>
    <p:sldId id="444" r:id="rId55"/>
    <p:sldId id="445" r:id="rId56"/>
    <p:sldId id="446" r:id="rId57"/>
    <p:sldId id="447" r:id="rId58"/>
    <p:sldId id="448" r:id="rId59"/>
    <p:sldId id="449" r:id="rId60"/>
    <p:sldId id="450" r:id="rId61"/>
    <p:sldId id="451" r:id="rId62"/>
    <p:sldId id="452" r:id="rId63"/>
    <p:sldId id="453" r:id="rId64"/>
    <p:sldId id="455" r:id="rId65"/>
    <p:sldId id="456" r:id="rId66"/>
    <p:sldId id="457" r:id="rId67"/>
    <p:sldId id="458" r:id="rId68"/>
    <p:sldId id="459" r:id="rId69"/>
    <p:sldId id="460" r:id="rId70"/>
    <p:sldId id="461" r:id="rId71"/>
    <p:sldId id="462" r:id="rId72"/>
    <p:sldId id="463" r:id="rId73"/>
    <p:sldId id="464" r:id="rId74"/>
    <p:sldId id="465" r:id="rId75"/>
    <p:sldId id="466" r:id="rId76"/>
    <p:sldId id="467" r:id="rId77"/>
    <p:sldId id="468" r:id="rId78"/>
    <p:sldId id="469" r:id="rId79"/>
    <p:sldId id="470" r:id="rId80"/>
    <p:sldId id="481" r:id="rId81"/>
    <p:sldId id="482" r:id="rId82"/>
    <p:sldId id="483" r:id="rId83"/>
    <p:sldId id="484" r:id="rId84"/>
    <p:sldId id="471" r:id="rId85"/>
    <p:sldId id="472" r:id="rId86"/>
    <p:sldId id="473" r:id="rId87"/>
    <p:sldId id="474" r:id="rId88"/>
    <p:sldId id="475" r:id="rId89"/>
    <p:sldId id="476" r:id="rId90"/>
    <p:sldId id="477" r:id="rId91"/>
    <p:sldId id="478" r:id="rId9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8DD783"/>
    <a:srgbClr val="B37111"/>
    <a:srgbClr val="F1BE73"/>
    <a:srgbClr val="F9DE6B"/>
    <a:srgbClr val="EA9B26"/>
    <a:srgbClr val="158D82"/>
    <a:srgbClr val="5E861C"/>
    <a:srgbClr val="4992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72402-DDD5-4AA4-B67D-84D287CD135A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3684B-A4BC-40E1-95BF-E6FD9523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3684B-A4BC-40E1-95BF-E6FD95234C04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24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e_m</a:t>
            </a:r>
            <a:r>
              <a:rPr lang="en-IN" dirty="0"/>
              <a:t> is the dataset size of the </a:t>
            </a:r>
            <a:r>
              <a:rPr lang="en-IN" dirty="0" err="1"/>
              <a:t>mth</a:t>
            </a:r>
            <a:r>
              <a:rPr lang="en-IN" dirty="0"/>
              <a:t> task and </a:t>
            </a:r>
            <a:r>
              <a:rPr lang="en-IN" dirty="0" err="1"/>
              <a:t>e_n</a:t>
            </a:r>
            <a:r>
              <a:rPr lang="en-IN" dirty="0"/>
              <a:t> is the dataset size of the nth task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73684B-A4BC-40E1-95BF-E6FD95234C04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03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836" y="1096965"/>
            <a:ext cx="8567530" cy="2085696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>
                <a:solidFill>
                  <a:schemeClr val="accent5">
                    <a:lumMod val="50000"/>
                    <a:alpha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TextBox 3">
            <a:extLst>
              <a:ext uri="{FF2B5EF4-FFF2-40B4-BE49-F238E27FC236}">
                <a16:creationId xmlns:a16="http://schemas.microsoft.com/office/drawing/2014/main" id="{AD0C487A-D036-4525-9F6D-E5DCC81B692F}"/>
              </a:ext>
            </a:extLst>
          </p:cNvPr>
          <p:cNvSpPr txBox="1"/>
          <p:nvPr userDrawn="1"/>
        </p:nvSpPr>
        <p:spPr>
          <a:xfrm>
            <a:off x="1820484" y="878609"/>
            <a:ext cx="8406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Foundation of Large Language Models (FLLM)</a:t>
            </a:r>
          </a:p>
        </p:txBody>
      </p:sp>
    </p:spTree>
    <p:extLst>
      <p:ext uri="{BB962C8B-B14F-4D97-AF65-F5344CB8AC3E}">
        <p14:creationId xmlns:p14="http://schemas.microsoft.com/office/powerpoint/2010/main" val="108830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545418" cy="1112836"/>
          </a:xfrm>
        </p:spPr>
        <p:txBody>
          <a:bodyPr>
            <a:normAutofit/>
          </a:bodyPr>
          <a:lstStyle>
            <a:lvl1pPr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0"/>
            <a:ext cx="10545418" cy="5180971"/>
          </a:xfrm>
        </p:spPr>
        <p:txBody>
          <a:bodyPr/>
          <a:lstStyle>
            <a:lvl1pPr marL="36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70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2400" i="0">
                <a:solidFill>
                  <a:schemeClr val="tx1"/>
                </a:solidFill>
              </a:defRPr>
            </a:lvl2pPr>
            <a:lvl3pPr marL="108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3pPr>
            <a:lvl4pPr marL="1422900" indent="-342900">
              <a:buClr>
                <a:schemeClr val="bg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4pPr>
            <a:lvl5pPr marL="1800000" indent="-360000"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8CC88-0DD7-4664-8441-35A1B5AB113B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8E440-80E3-4674-868F-16E3FD812262}"/>
              </a:ext>
            </a:extLst>
          </p:cNvPr>
          <p:cNvCxnSpPr/>
          <p:nvPr userDrawn="1"/>
        </p:nvCxnSpPr>
        <p:spPr>
          <a:xfrm>
            <a:off x="932873" y="868045"/>
            <a:ext cx="5421745" cy="0"/>
          </a:xfrm>
          <a:prstGeom prst="line">
            <a:avLst/>
          </a:prstGeom>
          <a:ln w="317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4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4D23F-24C6-44B4-88C7-16C9608B3E4D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251A6-2E6D-48DB-A134-13BCB499129E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4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0C5A6-D4C3-4FDB-9CD1-8F3F7F2DC3D1}" type="datetime1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9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D09C5-598F-4C4B-815D-7456878A6D5C}" type="datetime1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4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43F6F-66E2-422A-9B23-C7396B3787C1}" type="datetime1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6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3CA9F-FD46-4F88-ACD6-B15C88BE4C4F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49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65A1D-2477-4D78-A9E8-5813899E5D39}" type="datetime1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92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36A4-B22C-4847-9F3A-0DFB975FACE4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B56E6-0D2F-4594-80EF-706675E60A35}" type="datetime1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3F560D19-1B0E-4F2B-92F8-6E7F06C7DF6E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Indian Oil Training on AI and ML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6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Courier New" panose="02070309020205020404" pitchFamily="49" charset="0"/>
        <a:buChar char="o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3pPr>
      <a:lvl4pPr marL="1422900" indent="-3429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cdn.openai.com/research-covers/language-unsupervised/language_understanding_paper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901.02860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0.png"/><Relationship Id="rId7" Type="http://schemas.openxmlformats.org/officeDocument/2006/relationships/image" Target="../media/image8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1906.08237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1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23.png"/><Relationship Id="rId7" Type="http://schemas.openxmlformats.org/officeDocument/2006/relationships/image" Target="../media/image127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10" Type="http://schemas.openxmlformats.org/officeDocument/2006/relationships/image" Target="../media/image147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10" Type="http://schemas.openxmlformats.org/officeDocument/2006/relationships/image" Target="../media/image163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910.10683" TargetMode="Externa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8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pdf/1905.02450#page=2.90" TargetMode="External"/><Relationship Id="rId4" Type="http://schemas.openxmlformats.org/officeDocument/2006/relationships/image" Target="../media/image17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20.png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7210-9334-4A18-A6C0-80B658DD8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LLM Architectures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5A4C8-F94D-4F5D-B4F9-508689224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Plaban Kumar Bhowmick</a:t>
            </a:r>
          </a:p>
          <a:p>
            <a:r>
              <a:rPr lang="en-IN" dirty="0"/>
              <a:t>Department of AI</a:t>
            </a:r>
          </a:p>
          <a:p>
            <a:r>
              <a:rPr lang="en-IN" dirty="0"/>
              <a:t>plaban@ai.iitkgp.ac.in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6D040-688E-4CDE-B3E0-268C6E0DA1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82800" y="6357600"/>
            <a:ext cx="1760150" cy="460800"/>
          </a:xfrm>
        </p:spPr>
        <p:txBody>
          <a:bodyPr/>
          <a:lstStyle/>
          <a:p>
            <a:fld id="{FF2BD96E-3838-45D2-9031-D3AF67C92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3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AC1F4-E984-48C6-85EA-D767FB356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Transformer as Foundation of LLMs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F0362-F62E-4D61-AF84-659247326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</a:t>
            </a:fld>
            <a:endParaRPr lang="en-US"/>
          </a:p>
        </p:txBody>
      </p:sp>
      <p:pic>
        <p:nvPicPr>
          <p:cNvPr id="24578" name="Picture 2" descr="An Introduction to BERT And How To Use It | BERT_Sentiment_Analysis –  Weights &amp; Biases">
            <a:extLst>
              <a:ext uri="{FF2B5EF4-FFF2-40B4-BE49-F238E27FC236}">
                <a16:creationId xmlns:a16="http://schemas.microsoft.com/office/drawing/2014/main" id="{8B12743F-E4EE-4232-B8AD-F05A247B9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636" y="1893797"/>
            <a:ext cx="3565802" cy="2600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3C4A353-5498-4B42-A3CB-C53C9292AA6A}"/>
              </a:ext>
            </a:extLst>
          </p:cNvPr>
          <p:cNvSpPr txBox="1"/>
          <p:nvPr/>
        </p:nvSpPr>
        <p:spPr>
          <a:xfrm>
            <a:off x="1434278" y="4553746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Encoder Only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A0786B-2B61-4DC0-95EC-A0BCD1AAB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757" y="1083365"/>
            <a:ext cx="2339543" cy="44580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F7B4DD-A9F2-4FCF-AC39-A6BFEA9752AC}"/>
              </a:ext>
            </a:extLst>
          </p:cNvPr>
          <p:cNvSpPr txBox="1"/>
          <p:nvPr/>
        </p:nvSpPr>
        <p:spPr>
          <a:xfrm>
            <a:off x="5085249" y="5541451"/>
            <a:ext cx="166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Decoder Only</a:t>
            </a:r>
          </a:p>
        </p:txBody>
      </p:sp>
      <p:pic>
        <p:nvPicPr>
          <p:cNvPr id="24580" name="Picture 4" descr="Architecture of the base version of the T5 model. | Download Scientific  Diagram">
            <a:extLst>
              <a:ext uri="{FF2B5EF4-FFF2-40B4-BE49-F238E27FC236}">
                <a16:creationId xmlns:a16="http://schemas.microsoft.com/office/drawing/2014/main" id="{BD20978C-A216-4E30-AC03-03337786F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396" y="1636425"/>
            <a:ext cx="3819759" cy="2998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4C3ECD-8F27-46B4-AEBC-646DD67F0924}"/>
              </a:ext>
            </a:extLst>
          </p:cNvPr>
          <p:cNvSpPr txBox="1"/>
          <p:nvPr/>
        </p:nvSpPr>
        <p:spPr>
          <a:xfrm>
            <a:off x="8527504" y="4642848"/>
            <a:ext cx="2067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Encoder-Decoder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D3798F-2741-4655-9B40-1DAFA4898A40}"/>
              </a:ext>
            </a:extLst>
          </p:cNvPr>
          <p:cNvSpPr txBox="1"/>
          <p:nvPr/>
        </p:nvSpPr>
        <p:spPr>
          <a:xfrm>
            <a:off x="1739347" y="4823339"/>
            <a:ext cx="734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BERT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45E874-1E11-4317-8C9A-86F3EBCBCAE0}"/>
              </a:ext>
            </a:extLst>
          </p:cNvPr>
          <p:cNvSpPr txBox="1"/>
          <p:nvPr/>
        </p:nvSpPr>
        <p:spPr>
          <a:xfrm>
            <a:off x="5551530" y="5803602"/>
            <a:ext cx="628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GPT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1739B5-3EC3-4BFE-A712-926925B3F26C}"/>
              </a:ext>
            </a:extLst>
          </p:cNvPr>
          <p:cNvSpPr txBox="1"/>
          <p:nvPr/>
        </p:nvSpPr>
        <p:spPr>
          <a:xfrm>
            <a:off x="9325927" y="4891999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T5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62B1A7-84C5-4884-BD64-164ED1F2D4EC}"/>
              </a:ext>
            </a:extLst>
          </p:cNvPr>
          <p:cNvSpPr txBox="1"/>
          <p:nvPr/>
        </p:nvSpPr>
        <p:spPr>
          <a:xfrm>
            <a:off x="624759" y="5172119"/>
            <a:ext cx="34355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Autoencoder Language Model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3513F0-B5AE-481E-A98E-4703A61C4EB9}"/>
              </a:ext>
            </a:extLst>
          </p:cNvPr>
          <p:cNvSpPr txBox="1"/>
          <p:nvPr/>
        </p:nvSpPr>
        <p:spPr>
          <a:xfrm>
            <a:off x="4084217" y="6172056"/>
            <a:ext cx="3624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Autoregressive Language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D013D5-CCF0-41A0-AFC0-5081296E6A80}"/>
              </a:ext>
            </a:extLst>
          </p:cNvPr>
          <p:cNvSpPr txBox="1"/>
          <p:nvPr/>
        </p:nvSpPr>
        <p:spPr>
          <a:xfrm>
            <a:off x="8527504" y="5255945"/>
            <a:ext cx="2199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Multi-Task Learning</a:t>
            </a:r>
          </a:p>
        </p:txBody>
      </p:sp>
    </p:spTree>
    <p:extLst>
      <p:ext uri="{BB962C8B-B14F-4D97-AF65-F5344CB8AC3E}">
        <p14:creationId xmlns:p14="http://schemas.microsoft.com/office/powerpoint/2010/main" val="2568026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  <p:bldP spid="16" grpId="0"/>
      <p:bldP spid="14" grpId="0"/>
      <p:bldP spid="17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F7DE-7FF6-46CC-AD86-54418B930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Autoregressive (AR) Language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E4DB-19C8-49AF-83F5-A010347E9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 the most likely next token conditioned on previous tokens (prompt)</a:t>
            </a:r>
          </a:p>
          <a:p>
            <a:r>
              <a:rPr lang="en-US" dirty="0"/>
              <a:t>Predict longer text by repeated token prediction</a:t>
            </a:r>
          </a:p>
          <a:p>
            <a:pPr lvl="1"/>
            <a:r>
              <a:rPr lang="en-US" dirty="0"/>
              <a:t>Include previously predicted token in the prompt</a:t>
            </a:r>
          </a:p>
          <a:p>
            <a:r>
              <a:rPr lang="en-US" dirty="0"/>
              <a:t>Use &lt;START&gt; as the initial prompt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D92ECD-4C19-4F40-82FC-7D1A31425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64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F6C1-4E04-4271-A49E-DD750D08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Autoregressive Language Model (ARLM)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E12EF-75F3-4726-818C-3D01DFFBB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1CA89F-A3F3-4E64-A2DF-29EF41A6D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267" y="907447"/>
            <a:ext cx="8192210" cy="51134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FF534C-9E9A-44D2-B6B5-6767387C8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925" y="2729696"/>
            <a:ext cx="1790855" cy="20347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993A3C-7312-4F85-AD41-5045014CF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316" y="5319809"/>
            <a:ext cx="472481" cy="7011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FA91A64-07A6-45EF-9BCF-DDED0C034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0915" y="2786851"/>
            <a:ext cx="967824" cy="19204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7DF7012-F628-4B54-B8E0-B7CDBB4E9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0062" y="5282372"/>
            <a:ext cx="548688" cy="7087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EE064FF-DE87-4702-AE2E-2E38C9DCEE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7117" y="2710644"/>
            <a:ext cx="1158340" cy="199661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6E486BD-3CBF-48F3-B2AD-697148E582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6081" y="5337407"/>
            <a:ext cx="708721" cy="6248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F48C21-BF4C-4590-9EE7-95B7B113F0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0553" y="2710644"/>
            <a:ext cx="1005927" cy="19889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FA6A4BD-9AEC-48EA-BA89-58C0F85689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1251" y="5299303"/>
            <a:ext cx="472481" cy="7011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811833E-91E5-4156-B63D-A3C7F961F9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357" y="2720583"/>
            <a:ext cx="929721" cy="202709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CD42E66-8539-4FE8-80B4-F1F7DEFA3E9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47435" y="5276442"/>
            <a:ext cx="480102" cy="68585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65464C6-83ED-445C-84DD-C51C8A84C3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65940" y="2661936"/>
            <a:ext cx="1127858" cy="206519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92E7998-5729-4D07-A934-D507EA81267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39276" y="5268821"/>
            <a:ext cx="541067" cy="6934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450455-A2D5-401E-AA21-66D0D9F4D28B}"/>
                  </a:ext>
                </a:extLst>
              </p:cNvPr>
              <p:cNvSpPr txBox="1"/>
              <p:nvPr/>
            </p:nvSpPr>
            <p:spPr>
              <a:xfrm>
                <a:off x="2445708" y="1483800"/>
                <a:ext cx="6865213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×…</m:t>
                      </m:r>
                    </m:oMath>
                  </m:oMathPara>
                </a14:m>
                <a:endParaRPr lang="en-IN" sz="2400" b="0" i="1" dirty="0">
                  <a:latin typeface="Cambria Math" panose="02040503050406030204" pitchFamily="18" charset="0"/>
                </a:endParaRPr>
              </a:p>
              <a:p>
                <a:r>
                  <a:rPr lang="en-IN" sz="2400" b="0" dirty="0"/>
                  <a:t>                                      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C450455-A2D5-401E-AA21-66D0D9F4D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708" y="1483800"/>
                <a:ext cx="6865213" cy="738664"/>
              </a:xfrm>
              <a:prstGeom prst="rect">
                <a:avLst/>
              </a:prstGeom>
              <a:blipFill>
                <a:blip r:embed="rId15"/>
                <a:stretch>
                  <a:fillRect l="-533" b="-172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2849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1F6C1-4E04-4271-A49E-DD750D088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 Encoder Language Model (AELM)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E12EF-75F3-4726-818C-3D01DFFBB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192F6F-EC9B-44E8-BAA5-9148E7283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058" y="2138558"/>
            <a:ext cx="8793230" cy="39179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09E00F-F657-488D-8F2C-F41D113CBEA5}"/>
                  </a:ext>
                </a:extLst>
              </p:cNvPr>
              <p:cNvSpPr txBox="1"/>
              <p:nvPr/>
            </p:nvSpPr>
            <p:spPr>
              <a:xfrm>
                <a:off x="3566871" y="1652821"/>
                <a:ext cx="465621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…,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809E00F-F657-488D-8F2C-F41D113CB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871" y="1652821"/>
                <a:ext cx="4656211" cy="369332"/>
              </a:xfrm>
              <a:prstGeom prst="rect">
                <a:avLst/>
              </a:prstGeom>
              <a:blipFill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95E186B-0651-459E-9130-B4B65FA32CFC}"/>
              </a:ext>
            </a:extLst>
          </p:cNvPr>
          <p:cNvSpPr txBox="1"/>
          <p:nvPr/>
        </p:nvSpPr>
        <p:spPr>
          <a:xfrm>
            <a:off x="4409697" y="6218668"/>
            <a:ext cx="2862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Masked Language Model</a:t>
            </a:r>
          </a:p>
        </p:txBody>
      </p:sp>
    </p:spTree>
    <p:extLst>
      <p:ext uri="{BB962C8B-B14F-4D97-AF65-F5344CB8AC3E}">
        <p14:creationId xmlns:p14="http://schemas.microsoft.com/office/powerpoint/2010/main" val="149203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16C6F-A191-4B72-B244-C5E534325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2E9EA1-11F5-4578-B3BE-8E73B0F84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9" y="4"/>
            <a:ext cx="7681262" cy="68580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D8F2661-B70F-44BA-A65C-D32EC1B0C442}"/>
              </a:ext>
            </a:extLst>
          </p:cNvPr>
          <p:cNvCxnSpPr/>
          <p:nvPr/>
        </p:nvCxnSpPr>
        <p:spPr>
          <a:xfrm>
            <a:off x="6096000" y="914400"/>
            <a:ext cx="34455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7F8ED6-E273-47C5-82B2-635774791FD1}"/>
              </a:ext>
            </a:extLst>
          </p:cNvPr>
          <p:cNvCxnSpPr>
            <a:cxnSpLocks/>
          </p:cNvCxnSpPr>
          <p:nvPr/>
        </p:nvCxnSpPr>
        <p:spPr>
          <a:xfrm>
            <a:off x="9531626" y="894522"/>
            <a:ext cx="0" cy="57646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8DCBDF4-8CF5-4ACC-AB22-05006CCEDC1D}"/>
              </a:ext>
            </a:extLst>
          </p:cNvPr>
          <p:cNvSpPr/>
          <p:nvPr/>
        </p:nvSpPr>
        <p:spPr>
          <a:xfrm>
            <a:off x="10047374" y="6518423"/>
            <a:ext cx="827447" cy="2882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  <a:latin typeface="+mj-lt"/>
              </a:rPr>
              <a:t>DeepSeek-R1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6A902D4-CC26-4582-B363-734E21346D3D}"/>
              </a:ext>
            </a:extLst>
          </p:cNvPr>
          <p:cNvSpPr/>
          <p:nvPr/>
        </p:nvSpPr>
        <p:spPr>
          <a:xfrm>
            <a:off x="10047374" y="6134866"/>
            <a:ext cx="827447" cy="2882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  <a:latin typeface="+mj-lt"/>
              </a:rPr>
              <a:t>DeepSeek-V3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43B80D1-E073-4264-A6DF-AAA15AB3DE69}"/>
              </a:ext>
            </a:extLst>
          </p:cNvPr>
          <p:cNvSpPr/>
          <p:nvPr/>
        </p:nvSpPr>
        <p:spPr>
          <a:xfrm>
            <a:off x="10035428" y="5719847"/>
            <a:ext cx="827447" cy="2882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900" dirty="0">
                <a:solidFill>
                  <a:schemeClr val="tx1"/>
                </a:solidFill>
                <a:latin typeface="+mj-lt"/>
              </a:rPr>
              <a:t>DeepSeek-V2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944F03-BD71-4410-B596-110AFA8D1D4D}"/>
              </a:ext>
            </a:extLst>
          </p:cNvPr>
          <p:cNvCxnSpPr>
            <a:endCxn id="17" idx="1"/>
          </p:cNvCxnSpPr>
          <p:nvPr/>
        </p:nvCxnSpPr>
        <p:spPr>
          <a:xfrm>
            <a:off x="9531626" y="5863964"/>
            <a:ext cx="503802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865C9B0-D073-4870-B64B-3F72F719DD4C}"/>
              </a:ext>
            </a:extLst>
          </p:cNvPr>
          <p:cNvCxnSpPr/>
          <p:nvPr/>
        </p:nvCxnSpPr>
        <p:spPr>
          <a:xfrm>
            <a:off x="9534941" y="6284717"/>
            <a:ext cx="503802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6BA43EC-511A-4ED3-9127-5D7C4ABB68C8}"/>
              </a:ext>
            </a:extLst>
          </p:cNvPr>
          <p:cNvCxnSpPr/>
          <p:nvPr/>
        </p:nvCxnSpPr>
        <p:spPr>
          <a:xfrm>
            <a:off x="9518378" y="6665714"/>
            <a:ext cx="503802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854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F5127-DCF9-4519-BBC7-2E183823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2D9A0-524A-48E6-826E-A8236967018C}"/>
              </a:ext>
            </a:extLst>
          </p:cNvPr>
          <p:cNvSpPr txBox="1"/>
          <p:nvPr/>
        </p:nvSpPr>
        <p:spPr>
          <a:xfrm>
            <a:off x="2710897" y="3301735"/>
            <a:ext cx="78146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800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Encoder Only Architectures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424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117F2-7FD4-4BE1-B72B-398FF1A8D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4FD09-58E9-4336-B19C-84CAF5660645}"/>
              </a:ext>
            </a:extLst>
          </p:cNvPr>
          <p:cNvSpPr txBox="1"/>
          <p:nvPr/>
        </p:nvSpPr>
        <p:spPr>
          <a:xfrm>
            <a:off x="3366823" y="2478517"/>
            <a:ext cx="54583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/>
              <a:t> through Transformers 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6F0267-8F3A-47F9-A2E4-4943E99DA25E}"/>
              </a:ext>
            </a:extLst>
          </p:cNvPr>
          <p:cNvSpPr txBox="1"/>
          <p:nvPr/>
        </p:nvSpPr>
        <p:spPr>
          <a:xfrm>
            <a:off x="5120722" y="804902"/>
            <a:ext cx="19505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264CC6">
                    <a:lumMod val="75000"/>
                  </a:srgbClr>
                </a:solidFill>
                <a:effectLst/>
                <a:uLnTx/>
                <a:uFillTx/>
                <a:latin typeface="Goudy Old Style"/>
                <a:ea typeface="+mj-ea"/>
                <a:cs typeface="+mj-cs"/>
              </a:rPr>
              <a:t>BERT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0D5E08-9D13-4575-9714-25ECB08545CF}"/>
              </a:ext>
            </a:extLst>
          </p:cNvPr>
          <p:cNvSpPr txBox="1"/>
          <p:nvPr/>
        </p:nvSpPr>
        <p:spPr>
          <a:xfrm>
            <a:off x="1522758" y="1706355"/>
            <a:ext cx="32426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Bidirectional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E512F-05F3-4366-8487-5F9D335E846E}"/>
              </a:ext>
            </a:extLst>
          </p:cNvPr>
          <p:cNvSpPr txBox="1"/>
          <p:nvPr/>
        </p:nvSpPr>
        <p:spPr>
          <a:xfrm>
            <a:off x="4862305" y="1703265"/>
            <a:ext cx="22089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Encoder 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31DEAE1-511A-4A3E-BE5A-B90A88617671}"/>
              </a:ext>
            </a:extLst>
          </p:cNvPr>
          <p:cNvSpPr txBox="1"/>
          <p:nvPr/>
        </p:nvSpPr>
        <p:spPr>
          <a:xfrm>
            <a:off x="7148773" y="1689460"/>
            <a:ext cx="385886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Representation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68254E-0C21-493A-B5C8-041D4D4F0D31}"/>
              </a:ext>
            </a:extLst>
          </p:cNvPr>
          <p:cNvSpPr txBox="1"/>
          <p:nvPr/>
        </p:nvSpPr>
        <p:spPr>
          <a:xfrm>
            <a:off x="3741221" y="3805733"/>
            <a:ext cx="433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Considers </a:t>
            </a:r>
            <a:r>
              <a:rPr lang="en-IN" dirty="0">
                <a:solidFill>
                  <a:srgbClr val="C00000"/>
                </a:solidFill>
              </a:rPr>
              <a:t>both</a:t>
            </a:r>
            <a:r>
              <a:rPr lang="en-IN" dirty="0"/>
              <a:t> left and </a:t>
            </a:r>
            <a:r>
              <a:rPr lang="en-IN" dirty="0">
                <a:solidFill>
                  <a:srgbClr val="C00000"/>
                </a:solidFill>
              </a:rPr>
              <a:t>right</a:t>
            </a:r>
            <a:r>
              <a:rPr lang="en-IN" dirty="0"/>
              <a:t> context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C01603-2EC7-461A-8E5C-687B5D2ECC96}"/>
              </a:ext>
            </a:extLst>
          </p:cNvPr>
          <p:cNvSpPr txBox="1"/>
          <p:nvPr/>
        </p:nvSpPr>
        <p:spPr>
          <a:xfrm>
            <a:off x="3741221" y="4208563"/>
            <a:ext cx="5083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Used only the </a:t>
            </a:r>
            <a:r>
              <a:rPr lang="en-IN" dirty="0">
                <a:solidFill>
                  <a:srgbClr val="C00000"/>
                </a:solidFill>
              </a:rPr>
              <a:t>encoder</a:t>
            </a:r>
            <a:r>
              <a:rPr lang="en-IN" dirty="0"/>
              <a:t> block of Transformer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FFDC7D-C977-4DF6-B08A-3841446298B2}"/>
              </a:ext>
            </a:extLst>
          </p:cNvPr>
          <p:cNvSpPr txBox="1"/>
          <p:nvPr/>
        </p:nvSpPr>
        <p:spPr>
          <a:xfrm>
            <a:off x="3741221" y="4642546"/>
            <a:ext cx="4922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Derive rich </a:t>
            </a:r>
            <a:r>
              <a:rPr lang="en-IN" dirty="0">
                <a:solidFill>
                  <a:srgbClr val="C00000"/>
                </a:solidFill>
              </a:rPr>
              <a:t>representation</a:t>
            </a:r>
            <a:r>
              <a:rPr lang="en-IN" dirty="0"/>
              <a:t> as any other LM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418BC8-E672-49AF-A6EE-7D3412831015}"/>
              </a:ext>
            </a:extLst>
          </p:cNvPr>
          <p:cNvSpPr txBox="1"/>
          <p:nvPr/>
        </p:nvSpPr>
        <p:spPr>
          <a:xfrm>
            <a:off x="3741221" y="5065874"/>
            <a:ext cx="4598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Copy of the </a:t>
            </a:r>
            <a:r>
              <a:rPr lang="en-IN" dirty="0">
                <a:solidFill>
                  <a:srgbClr val="C00000"/>
                </a:solidFill>
              </a:rPr>
              <a:t>Transformer</a:t>
            </a:r>
            <a:r>
              <a:rPr lang="en-IN" dirty="0"/>
              <a:t> encoder block</a:t>
            </a:r>
          </a:p>
        </p:txBody>
      </p:sp>
    </p:spTree>
    <p:extLst>
      <p:ext uri="{BB962C8B-B14F-4D97-AF65-F5344CB8AC3E}">
        <p14:creationId xmlns:p14="http://schemas.microsoft.com/office/powerpoint/2010/main" val="3193803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  <p:bldP spid="19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3BC97-3443-4B4F-A576-963D7E054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Matters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3D203-0DB7-4B68-A83E-DDCE9EADD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2E845-7981-4681-88A7-DDDF1FC64AEE}"/>
              </a:ext>
            </a:extLst>
          </p:cNvPr>
          <p:cNvSpPr txBox="1"/>
          <p:nvPr/>
        </p:nvSpPr>
        <p:spPr>
          <a:xfrm>
            <a:off x="1054034" y="3263379"/>
            <a:ext cx="3130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 ate a delicious </a:t>
            </a:r>
            <a:r>
              <a:rPr lang="en-IN" dirty="0">
                <a:solidFill>
                  <a:srgbClr val="C00000"/>
                </a:solidFill>
              </a:rPr>
              <a:t>apple</a:t>
            </a:r>
            <a:r>
              <a:rPr lang="en-IN" dirty="0"/>
              <a:t> today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F96386-2571-4EDE-B8C4-FA2D62AF6C5D}"/>
              </a:ext>
            </a:extLst>
          </p:cNvPr>
          <p:cNvSpPr txBox="1"/>
          <p:nvPr/>
        </p:nvSpPr>
        <p:spPr>
          <a:xfrm>
            <a:off x="5986157" y="3202561"/>
            <a:ext cx="3531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Apple</a:t>
            </a:r>
            <a:r>
              <a:rPr lang="en-IN" dirty="0"/>
              <a:t> partners with Tata Group </a:t>
            </a:r>
          </a:p>
          <a:p>
            <a:r>
              <a:rPr lang="en-IN" dirty="0"/>
              <a:t>for iPhone today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36D4B3-ABC6-45EE-A52E-873BF3B88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781" y="1530740"/>
            <a:ext cx="219685" cy="9298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CF2FB5-6CA9-4956-8CA1-9A98AD736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693" y="1534055"/>
            <a:ext cx="219685" cy="9298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7F818B6-D602-4EFB-B2BA-2E9586996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230" y="1534055"/>
            <a:ext cx="219685" cy="9298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A3EFDF-CDF7-4566-81F1-F1D3E6EC0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142" y="1537370"/>
            <a:ext cx="219685" cy="9298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C2CC3E5-CE91-4598-B431-68414AF04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866" y="1534055"/>
            <a:ext cx="219685" cy="9298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D82027-30D6-433B-86E9-900596ACA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778" y="1537370"/>
            <a:ext cx="219685" cy="92983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8646D87-6757-4E8A-8F74-0958F57B1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5" y="1537370"/>
            <a:ext cx="219685" cy="9298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48AE4E-B209-4D95-9A42-F1D1A2ACC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227" y="1540685"/>
            <a:ext cx="219685" cy="92983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931DDC7-5063-4521-8387-C202ADBB0F1D}"/>
              </a:ext>
            </a:extLst>
          </p:cNvPr>
          <p:cNvCxnSpPr/>
          <p:nvPr/>
        </p:nvCxnSpPr>
        <p:spPr>
          <a:xfrm>
            <a:off x="4837529" y="2023251"/>
            <a:ext cx="397565" cy="0"/>
          </a:xfrm>
          <a:prstGeom prst="line">
            <a:avLst/>
          </a:prstGeom>
          <a:ln w="22225">
            <a:solidFill>
              <a:srgbClr val="0070C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A5076F8-E62E-4BEE-9DE7-D6E9C2010A17}"/>
              </a:ext>
            </a:extLst>
          </p:cNvPr>
          <p:cNvCxnSpPr/>
          <p:nvPr/>
        </p:nvCxnSpPr>
        <p:spPr>
          <a:xfrm flipV="1">
            <a:off x="3051313" y="1292087"/>
            <a:ext cx="0" cy="2057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7508EE-C8E8-4647-BDF1-F38E1B175112}"/>
              </a:ext>
            </a:extLst>
          </p:cNvPr>
          <p:cNvCxnSpPr/>
          <p:nvPr/>
        </p:nvCxnSpPr>
        <p:spPr>
          <a:xfrm>
            <a:off x="3041374" y="1282148"/>
            <a:ext cx="24743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B32A49A-67EE-4688-94CD-9B6F0921C68C}"/>
              </a:ext>
            </a:extLst>
          </p:cNvPr>
          <p:cNvCxnSpPr>
            <a:cxnSpLocks/>
          </p:cNvCxnSpPr>
          <p:nvPr/>
        </p:nvCxnSpPr>
        <p:spPr>
          <a:xfrm>
            <a:off x="5515708" y="1282148"/>
            <a:ext cx="1" cy="2419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81B2F16F-FEAD-46B4-B9D1-FEC228255B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404843" y="1534276"/>
            <a:ext cx="219685" cy="929833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A049209-AF6F-4470-8053-51BBD0AD0206}"/>
              </a:ext>
            </a:extLst>
          </p:cNvPr>
          <p:cNvCxnSpPr>
            <a:cxnSpLocks/>
          </p:cNvCxnSpPr>
          <p:nvPr/>
        </p:nvCxnSpPr>
        <p:spPr>
          <a:xfrm flipV="1">
            <a:off x="5527937" y="2419345"/>
            <a:ext cx="0" cy="4729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1F7A23F-9199-412D-B970-05F32FEC9B71}"/>
              </a:ext>
            </a:extLst>
          </p:cNvPr>
          <p:cNvCxnSpPr>
            <a:cxnSpLocks/>
          </p:cNvCxnSpPr>
          <p:nvPr/>
        </p:nvCxnSpPr>
        <p:spPr>
          <a:xfrm>
            <a:off x="5527937" y="2882348"/>
            <a:ext cx="13400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45188D8-D251-4ECB-9713-07DE1737D0DA}"/>
              </a:ext>
            </a:extLst>
          </p:cNvPr>
          <p:cNvCxnSpPr>
            <a:cxnSpLocks/>
          </p:cNvCxnSpPr>
          <p:nvPr/>
        </p:nvCxnSpPr>
        <p:spPr>
          <a:xfrm flipV="1">
            <a:off x="6858000" y="1989032"/>
            <a:ext cx="0" cy="8912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6571775-2F12-47B8-8673-B98DCA5F8641}"/>
              </a:ext>
            </a:extLst>
          </p:cNvPr>
          <p:cNvCxnSpPr>
            <a:cxnSpLocks/>
          </p:cNvCxnSpPr>
          <p:nvPr/>
        </p:nvCxnSpPr>
        <p:spPr>
          <a:xfrm flipV="1">
            <a:off x="6858000" y="1983495"/>
            <a:ext cx="626165" cy="1"/>
          </a:xfrm>
          <a:prstGeom prst="line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B937A731-AF68-4AEE-9FFF-874277F1CD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93808" y="1525770"/>
            <a:ext cx="219685" cy="929833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FFA48AA-5B59-4235-931E-FC60BFF76B86}"/>
              </a:ext>
            </a:extLst>
          </p:cNvPr>
          <p:cNvSpPr/>
          <p:nvPr/>
        </p:nvSpPr>
        <p:spPr>
          <a:xfrm>
            <a:off x="8338930" y="1530740"/>
            <a:ext cx="2017643" cy="93646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NLP System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084800B-4AD1-4F63-A787-6ACEB6DF13B5}"/>
              </a:ext>
            </a:extLst>
          </p:cNvPr>
          <p:cNvCxnSpPr>
            <a:cxnSpLocks/>
          </p:cNvCxnSpPr>
          <p:nvPr/>
        </p:nvCxnSpPr>
        <p:spPr>
          <a:xfrm flipV="1">
            <a:off x="7709157" y="1969789"/>
            <a:ext cx="626165" cy="1"/>
          </a:xfrm>
          <a:prstGeom prst="line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2BA57FC4-C800-459C-928B-F6E53C4A0997}"/>
              </a:ext>
            </a:extLst>
          </p:cNvPr>
          <p:cNvSpPr txBox="1"/>
          <p:nvPr/>
        </p:nvSpPr>
        <p:spPr>
          <a:xfrm>
            <a:off x="1918253" y="1969789"/>
            <a:ext cx="1311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Embedding </a:t>
            </a:r>
          </a:p>
          <a:p>
            <a:r>
              <a:rPr lang="en-IN" sz="1400" dirty="0"/>
              <a:t>Look up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C91F80E-879A-490A-B67E-8FDC5AB5CC1E}"/>
              </a:ext>
            </a:extLst>
          </p:cNvPr>
          <p:cNvCxnSpPr>
            <a:cxnSpLocks/>
          </p:cNvCxnSpPr>
          <p:nvPr/>
        </p:nvCxnSpPr>
        <p:spPr>
          <a:xfrm>
            <a:off x="5078896" y="3412435"/>
            <a:ext cx="9363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341B30A-85C0-4EF1-91F8-799773553042}"/>
              </a:ext>
            </a:extLst>
          </p:cNvPr>
          <p:cNvCxnSpPr>
            <a:cxnSpLocks/>
          </p:cNvCxnSpPr>
          <p:nvPr/>
        </p:nvCxnSpPr>
        <p:spPr>
          <a:xfrm flipV="1">
            <a:off x="5078896" y="2146852"/>
            <a:ext cx="0" cy="12713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2B414D5-33D9-458E-B127-59E9182DF4B4}"/>
              </a:ext>
            </a:extLst>
          </p:cNvPr>
          <p:cNvCxnSpPr>
            <a:cxnSpLocks/>
          </p:cNvCxnSpPr>
          <p:nvPr/>
        </p:nvCxnSpPr>
        <p:spPr>
          <a:xfrm flipV="1">
            <a:off x="5068835" y="2144451"/>
            <a:ext cx="364560" cy="1"/>
          </a:xfrm>
          <a:prstGeom prst="line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BF70B2B-E2F2-4C1E-9C47-898A61142B38}"/>
              </a:ext>
            </a:extLst>
          </p:cNvPr>
          <p:cNvSpPr txBox="1"/>
          <p:nvPr/>
        </p:nvSpPr>
        <p:spPr>
          <a:xfrm>
            <a:off x="3951650" y="2561003"/>
            <a:ext cx="13112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Embedding </a:t>
            </a:r>
          </a:p>
          <a:p>
            <a:r>
              <a:rPr lang="en-IN" sz="1400" dirty="0"/>
              <a:t>Look up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54CD68-BAFE-4284-9035-DBE5FAD7A586}"/>
              </a:ext>
            </a:extLst>
          </p:cNvPr>
          <p:cNvSpPr txBox="1"/>
          <p:nvPr/>
        </p:nvSpPr>
        <p:spPr>
          <a:xfrm>
            <a:off x="3614021" y="892533"/>
            <a:ext cx="27138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Word2vec embeddings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3118931-C30F-4BE5-9B69-1BC33D10385F}"/>
              </a:ext>
            </a:extLst>
          </p:cNvPr>
          <p:cNvSpPr txBox="1"/>
          <p:nvPr/>
        </p:nvSpPr>
        <p:spPr>
          <a:xfrm>
            <a:off x="744081" y="4294563"/>
            <a:ext cx="10484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‘apple’ appears in different contexts; their embedding should be different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3ED2E1F-39E2-44A4-A4EC-61D1ACD92A7A}"/>
              </a:ext>
            </a:extLst>
          </p:cNvPr>
          <p:cNvSpPr txBox="1"/>
          <p:nvPr/>
        </p:nvSpPr>
        <p:spPr>
          <a:xfrm>
            <a:off x="400675" y="5138541"/>
            <a:ext cx="11634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 err="1">
                <a:solidFill>
                  <a:srgbClr val="00B050"/>
                </a:solidFill>
              </a:rPr>
              <a:t>ELMo</a:t>
            </a:r>
            <a:r>
              <a:rPr lang="en-IN" sz="2400" dirty="0">
                <a:solidFill>
                  <a:srgbClr val="00B050"/>
                </a:solidFill>
              </a:rPr>
              <a:t> and BERT derives embedding of a token based on the context it appears in</a:t>
            </a:r>
          </a:p>
        </p:txBody>
      </p:sp>
    </p:spTree>
    <p:extLst>
      <p:ext uri="{BB962C8B-B14F-4D97-AF65-F5344CB8AC3E}">
        <p14:creationId xmlns:p14="http://schemas.microsoft.com/office/powerpoint/2010/main" val="401860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5" grpId="0"/>
      <p:bldP spid="55" grpId="0"/>
      <p:bldP spid="57" grpId="0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E9FC-F20F-4D08-939E-C5E1F3556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BERT: Transfer Learning Setting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15EB8-D98A-44F8-8EA3-866BBA0B6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10</a:t>
            </a:fld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2E21BDF5-3577-430D-B925-EFBDB11289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61" y="2584521"/>
            <a:ext cx="6818137" cy="253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09340221-A5E3-482A-9C34-5119FFCB2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480" y="3090473"/>
            <a:ext cx="3624470" cy="152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670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C9EFE-FBBF-4480-8FC6-30D7F3782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Copy of Transformer Encoder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A34F2-1987-4837-8D32-E77592A7A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31FB1E-788B-452F-9562-71B224805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901" y="1185298"/>
            <a:ext cx="5834992" cy="44874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10862E-E6E4-4F08-9748-ECF51BA2D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750" y="1366745"/>
            <a:ext cx="2439914" cy="43383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80D3A9-6599-4AC5-9667-F3BCD9181EC4}"/>
              </a:ext>
            </a:extLst>
          </p:cNvPr>
          <p:cNvSpPr txBox="1"/>
          <p:nvPr/>
        </p:nvSpPr>
        <p:spPr>
          <a:xfrm>
            <a:off x="4532244" y="5933915"/>
            <a:ext cx="2790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With some modifications</a:t>
            </a:r>
          </a:p>
        </p:txBody>
      </p:sp>
    </p:spTree>
    <p:extLst>
      <p:ext uri="{BB962C8B-B14F-4D97-AF65-F5344CB8AC3E}">
        <p14:creationId xmlns:p14="http://schemas.microsoft.com/office/powerpoint/2010/main" val="3937577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6A8F-460D-4C59-96D8-ADB77F050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BERT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021F7-3052-45C4-953A-0C994D4C7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ECEBD3-0005-4219-B7B1-2986BD782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59" y="948441"/>
            <a:ext cx="10813032" cy="403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191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26D84-F30B-4E48-B062-7081C669F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Tokens: Many Words are Rare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F4D75-FB30-4D7F-8F2E-79AA8EE9E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assume a fixed vocab of tens of thousands of words, built from the training set.</a:t>
            </a:r>
          </a:p>
          <a:p>
            <a:r>
              <a:rPr lang="en-US" dirty="0"/>
              <a:t>All novel words seen at test time are mapped to a single </a:t>
            </a:r>
            <a:r>
              <a:rPr lang="en-US" dirty="0">
                <a:solidFill>
                  <a:srgbClr val="FF0000"/>
                </a:solidFill>
              </a:rPr>
              <a:t>[UNK]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3E0E8-AF07-4C4D-BED0-85F692416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E81DC4-CA61-4175-844E-8E1B9412E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360" y="3687765"/>
            <a:ext cx="8009314" cy="243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785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B8A71-8E91-422D-95B1-F0B4A34F3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 Tokens: Sub-Word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690D9-F0EA-4CB6-A648-A1B1F81E8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dominant modern paradigm is to learn a </a:t>
            </a:r>
            <a:r>
              <a:rPr lang="en-US" dirty="0">
                <a:solidFill>
                  <a:srgbClr val="C00000"/>
                </a:solidFill>
              </a:rPr>
              <a:t>vocabulary of parts of words </a:t>
            </a:r>
            <a:r>
              <a:rPr lang="en-US" dirty="0"/>
              <a:t>(</a:t>
            </a:r>
            <a:r>
              <a:rPr lang="en-US" dirty="0" err="1"/>
              <a:t>subword</a:t>
            </a:r>
            <a:r>
              <a:rPr lang="en-US" dirty="0"/>
              <a:t> tokens)</a:t>
            </a:r>
          </a:p>
          <a:p>
            <a:r>
              <a:rPr lang="en-US" dirty="0"/>
              <a:t>At training and testing time, each </a:t>
            </a:r>
            <a:r>
              <a:rPr lang="en-US" dirty="0">
                <a:solidFill>
                  <a:srgbClr val="C00000"/>
                </a:solidFill>
              </a:rPr>
              <a:t>word is split </a:t>
            </a:r>
            <a:r>
              <a:rPr lang="en-US" dirty="0"/>
              <a:t>into a sequence of known </a:t>
            </a:r>
            <a:r>
              <a:rPr lang="en-US" dirty="0" err="1"/>
              <a:t>subwords</a:t>
            </a:r>
            <a:endParaRPr lang="en-US" dirty="0"/>
          </a:p>
          <a:p>
            <a:pPr lvl="1"/>
            <a:r>
              <a:rPr lang="en-IN" dirty="0"/>
              <a:t>Byte-pair encoding</a:t>
            </a:r>
          </a:p>
          <a:p>
            <a:r>
              <a:rPr lang="en-US" dirty="0"/>
              <a:t>Common words end up being a part of the </a:t>
            </a:r>
            <a:r>
              <a:rPr lang="en-US" dirty="0" err="1"/>
              <a:t>subword</a:t>
            </a:r>
            <a:r>
              <a:rPr lang="en-US" dirty="0"/>
              <a:t> vocabulary</a:t>
            </a:r>
            <a:endParaRPr lang="en-IN" dirty="0"/>
          </a:p>
          <a:p>
            <a:r>
              <a:rPr lang="en-US" dirty="0"/>
              <a:t>Rarer words are split into (sometimes intuitive, sometimes not) components.</a:t>
            </a:r>
          </a:p>
          <a:p>
            <a:r>
              <a:rPr lang="en-US" dirty="0"/>
              <a:t>In the worst case, words are split into as many </a:t>
            </a:r>
            <a:r>
              <a:rPr lang="en-US" dirty="0" err="1"/>
              <a:t>subwords</a:t>
            </a:r>
            <a:r>
              <a:rPr lang="en-US" dirty="0"/>
              <a:t> as they have characters.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D7420-4F33-4FFE-B68D-223667510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88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06A8F-460D-4C59-96D8-ADB77F050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[CLS] Token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021F7-3052-45C4-953A-0C994D4C7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ECEBD3-0005-4219-B7B1-2986BD782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59" y="948441"/>
            <a:ext cx="10813032" cy="40340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A2CCB9-CC9E-4C1F-9530-821E1303BE98}"/>
              </a:ext>
            </a:extLst>
          </p:cNvPr>
          <p:cNvSpPr txBox="1"/>
          <p:nvPr/>
        </p:nvSpPr>
        <p:spPr>
          <a:xfrm>
            <a:off x="1601373" y="5438773"/>
            <a:ext cx="9341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The final embedding of the [CLS] token can be used for inference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03FD228-FBDF-44D9-8B8A-6922B41975E3}"/>
              </a:ext>
            </a:extLst>
          </p:cNvPr>
          <p:cNvSpPr/>
          <p:nvPr/>
        </p:nvSpPr>
        <p:spPr>
          <a:xfrm>
            <a:off x="2365513" y="1759226"/>
            <a:ext cx="318052" cy="4373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746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08553-FBD6-4975-9905-D28D7006F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Pre-Train Once, Fine Tune Multiple Times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E5A08-A9CC-4972-BA09-B265CAE3F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10C40E-9B65-4866-8AA2-75F5E4A4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899" y="1352370"/>
            <a:ext cx="10402201" cy="41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6505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227D0-4EC2-4422-803E-34805DD3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BERT Pretraining: Masked Language Model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EC2A3-336D-43A6-8AC8-ECD4CEAE4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3A8426-5F88-45E2-8E58-28F37C238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2750717"/>
            <a:ext cx="12080240" cy="363505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ED2F7E9-7542-487D-B68B-7927DE3FB16A}"/>
              </a:ext>
            </a:extLst>
          </p:cNvPr>
          <p:cNvSpPr/>
          <p:nvPr/>
        </p:nvSpPr>
        <p:spPr>
          <a:xfrm>
            <a:off x="6654800" y="5910028"/>
            <a:ext cx="650240" cy="475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solidFill>
                  <a:srgbClr val="C00000"/>
                </a:solidFill>
              </a:rPr>
              <a:t>[MASK]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AC8F966-B6BC-440B-AA9A-AADC446E973B}"/>
              </a:ext>
            </a:extLst>
          </p:cNvPr>
          <p:cNvSpPr/>
          <p:nvPr/>
        </p:nvSpPr>
        <p:spPr>
          <a:xfrm>
            <a:off x="6029960" y="2253787"/>
            <a:ext cx="1899920" cy="487680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FFNN+Softmax</a:t>
            </a:r>
            <a:endParaRPr lang="en-IN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02B7A33-468C-489E-A3E6-82DB05132DA2}"/>
              </a:ext>
            </a:extLst>
          </p:cNvPr>
          <p:cNvCxnSpPr>
            <a:cxnSpLocks/>
          </p:cNvCxnSpPr>
          <p:nvPr/>
        </p:nvCxnSpPr>
        <p:spPr>
          <a:xfrm flipV="1">
            <a:off x="7000239" y="2750717"/>
            <a:ext cx="0" cy="64780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BF417569-DA0F-41C7-9848-538A3A3E939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687767" y="908685"/>
            <a:ext cx="617273" cy="11964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8542E33-EE52-49D2-AF78-6FE581643ECB}"/>
              </a:ext>
            </a:extLst>
          </p:cNvPr>
          <p:cNvSpPr txBox="1"/>
          <p:nvPr/>
        </p:nvSpPr>
        <p:spPr>
          <a:xfrm>
            <a:off x="7244080" y="1350938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knew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668D6F-82D3-42EE-AAD9-EBFE738CF620}"/>
              </a:ext>
            </a:extLst>
          </p:cNvPr>
          <p:cNvSpPr txBox="1"/>
          <p:nvPr/>
        </p:nvSpPr>
        <p:spPr>
          <a:xfrm>
            <a:off x="7244080" y="913713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err="1"/>
              <a:t>iocl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B5B529-1623-4139-B3D5-07F14C127A55}"/>
              </a:ext>
            </a:extLst>
          </p:cNvPr>
          <p:cNvSpPr txBox="1"/>
          <p:nvPr/>
        </p:nvSpPr>
        <p:spPr>
          <a:xfrm>
            <a:off x="7282233" y="1766728"/>
            <a:ext cx="1374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kharagpur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C118A0A-C7BB-4C1E-A247-5551A15766EA}"/>
              </a:ext>
            </a:extLst>
          </p:cNvPr>
          <p:cNvSpPr/>
          <p:nvPr/>
        </p:nvSpPr>
        <p:spPr>
          <a:xfrm>
            <a:off x="6492240" y="3388361"/>
            <a:ext cx="995680" cy="259079"/>
          </a:xfrm>
          <a:prstGeom prst="round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5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20" grpId="0"/>
      <p:bldP spid="21" grpId="0"/>
      <p:bldP spid="22" grpId="0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08735-89A2-403A-A784-F3B734A99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BERT Pretraining: Masked Language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D8FA8-88FD-46BF-A096-92235189D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Masked Language Model</a:t>
            </a:r>
          </a:p>
          <a:p>
            <a:pPr lvl="1"/>
            <a:r>
              <a:rPr lang="en-IN" dirty="0"/>
              <a:t>80-10-10 Corruption</a:t>
            </a:r>
          </a:p>
          <a:p>
            <a:r>
              <a:rPr lang="en-IN" dirty="0"/>
              <a:t>For 15% of the words:</a:t>
            </a:r>
          </a:p>
          <a:p>
            <a:pPr lvl="1"/>
            <a:r>
              <a:rPr lang="en-IN" dirty="0"/>
              <a:t>Replace with [MASK] token (80%)</a:t>
            </a:r>
          </a:p>
          <a:p>
            <a:pPr lvl="2"/>
            <a:r>
              <a:rPr lang="en-IN" dirty="0">
                <a:solidFill>
                  <a:srgbClr val="0070C0"/>
                </a:solidFill>
              </a:rPr>
              <a:t>Heavy 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rain</a:t>
            </a:r>
            <a:r>
              <a:rPr lang="en-IN" dirty="0">
                <a:solidFill>
                  <a:srgbClr val="0070C0"/>
                </a:solidFill>
              </a:rPr>
              <a:t> caused the flood </a:t>
            </a:r>
            <a:r>
              <a:rPr lang="en-IN" dirty="0">
                <a:solidFill>
                  <a:srgbClr val="0070C0"/>
                </a:solidFill>
                <a:sym typeface="Wingdings" panose="05000000000000000000" pitchFamily="2" charset="2"/>
              </a:rPr>
              <a:t> </a:t>
            </a:r>
            <a:r>
              <a:rPr lang="en-IN" dirty="0">
                <a:solidFill>
                  <a:srgbClr val="0070C0"/>
                </a:solidFill>
              </a:rPr>
              <a:t>Heavy 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[MASK] </a:t>
            </a:r>
            <a:r>
              <a:rPr lang="en-IN" dirty="0">
                <a:solidFill>
                  <a:srgbClr val="0070C0"/>
                </a:solidFill>
              </a:rPr>
              <a:t>caused the flood</a:t>
            </a:r>
            <a:r>
              <a:rPr lang="en-IN" dirty="0"/>
              <a:t> </a:t>
            </a:r>
          </a:p>
          <a:p>
            <a:pPr lvl="1"/>
            <a:r>
              <a:rPr lang="en-US" dirty="0"/>
              <a:t>Replace it with a random word (10%)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Heavy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rain</a:t>
            </a:r>
            <a:r>
              <a:rPr lang="en-US" dirty="0">
                <a:solidFill>
                  <a:srgbClr val="0070C0"/>
                </a:solidFill>
              </a:rPr>
              <a:t> caused the flood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 Heavy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cup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 caused the flood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Keep it unchanged (10%)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Heavy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rain</a:t>
            </a:r>
            <a:r>
              <a:rPr lang="en-US" dirty="0">
                <a:solidFill>
                  <a:srgbClr val="0070C0"/>
                </a:solidFill>
              </a:rPr>
              <a:t> caused the flood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 Heavy 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rain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 caused the flood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233EC-00EE-4B3D-99BB-3DE2B439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948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4E5A-6679-441E-9EB3-38693C1BF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BERT Pretraining: Next Sentence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A2BD7-1780-4DAA-8F09-F7FEFFE2D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Many NLP downstream tasks require </a:t>
            </a:r>
            <a:r>
              <a:rPr lang="en-US" sz="2400" dirty="0">
                <a:solidFill>
                  <a:srgbClr val="C00000"/>
                </a:solidFill>
              </a:rPr>
              <a:t>understanding the relationship between two sentences</a:t>
            </a:r>
            <a:r>
              <a:rPr lang="en-US" sz="2400" dirty="0"/>
              <a:t> (natural language inference, paraphrase detection, QA)</a:t>
            </a:r>
          </a:p>
          <a:p>
            <a:r>
              <a:rPr lang="en-US" sz="2400" dirty="0"/>
              <a:t>NSP is designed to reduce the gap between pre-training and fine-tuning</a:t>
            </a:r>
          </a:p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5E6CC-7BCE-4DAD-8FA0-7C4973EBD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D65CB6-14F8-494D-8343-5123EEB59789}"/>
              </a:ext>
            </a:extLst>
          </p:cNvPr>
          <p:cNvSpPr txBox="1"/>
          <p:nvPr/>
        </p:nvSpPr>
        <p:spPr>
          <a:xfrm>
            <a:off x="1727200" y="4116625"/>
            <a:ext cx="9824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Input: [CLS] the man went to the store [SEP] he bought a gallon of milk [SEP]</a:t>
            </a:r>
          </a:p>
          <a:p>
            <a:r>
              <a:rPr lang="en-IN" dirty="0"/>
              <a:t>Label: </a:t>
            </a:r>
            <a:r>
              <a:rPr lang="en-IN" dirty="0" err="1">
                <a:solidFill>
                  <a:srgbClr val="00B050"/>
                </a:solidFill>
              </a:rPr>
              <a:t>IsNext</a:t>
            </a:r>
            <a:endParaRPr lang="en-IN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C83D2D-74EB-4CAA-8FBB-B2CF8FF847DD}"/>
              </a:ext>
            </a:extLst>
          </p:cNvPr>
          <p:cNvSpPr txBox="1"/>
          <p:nvPr/>
        </p:nvSpPr>
        <p:spPr>
          <a:xfrm>
            <a:off x="1727200" y="5023939"/>
            <a:ext cx="9672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Input: [CLS] the man went to the store [SEP] penguins are flightless birds [SEP]</a:t>
            </a:r>
          </a:p>
          <a:p>
            <a:r>
              <a:rPr lang="en-IN" dirty="0"/>
              <a:t>Label: </a:t>
            </a:r>
            <a:r>
              <a:rPr lang="en-IN" dirty="0" err="1">
                <a:solidFill>
                  <a:srgbClr val="FF0000"/>
                </a:solidFill>
              </a:rPr>
              <a:t>NotNext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52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8397A-93CA-4645-A7C2-8CA192C40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BERT Pretraining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B1042-2056-4157-A1DA-7944074C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21049F-A3B4-447B-98B2-410881828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66" y="2347968"/>
            <a:ext cx="4168501" cy="3635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45A3B9-064B-4CF6-8862-78B39B946AED}"/>
              </a:ext>
            </a:extLst>
          </p:cNvPr>
          <p:cNvSpPr txBox="1"/>
          <p:nvPr/>
        </p:nvSpPr>
        <p:spPr>
          <a:xfrm>
            <a:off x="5414341" y="2246368"/>
            <a:ext cx="60976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C00000"/>
                </a:solidFill>
                <a:latin typeface="AAAAAC+Charter-Roman"/>
              </a:rPr>
              <a:t>BERT-base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AAAAC+Charter-Roman"/>
              </a:rPr>
              <a:t>: 12 layers, 768 hidden size, 12 attention heads, 110M parameters </a:t>
            </a: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056995-C252-401B-92AC-241D33DAA840}"/>
              </a:ext>
            </a:extLst>
          </p:cNvPr>
          <p:cNvSpPr txBox="1"/>
          <p:nvPr/>
        </p:nvSpPr>
        <p:spPr>
          <a:xfrm>
            <a:off x="5414341" y="3121977"/>
            <a:ext cx="60976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C00000"/>
                </a:solidFill>
                <a:latin typeface="AAAAAC+Charter-Roman"/>
              </a:rPr>
              <a:t>BERT-large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AAAAC+Charter-Roman"/>
              </a:rPr>
              <a:t>: 24 layers, 1024 hidden size, 16 attention heads, 340M parameters 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A26523-9118-4E42-A97A-A7F40EBCD193}"/>
              </a:ext>
            </a:extLst>
          </p:cNvPr>
          <p:cNvSpPr txBox="1"/>
          <p:nvPr/>
        </p:nvSpPr>
        <p:spPr>
          <a:xfrm>
            <a:off x="5414341" y="4104933"/>
            <a:ext cx="60976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C00000"/>
                </a:solidFill>
                <a:latin typeface="AAAAAC+Charter-Roman"/>
              </a:rPr>
              <a:t>Training corpus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AAAAC+Charter-Roman"/>
              </a:rPr>
              <a:t>: Wikipedia (2.5B) + </a:t>
            </a:r>
            <a:r>
              <a:rPr lang="en-US" sz="2400" b="0" i="0" u="none" strike="noStrike" baseline="0" dirty="0" err="1">
                <a:solidFill>
                  <a:srgbClr val="000000"/>
                </a:solidFill>
                <a:latin typeface="AAAAAC+Charter-Roman"/>
              </a:rPr>
              <a:t>BooksCorpus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AAAAC+Charter-Roman"/>
              </a:rPr>
              <a:t> (0.8B) 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104A28-F2E9-4C90-8BCB-1FDBA0B23EF8}"/>
              </a:ext>
            </a:extLst>
          </p:cNvPr>
          <p:cNvSpPr txBox="1"/>
          <p:nvPr/>
        </p:nvSpPr>
        <p:spPr>
          <a:xfrm>
            <a:off x="5414341" y="5139525"/>
            <a:ext cx="60976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baseline="0" dirty="0">
                <a:solidFill>
                  <a:srgbClr val="C00000"/>
                </a:solidFill>
                <a:latin typeface="AAAAAC+Charter-Roman"/>
              </a:rPr>
              <a:t>Max sequence size: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AAAAAC+Charter-Roman"/>
              </a:rPr>
              <a:t>512 word pieces (roughly 256 and 256 for two non-contiguous sequences) </a:t>
            </a:r>
            <a:endParaRPr lang="en-IN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319444-70E6-4D12-8F6F-29D7AD005484}"/>
              </a:ext>
            </a:extLst>
          </p:cNvPr>
          <p:cNvSpPr txBox="1"/>
          <p:nvPr/>
        </p:nvSpPr>
        <p:spPr>
          <a:xfrm>
            <a:off x="1687277" y="882277"/>
            <a:ext cx="80968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Input: [CLS] the man went to [MASK] store [SEP] he bought a gallon [MASK] milk [SEP]</a:t>
            </a:r>
          </a:p>
          <a:p>
            <a:r>
              <a:rPr lang="en-IN" sz="1600" dirty="0"/>
              <a:t>Label: </a:t>
            </a:r>
            <a:r>
              <a:rPr lang="en-IN" sz="1600" dirty="0" err="1">
                <a:solidFill>
                  <a:srgbClr val="00B050"/>
                </a:solidFill>
              </a:rPr>
              <a:t>IsNext</a:t>
            </a:r>
            <a:endParaRPr lang="en-IN" sz="1600" dirty="0">
              <a:solidFill>
                <a:srgbClr val="00B05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55D9D-9F45-481A-9E14-4B11A78ED0C3}"/>
              </a:ext>
            </a:extLst>
          </p:cNvPr>
          <p:cNvSpPr txBox="1"/>
          <p:nvPr/>
        </p:nvSpPr>
        <p:spPr>
          <a:xfrm>
            <a:off x="1687277" y="1576231"/>
            <a:ext cx="7883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Input: [CLS] the man went [MASK] the store [SEP] penguins are flightless birds [SEP]</a:t>
            </a:r>
          </a:p>
          <a:p>
            <a:r>
              <a:rPr lang="en-IN" sz="1600" dirty="0"/>
              <a:t>Label: </a:t>
            </a:r>
            <a:r>
              <a:rPr lang="en-IN" sz="1600" dirty="0" err="1">
                <a:solidFill>
                  <a:srgbClr val="FF0000"/>
                </a:solidFill>
              </a:rPr>
              <a:t>NotNext</a:t>
            </a:r>
            <a:endParaRPr lang="en-IN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12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4EA12-DFC6-41BE-A284-93FA523B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BERT Parameter Count</a:t>
            </a:r>
            <a:endParaRPr lang="en-I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CA8E1-57DA-469E-ADD3-7FBE54047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67E08-5D1E-4145-99E0-075CFE877856}"/>
              </a:ext>
            </a:extLst>
          </p:cNvPr>
          <p:cNvSpPr txBox="1"/>
          <p:nvPr/>
        </p:nvSpPr>
        <p:spPr>
          <a:xfrm>
            <a:off x="715618" y="1776956"/>
            <a:ext cx="3014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Encoder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4F9E25-3111-41ED-B9BC-F3726BF68F26}"/>
                  </a:ext>
                </a:extLst>
              </p:cNvPr>
              <p:cNvSpPr txBox="1"/>
              <p:nvPr/>
            </p:nvSpPr>
            <p:spPr>
              <a:xfrm>
                <a:off x="1073427" y="2433828"/>
                <a:ext cx="23263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𝑒𝑛𝑐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.12.</m:t>
                      </m:r>
                      <m:sSubSup>
                        <m:sSub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4F9E25-3111-41ED-B9BC-F3726BF68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427" y="2433828"/>
                <a:ext cx="2326342" cy="369332"/>
              </a:xfrm>
              <a:prstGeom prst="rect">
                <a:avLst/>
              </a:prstGeom>
              <a:blipFill>
                <a:blip r:embed="rId2"/>
                <a:stretch>
                  <a:fillRect l="-2356" b="-163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CA2628D-B042-4633-8384-A73D5CDBFA40}"/>
              </a:ext>
            </a:extLst>
          </p:cNvPr>
          <p:cNvSpPr txBox="1"/>
          <p:nvPr/>
        </p:nvSpPr>
        <p:spPr>
          <a:xfrm>
            <a:off x="715618" y="3531705"/>
            <a:ext cx="3496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Embedding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8BCFB6-CB88-414F-BDB7-51DD9D8DA6CE}"/>
                  </a:ext>
                </a:extLst>
              </p:cNvPr>
              <p:cNvSpPr txBox="1"/>
              <p:nvPr/>
            </p:nvSpPr>
            <p:spPr>
              <a:xfrm>
                <a:off x="853811" y="3993370"/>
                <a:ext cx="2942665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dirty="0"/>
                  <a:t> </a:t>
                </a:r>
                <a:r>
                  <a:rPr lang="en-IN" dirty="0">
                    <a:sym typeface="Wingdings" panose="05000000000000000000" pitchFamily="2" charset="2"/>
                  </a:rPr>
                  <a:t> Vocabulary size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IN" dirty="0"/>
                  <a:t> </a:t>
                </a:r>
                <a:r>
                  <a:rPr lang="en-IN" dirty="0">
                    <a:sym typeface="Wingdings" panose="05000000000000000000" pitchFamily="2" charset="2"/>
                  </a:rPr>
                  <a:t> Maximum </a:t>
                </a:r>
                <a:r>
                  <a:rPr lang="en-IN" dirty="0" err="1">
                    <a:sym typeface="Wingdings" panose="05000000000000000000" pitchFamily="2" charset="2"/>
                  </a:rPr>
                  <a:t>seq</a:t>
                </a:r>
                <a:r>
                  <a:rPr lang="en-IN" dirty="0">
                    <a:sym typeface="Wingdings" panose="05000000000000000000" pitchFamily="2" charset="2"/>
                  </a:rPr>
                  <a:t> length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IN" dirty="0"/>
                  <a:t> </a:t>
                </a:r>
                <a:r>
                  <a:rPr lang="en-IN" dirty="0">
                    <a:sym typeface="Wingdings" panose="05000000000000000000" pitchFamily="2" charset="2"/>
                  </a:rPr>
                  <a:t> Segment size</a:t>
                </a:r>
              </a:p>
              <a:p>
                <a:endParaRPr lang="en-IN" dirty="0">
                  <a:sym typeface="Wingdings" panose="05000000000000000000" pitchFamily="2" charset="2"/>
                </a:endParaRP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B8BCFB6-CB88-414F-BDB7-51DD9D8DA6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811" y="3993370"/>
                <a:ext cx="2942665" cy="1477328"/>
              </a:xfrm>
              <a:prstGeom prst="rect">
                <a:avLst/>
              </a:prstGeom>
              <a:blipFill>
                <a:blip r:embed="rId3"/>
                <a:stretch>
                  <a:fillRect t="-2066" r="-12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C63008-D280-455E-924C-FE5EA492C44B}"/>
                  </a:ext>
                </a:extLst>
              </p:cNvPr>
              <p:cNvSpPr txBox="1"/>
              <p:nvPr/>
            </p:nvSpPr>
            <p:spPr>
              <a:xfrm>
                <a:off x="833678" y="5162921"/>
                <a:ext cx="296279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𝑒𝑚𝑏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4C63008-D280-455E-924C-FE5EA492C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678" y="5162921"/>
                <a:ext cx="2962798" cy="307777"/>
              </a:xfrm>
              <a:prstGeom prst="rect">
                <a:avLst/>
              </a:prstGeom>
              <a:blipFill>
                <a:blip r:embed="rId4"/>
                <a:stretch>
                  <a:fillRect l="-144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4C1B580-DF57-4CA7-A018-9EB754AB484F}"/>
              </a:ext>
            </a:extLst>
          </p:cNvPr>
          <p:cNvSpPr txBox="1"/>
          <p:nvPr/>
        </p:nvSpPr>
        <p:spPr>
          <a:xfrm>
            <a:off x="5879948" y="1315291"/>
            <a:ext cx="1661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BERT Base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51DE98-0FCB-4227-BB8D-028E6FC1637D}"/>
                  </a:ext>
                </a:extLst>
              </p:cNvPr>
              <p:cNvSpPr txBox="1"/>
              <p:nvPr/>
            </p:nvSpPr>
            <p:spPr>
              <a:xfrm>
                <a:off x="5716430" y="1786046"/>
                <a:ext cx="31890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=12, 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=768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51DE98-0FCB-4227-BB8D-028E6FC16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430" y="1786046"/>
                <a:ext cx="3189032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F5A5C7-D44A-4DB9-B860-AEE11B01AD91}"/>
                  </a:ext>
                </a:extLst>
              </p:cNvPr>
              <p:cNvSpPr txBox="1"/>
              <p:nvPr/>
            </p:nvSpPr>
            <p:spPr>
              <a:xfrm>
                <a:off x="5736307" y="2177320"/>
                <a:ext cx="41471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=30000,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=512,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2F5A5C7-D44A-4DB9-B860-AEE11B01AD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307" y="2177320"/>
                <a:ext cx="414710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E06760-66CC-4130-AF5B-DCF2CA24763C}"/>
                  </a:ext>
                </a:extLst>
              </p:cNvPr>
              <p:cNvSpPr txBox="1"/>
              <p:nvPr/>
            </p:nvSpPr>
            <p:spPr>
              <a:xfrm>
                <a:off x="6304723" y="2530982"/>
                <a:ext cx="345402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𝑒𝑛𝑐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=12×12×</m:t>
                    </m:r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768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lang="en-IN" sz="2000" dirty="0"/>
                  <a:t> m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4E06760-66CC-4130-AF5B-DCF2CA247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4723" y="2530982"/>
                <a:ext cx="3454022" cy="307777"/>
              </a:xfrm>
              <a:prstGeom prst="rect">
                <a:avLst/>
              </a:prstGeom>
              <a:blipFill>
                <a:blip r:embed="rId7"/>
                <a:stretch>
                  <a:fillRect l="-2469" t="-23529" r="-3527" b="-50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D60059-EE65-4CE6-A3EC-FE3D652521C5}"/>
                  </a:ext>
                </a:extLst>
              </p:cNvPr>
              <p:cNvSpPr txBox="1"/>
              <p:nvPr/>
            </p:nvSpPr>
            <p:spPr>
              <a:xfrm>
                <a:off x="6314662" y="2880862"/>
                <a:ext cx="46461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𝑒𝑚𝑏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30000+512+2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×768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IN" sz="2000" dirty="0"/>
                  <a:t> m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CD60059-EE65-4CE6-A3EC-FE3D65252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4662" y="2880862"/>
                <a:ext cx="4646144" cy="307777"/>
              </a:xfrm>
              <a:prstGeom prst="rect">
                <a:avLst/>
              </a:prstGeom>
              <a:blipFill>
                <a:blip r:embed="rId8"/>
                <a:stretch>
                  <a:fillRect l="-1969" t="-24000" r="-2362" b="-5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CEE2C1-8983-4E5C-AD80-CD297B0BEFF6}"/>
                  </a:ext>
                </a:extLst>
              </p:cNvPr>
              <p:cNvSpPr txBox="1"/>
              <p:nvPr/>
            </p:nvSpPr>
            <p:spPr>
              <a:xfrm>
                <a:off x="6334540" y="3210859"/>
                <a:ext cx="290502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=85+23=108</m:t>
                    </m:r>
                  </m:oMath>
                </a14:m>
                <a:r>
                  <a:rPr lang="en-IN" sz="2000" dirty="0"/>
                  <a:t> m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CEE2C1-8983-4E5C-AD80-CD297B0BE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540" y="3210859"/>
                <a:ext cx="2905026" cy="307777"/>
              </a:xfrm>
              <a:prstGeom prst="rect">
                <a:avLst/>
              </a:prstGeom>
              <a:blipFill>
                <a:blip r:embed="rId9"/>
                <a:stretch>
                  <a:fillRect l="-2935" t="-24000" r="-4403" b="-5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249D9F6-4DB7-4DC0-8AD0-9638438180EA}"/>
              </a:ext>
            </a:extLst>
          </p:cNvPr>
          <p:cNvSpPr txBox="1"/>
          <p:nvPr/>
        </p:nvSpPr>
        <p:spPr>
          <a:xfrm>
            <a:off x="5899826" y="3673270"/>
            <a:ext cx="17853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BERT Large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A4AD3F-3FA6-4BFB-ADD7-116C27AF8551}"/>
                  </a:ext>
                </a:extLst>
              </p:cNvPr>
              <p:cNvSpPr txBox="1"/>
              <p:nvPr/>
            </p:nvSpPr>
            <p:spPr>
              <a:xfrm>
                <a:off x="5736308" y="4144025"/>
                <a:ext cx="32586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=24, 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=1024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7A4AD3F-3FA6-4BFB-ADD7-116C27AF8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308" y="4144025"/>
                <a:ext cx="3258606" cy="400110"/>
              </a:xfrm>
              <a:prstGeom prst="rect">
                <a:avLst/>
              </a:prstGeom>
              <a:blipFill>
                <a:blip r:embed="rId10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AF9F00-4D5C-4E33-B8E0-53C73854E14B}"/>
                  </a:ext>
                </a:extLst>
              </p:cNvPr>
              <p:cNvSpPr txBox="1"/>
              <p:nvPr/>
            </p:nvSpPr>
            <p:spPr>
              <a:xfrm>
                <a:off x="5756185" y="4535299"/>
                <a:ext cx="41471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=30000,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=512, 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3AF9F00-4D5C-4E33-B8E0-53C73854E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185" y="4535299"/>
                <a:ext cx="4147103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26F997-AD4C-4006-BF05-F9E109B2FB33}"/>
                  </a:ext>
                </a:extLst>
              </p:cNvPr>
              <p:cNvSpPr txBox="1"/>
              <p:nvPr/>
            </p:nvSpPr>
            <p:spPr>
              <a:xfrm>
                <a:off x="6324601" y="4888961"/>
                <a:ext cx="35966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𝑒𝑛𝑐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=24×12×</m:t>
                    </m:r>
                    <m:sSup>
                      <m:sSup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768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302</m:t>
                    </m:r>
                  </m:oMath>
                </a14:m>
                <a:r>
                  <a:rPr lang="en-IN" sz="2000" dirty="0"/>
                  <a:t> m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426F997-AD4C-4006-BF05-F9E109B2F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1" y="4888961"/>
                <a:ext cx="3596690" cy="307777"/>
              </a:xfrm>
              <a:prstGeom prst="rect">
                <a:avLst/>
              </a:prstGeom>
              <a:blipFill>
                <a:blip r:embed="rId12"/>
                <a:stretch>
                  <a:fillRect l="-2542" t="-24000" r="-3220" b="-5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E7A76D-44E7-4C8A-A23C-9D36609C421F}"/>
                  </a:ext>
                </a:extLst>
              </p:cNvPr>
              <p:cNvSpPr txBox="1"/>
              <p:nvPr/>
            </p:nvSpPr>
            <p:spPr>
              <a:xfrm>
                <a:off x="6334540" y="5238841"/>
                <a:ext cx="478881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𝑒𝑚𝑏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30000+512+2</m:t>
                        </m:r>
                      </m:e>
                    </m:d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×1024</m:t>
                    </m:r>
                    <m:r>
                      <a:rPr lang="en-IN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lang="en-IN" sz="2000" dirty="0"/>
                  <a:t> m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DE7A76D-44E7-4C8A-A23C-9D36609C4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540" y="5238841"/>
                <a:ext cx="4788811" cy="307777"/>
              </a:xfrm>
              <a:prstGeom prst="rect">
                <a:avLst/>
              </a:prstGeom>
              <a:blipFill>
                <a:blip r:embed="rId13"/>
                <a:stretch>
                  <a:fillRect l="-1781" t="-23529" r="-2290" b="-509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58A4DA-1414-4B48-A60F-26EDA81E7C83}"/>
                  </a:ext>
                </a:extLst>
              </p:cNvPr>
              <p:cNvSpPr txBox="1"/>
              <p:nvPr/>
            </p:nvSpPr>
            <p:spPr>
              <a:xfrm>
                <a:off x="6354418" y="5568838"/>
                <a:ext cx="304769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=302+31=333</m:t>
                    </m:r>
                  </m:oMath>
                </a14:m>
                <a:r>
                  <a:rPr lang="en-IN" sz="2000" dirty="0"/>
                  <a:t> m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58A4DA-1414-4B48-A60F-26EDA81E7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418" y="5568838"/>
                <a:ext cx="3047694" cy="307777"/>
              </a:xfrm>
              <a:prstGeom prst="rect">
                <a:avLst/>
              </a:prstGeom>
              <a:blipFill>
                <a:blip r:embed="rId14"/>
                <a:stretch>
                  <a:fillRect l="-2800" t="-24000" r="-4200" b="-5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98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4772-CE5E-4D56-965A-A6804BDB5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Transfer Learning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31B86-4E48-455A-BE92-EAAD16DCC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60554-9932-4575-B1B1-4392E75668C5}"/>
              </a:ext>
            </a:extLst>
          </p:cNvPr>
          <p:cNvSpPr txBox="1"/>
          <p:nvPr/>
        </p:nvSpPr>
        <p:spPr>
          <a:xfrm>
            <a:off x="2031423" y="5531604"/>
            <a:ext cx="793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rgbClr val="C00000"/>
                </a:solidFill>
              </a:rPr>
              <a:t>Transfer learning: Leverage feature representation from a pre-trained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6D658-CC2B-4A7E-B863-A0FF755E9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28" y="1089355"/>
            <a:ext cx="10989343" cy="406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380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69FF8-4B2E-40D5-96C7-915059CC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Pre-Trained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D3379F-CCCB-41B7-9C1E-F0A5B0DD7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3" y="1734875"/>
            <a:ext cx="10058422" cy="472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464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69FF8-4B2E-40D5-96C7-915059CCA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Pre-Trained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3DAA30-BCF8-490E-8E48-CBB4C7E85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82" y="1692136"/>
            <a:ext cx="10401408" cy="486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33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55397-C533-4F69-BC4E-5F6BB4BD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Case of Transfer Learning in NLP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18DCA-ABC9-4D66-A42C-4DEBF660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25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1B4F47-41F8-4FE8-A9A9-274D8F235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98" y="932267"/>
            <a:ext cx="9777285" cy="5385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5269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086E-26E4-4C0A-960C-A9E2C8A51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Fine-Tuning: Task Specific Models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E37BA-1965-4838-8F6A-041A7D8B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6A18F7-81E3-4AA9-9379-1F9018B18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3" y="1502970"/>
            <a:ext cx="7500935" cy="38520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E26D37B-48A7-4BF8-AD7E-B721C17E99A5}"/>
              </a:ext>
            </a:extLst>
          </p:cNvPr>
          <p:cNvSpPr txBox="1"/>
          <p:nvPr/>
        </p:nvSpPr>
        <p:spPr>
          <a:xfrm>
            <a:off x="2754312" y="5764649"/>
            <a:ext cx="705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Tasks: Sentiment analysis (SST-2), Sentence grammaticality (</a:t>
            </a:r>
            <a:r>
              <a:rPr lang="en-IN" dirty="0" err="1">
                <a:solidFill>
                  <a:srgbClr val="0070C0"/>
                </a:solidFill>
              </a:rPr>
              <a:t>CoLA</a:t>
            </a:r>
            <a:r>
              <a:rPr lang="en-IN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21A010-1303-4BDB-B6A9-8FAD8AAC706E}"/>
              </a:ext>
            </a:extLst>
          </p:cNvPr>
          <p:cNvSpPr txBox="1"/>
          <p:nvPr/>
        </p:nvSpPr>
        <p:spPr>
          <a:xfrm>
            <a:off x="4323742" y="1132304"/>
            <a:ext cx="4637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Single sentence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06055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086E-26E4-4C0A-960C-A9E2C8A51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Fine-Tuning: Task Specific Models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E37BA-1965-4838-8F6A-041A7D8B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26D37B-48A7-4BF8-AD7E-B721C17E99A5}"/>
              </a:ext>
            </a:extLst>
          </p:cNvPr>
          <p:cNvSpPr txBox="1"/>
          <p:nvPr/>
        </p:nvSpPr>
        <p:spPr>
          <a:xfrm>
            <a:off x="3536632" y="5662717"/>
            <a:ext cx="5712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Tasks: Natural Language Inference (MNLI, QNLI, RTE)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A3B4AB-BA1A-4EED-BD43-5431964E8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338" y="1777658"/>
            <a:ext cx="8635323" cy="35599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815E90-A590-46E3-9FD3-7446C09E361A}"/>
              </a:ext>
            </a:extLst>
          </p:cNvPr>
          <p:cNvSpPr txBox="1"/>
          <p:nvPr/>
        </p:nvSpPr>
        <p:spPr>
          <a:xfrm>
            <a:off x="4323742" y="1132304"/>
            <a:ext cx="4637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Sentence pair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19240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086E-26E4-4C0A-960C-A9E2C8A51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Fine-Tuning: Task Specific Models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E37BA-1965-4838-8F6A-041A7D8B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28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815E90-A590-46E3-9FD3-7446C09E361A}"/>
              </a:ext>
            </a:extLst>
          </p:cNvPr>
          <p:cNvSpPr txBox="1"/>
          <p:nvPr/>
        </p:nvSpPr>
        <p:spPr>
          <a:xfrm>
            <a:off x="4323742" y="1132304"/>
            <a:ext cx="4637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Token level classification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4EF6F0-F88F-478E-9389-11A37E20C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029" y="1817588"/>
            <a:ext cx="9267003" cy="43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00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167FF-AAC8-4316-8331-4D6B0ED32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BERT for Feature Extraction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53D3F-4D10-411C-9B80-000AB3564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29</a:t>
            </a:fld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9B2A960F-5B67-4B3B-8D6F-7AD7947F31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6367" y="981422"/>
            <a:ext cx="9590809" cy="5326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18694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90CD-29FE-4B32-B413-79A18A2B9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BERT for Feature Extraction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98090-0E3A-4CCC-AFC6-5D343B59C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30</a:t>
            </a:fld>
            <a:endParaRPr 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DFEC34E4-016B-463A-9888-80306E30D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695" y="987136"/>
            <a:ext cx="9029700" cy="5444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2475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A3C3-8B7D-4AA8-BDCB-75CEAFD7A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BERT Family &amp; </a:t>
            </a:r>
            <a:r>
              <a:rPr lang="en-IN" dirty="0" err="1"/>
              <a:t>BERTology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3E1C3-943D-41C6-A3FD-FB0B0C14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C48648-6A0D-45F1-8D93-D5EC5C93F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619" y="1129315"/>
            <a:ext cx="7396555" cy="561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5759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36301-5A0C-49DD-BDE2-14498D162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RoBERTa</a:t>
            </a:r>
            <a:r>
              <a:rPr lang="en-IN" dirty="0"/>
              <a:t>: Dynamic Masking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6F654-028C-425D-9A08-68FB82DC9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C222D-B821-4923-B9E0-C03137C66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692" y="908685"/>
            <a:ext cx="7315834" cy="533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58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5B2B1-3E57-4CD1-9DA5-CEBE03827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Beyond BERT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D389F-EFF8-470E-8728-1910345D5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46BE33-C153-4D38-94C9-49A089636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740" y="908685"/>
            <a:ext cx="9640135" cy="569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0354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A80A3-225C-4AFE-9221-92CD566D4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GPT: Auto-Regressive LM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976F6-937F-4849-955C-AAFDF9288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132C68-330D-4AA4-BD12-8011EA6C4EFA}"/>
              </a:ext>
            </a:extLst>
          </p:cNvPr>
          <p:cNvSpPr txBox="1"/>
          <p:nvPr/>
        </p:nvSpPr>
        <p:spPr>
          <a:xfrm>
            <a:off x="3498572" y="1063487"/>
            <a:ext cx="398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Generative Pre-Trained Transformers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296814-75CE-45AE-9D36-54F54C7B6E93}"/>
              </a:ext>
            </a:extLst>
          </p:cNvPr>
          <p:cNvSpPr txBox="1"/>
          <p:nvPr/>
        </p:nvSpPr>
        <p:spPr>
          <a:xfrm>
            <a:off x="2591627" y="6172935"/>
            <a:ext cx="62144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Radford et al., </a:t>
            </a:r>
            <a:r>
              <a:rPr lang="en-IN" sz="1200" dirty="0">
                <a:hlinkClick r:id="rId2"/>
              </a:rPr>
              <a:t>Improving Language Understanding by Generative Pre-Training</a:t>
            </a:r>
            <a:r>
              <a:rPr lang="en-IN" sz="1200" dirty="0"/>
              <a:t>, 2018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0FEFDF3-BAE7-4B9B-BAAC-9E32DFE34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8" y="1666449"/>
            <a:ext cx="2110923" cy="39475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124DF7-82A9-449E-9C6D-0FAFC4FD8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943" y="1666449"/>
            <a:ext cx="1120237" cy="370364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DAF2200-C60D-4B18-BA3F-4047CCE6D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740" y="1716144"/>
            <a:ext cx="6302286" cy="385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47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293A-E9EA-4189-877F-9F5407E9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GPT: Auto-Regressive LM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85399-4411-48FF-8A40-5B13EE32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35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39BCC8-5CAF-42BE-90FE-5CE0E5A7A002}"/>
              </a:ext>
            </a:extLst>
          </p:cNvPr>
          <p:cNvCxnSpPr/>
          <p:nvPr/>
        </p:nvCxnSpPr>
        <p:spPr>
          <a:xfrm>
            <a:off x="6182139" y="1133061"/>
            <a:ext cx="0" cy="51484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60D6FE6-B902-4D3B-A608-54AFD883C6F1}"/>
              </a:ext>
            </a:extLst>
          </p:cNvPr>
          <p:cNvSpPr txBox="1"/>
          <p:nvPr/>
        </p:nvSpPr>
        <p:spPr>
          <a:xfrm>
            <a:off x="1997767" y="1133061"/>
            <a:ext cx="2922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Unsupervised Pre-Training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48AE27-5E7C-45B1-97BC-B07359F94F93}"/>
              </a:ext>
            </a:extLst>
          </p:cNvPr>
          <p:cNvSpPr txBox="1"/>
          <p:nvPr/>
        </p:nvSpPr>
        <p:spPr>
          <a:xfrm>
            <a:off x="7517297" y="1133061"/>
            <a:ext cx="2639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Supervised Fine-Tuning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469978-1A3F-4B1C-9BAC-67BFB3F72535}"/>
              </a:ext>
            </a:extLst>
          </p:cNvPr>
          <p:cNvSpPr txBox="1"/>
          <p:nvPr/>
        </p:nvSpPr>
        <p:spPr>
          <a:xfrm>
            <a:off x="536533" y="1773825"/>
            <a:ext cx="4398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Given an unsupervised corpus of tokens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439106-98B6-48C8-BD51-51C7E43DC2F4}"/>
                  </a:ext>
                </a:extLst>
              </p:cNvPr>
              <p:cNvSpPr txBox="1"/>
              <p:nvPr/>
            </p:nvSpPr>
            <p:spPr>
              <a:xfrm>
                <a:off x="1853648" y="2208509"/>
                <a:ext cx="18589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439106-98B6-48C8-BD51-51C7E43DC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3648" y="2208509"/>
                <a:ext cx="1858970" cy="276999"/>
              </a:xfrm>
              <a:prstGeom prst="rect">
                <a:avLst/>
              </a:prstGeom>
              <a:blipFill>
                <a:blip r:embed="rId2"/>
                <a:stretch>
                  <a:fillRect l="-2295" r="-4590" b="-391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7798208-96F3-4547-BBB9-32F8073B6B8E}"/>
              </a:ext>
            </a:extLst>
          </p:cNvPr>
          <p:cNvSpPr txBox="1"/>
          <p:nvPr/>
        </p:nvSpPr>
        <p:spPr>
          <a:xfrm>
            <a:off x="536533" y="2660216"/>
            <a:ext cx="435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Maximize AR language model objective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1C937D-2E21-47C8-B3CD-CE987C971F0F}"/>
                  </a:ext>
                </a:extLst>
              </p:cNvPr>
              <p:cNvSpPr txBox="1"/>
              <p:nvPr/>
            </p:nvSpPr>
            <p:spPr>
              <a:xfrm>
                <a:off x="1784075" y="2983038"/>
                <a:ext cx="3450367" cy="672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en-IN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 …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m:rPr>
                                  <m:sty m:val="p"/>
                                </m:rP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F1C937D-2E21-47C8-B3CD-CE987C971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4075" y="2983038"/>
                <a:ext cx="3450367" cy="6722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D641C9E-6920-4247-BA2C-DFC0BE4EC1F4}"/>
              </a:ext>
            </a:extLst>
          </p:cNvPr>
          <p:cNvSpPr txBox="1"/>
          <p:nvPr/>
        </p:nvSpPr>
        <p:spPr>
          <a:xfrm>
            <a:off x="583726" y="3910788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Decoder Block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D917563-14FF-4E1A-A921-C356B41045BC}"/>
                  </a:ext>
                </a:extLst>
              </p:cNvPr>
              <p:cNvSpPr txBox="1"/>
              <p:nvPr/>
            </p:nvSpPr>
            <p:spPr>
              <a:xfrm>
                <a:off x="1625049" y="4346717"/>
                <a:ext cx="10338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D917563-14FF-4E1A-A921-C356B4104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049" y="4346717"/>
                <a:ext cx="1033873" cy="276999"/>
              </a:xfrm>
              <a:prstGeom prst="rect">
                <a:avLst/>
              </a:prstGeom>
              <a:blipFill>
                <a:blip r:embed="rId4"/>
                <a:stretch>
                  <a:fillRect l="-5325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AD344E-FE88-4E6F-9DF8-C2DEE884AC76}"/>
                  </a:ext>
                </a:extLst>
              </p:cNvPr>
              <p:cNvSpPr txBox="1"/>
              <p:nvPr/>
            </p:nvSpPr>
            <p:spPr>
              <a:xfrm>
                <a:off x="1678059" y="4687958"/>
                <a:ext cx="440447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dirty="0"/>
                  <a:t> </a:t>
                </a:r>
                <a:r>
                  <a:rPr lang="en-IN" dirty="0">
                    <a:latin typeface="Cascadia Code Light" panose="020B0609020000020004" pitchFamily="49" charset="0"/>
                    <a:ea typeface="Cascadia Code Light" panose="020B0609020000020004" pitchFamily="49" charset="0"/>
                    <a:cs typeface="Cascadia Code Light" panose="020B0609020000020004" pitchFamily="49" charset="0"/>
                  </a:rPr>
                  <a:t>Transformer-Block</a:t>
                </a:r>
                <a:r>
                  <a:rPr lang="en-IN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/>
                  <a:t>)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∈[1,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AD344E-FE88-4E6F-9DF8-C2DEE884A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059" y="4687958"/>
                <a:ext cx="4404475" cy="276999"/>
              </a:xfrm>
              <a:prstGeom prst="rect">
                <a:avLst/>
              </a:prstGeom>
              <a:blipFill>
                <a:blip r:embed="rId5"/>
                <a:stretch>
                  <a:fillRect l="-1936" t="-28889" r="-1798" b="-5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EF610C-ED5E-4BE2-B2BD-FB51ADF33DA1}"/>
                  </a:ext>
                </a:extLst>
              </p:cNvPr>
              <p:cNvSpPr txBox="1"/>
              <p:nvPr/>
            </p:nvSpPr>
            <p:spPr>
              <a:xfrm>
                <a:off x="1701252" y="4999382"/>
                <a:ext cx="2771721" cy="346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)=</m:t>
                    </m:r>
                  </m:oMath>
                </a14:m>
                <a:r>
                  <a:rPr lang="en-IN" dirty="0"/>
                  <a:t> </a:t>
                </a:r>
                <a:r>
                  <a:rPr lang="en-IN" dirty="0">
                    <a:latin typeface="Cascadia Code Light" panose="020B0609020000020004" pitchFamily="49" charset="0"/>
                    <a:ea typeface="Cascadia Code Light" panose="020B0609020000020004" pitchFamily="49" charset="0"/>
                    <a:cs typeface="Cascadia Code Light" panose="020B0609020000020004" pitchFamily="49" charset="0"/>
                  </a:rPr>
                  <a:t>softmax</a:t>
                </a:r>
                <a:r>
                  <a:rPr lang="en-IN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(&lt;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bSup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7EF610C-ED5E-4BE2-B2BD-FB51ADF33D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252" y="4999382"/>
                <a:ext cx="2771721" cy="346249"/>
              </a:xfrm>
              <a:prstGeom prst="rect">
                <a:avLst/>
              </a:prstGeom>
              <a:blipFill>
                <a:blip r:embed="rId6"/>
                <a:stretch>
                  <a:fillRect l="-2857" t="-7018" r="-4396" b="-385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ADE8F6-97BF-4BB8-B207-46E7C86A4742}"/>
                  </a:ext>
                </a:extLst>
              </p:cNvPr>
              <p:cNvSpPr txBox="1"/>
              <p:nvPr/>
            </p:nvSpPr>
            <p:spPr>
              <a:xfrm>
                <a:off x="6588307" y="1773825"/>
                <a:ext cx="4137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>
                    <a:solidFill>
                      <a:srgbClr val="0070C0"/>
                    </a:solidFill>
                  </a:rPr>
                  <a:t>Given a supervised labelled dataset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4ADE8F6-97BF-4BB8-B207-46E7C86A4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307" y="1773825"/>
                <a:ext cx="4137543" cy="369332"/>
              </a:xfrm>
              <a:prstGeom prst="rect">
                <a:avLst/>
              </a:prstGeom>
              <a:blipFill>
                <a:blip r:embed="rId7"/>
                <a:stretch>
                  <a:fillRect l="-1327" t="-8197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A7662E-9144-470D-B592-C4F5C01C57F0}"/>
                  </a:ext>
                </a:extLst>
              </p:cNvPr>
              <p:cNvSpPr txBox="1"/>
              <p:nvPr/>
            </p:nvSpPr>
            <p:spPr>
              <a:xfrm>
                <a:off x="7399128" y="2200430"/>
                <a:ext cx="24355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⟩"/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⟨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7A7662E-9144-470D-B592-C4F5C01C57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128" y="2200430"/>
                <a:ext cx="2435539" cy="276999"/>
              </a:xfrm>
              <a:prstGeom prst="rect">
                <a:avLst/>
              </a:prstGeom>
              <a:blipFill>
                <a:blip r:embed="rId8"/>
                <a:stretch>
                  <a:fillRect l="-2005" t="-2222" r="-3258" b="-4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727129D-734D-43F7-8F0B-A6691E0DB0F0}"/>
              </a:ext>
            </a:extLst>
          </p:cNvPr>
          <p:cNvSpPr txBox="1"/>
          <p:nvPr/>
        </p:nvSpPr>
        <p:spPr>
          <a:xfrm>
            <a:off x="6590875" y="2701805"/>
            <a:ext cx="3436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Maximize true label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EEC232-B9B1-4CA7-BEBE-F7259714074F}"/>
                  </a:ext>
                </a:extLst>
              </p:cNvPr>
              <p:cNvSpPr txBox="1"/>
              <p:nvPr/>
            </p:nvSpPr>
            <p:spPr>
              <a:xfrm>
                <a:off x="7392868" y="3681129"/>
                <a:ext cx="3122393" cy="7078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brk m:alnAt="7"/>
                            </m:rPr>
                            <a:rPr lang="en-I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m:rPr>
                              <m:brk m:alnAt="7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IN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, …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EEC232-B9B1-4CA7-BEBE-F725971407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868" y="3681129"/>
                <a:ext cx="3122393" cy="7078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8BD44805-D3DB-4656-B882-AFF7079CF00C}"/>
              </a:ext>
            </a:extLst>
          </p:cNvPr>
          <p:cNvSpPr txBox="1"/>
          <p:nvPr/>
        </p:nvSpPr>
        <p:spPr>
          <a:xfrm>
            <a:off x="6578853" y="4939941"/>
            <a:ext cx="5122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Maximize true label probability and token prob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57BBE35-E3EA-480B-9839-FB6A0FC8CAA7}"/>
                  </a:ext>
                </a:extLst>
              </p:cNvPr>
              <p:cNvSpPr txBox="1"/>
              <p:nvPr/>
            </p:nvSpPr>
            <p:spPr>
              <a:xfrm>
                <a:off x="6947693" y="5465460"/>
                <a:ext cx="37399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57BBE35-E3EA-480B-9839-FB6A0FC8C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693" y="5465460"/>
                <a:ext cx="3739945" cy="369332"/>
              </a:xfrm>
              <a:prstGeom prst="rect">
                <a:avLst/>
              </a:prstGeom>
              <a:blipFill>
                <a:blip r:embed="rId10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837899-BF39-47A0-BA74-B3376EFFABDE}"/>
                  </a:ext>
                </a:extLst>
              </p:cNvPr>
              <p:cNvSpPr txBox="1"/>
              <p:nvPr/>
            </p:nvSpPr>
            <p:spPr>
              <a:xfrm>
                <a:off x="6947693" y="3161562"/>
                <a:ext cx="4589449" cy="4569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 …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IN" dirty="0">
                          <a:latin typeface="Cascadia Code Light" panose="020B0609020000020004" pitchFamily="49" charset="0"/>
                          <a:ea typeface="Cascadia Code Light" panose="020B0609020000020004" pitchFamily="49" charset="0"/>
                          <a:cs typeface="Cascadia Code Light" panose="020B0609020000020004" pitchFamily="49" charset="0"/>
                        </a:rPr>
                        <m:t>softmax</m:t>
                      </m:r>
                      <m:r>
                        <m:rPr>
                          <m:nor/>
                        </m:rPr>
                        <a:rPr lang="en-IN" dirty="0"/>
                        <m:t>(</m:t>
                      </m:r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sSubSup>
                        <m:sSub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m:rPr>
                          <m:nor/>
                        </m:rPr>
                        <a:rPr lang="en-IN" dirty="0"/>
                        <m:t>)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0837899-BF39-47A0-BA74-B3376EFFA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7693" y="3161562"/>
                <a:ext cx="4589449" cy="456920"/>
              </a:xfrm>
              <a:prstGeom prst="rect">
                <a:avLst/>
              </a:prstGeom>
              <a:blipFill>
                <a:blip r:embed="rId11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EC3A74C-B360-4E0B-B85F-3982DCC6AECF}"/>
                  </a:ext>
                </a:extLst>
              </p:cNvPr>
              <p:cNvSpPr txBox="1"/>
              <p:nvPr/>
            </p:nvSpPr>
            <p:spPr>
              <a:xfrm>
                <a:off x="7413740" y="4503292"/>
                <a:ext cx="4401205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Fine tuning requires only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IN" dirty="0"/>
                  <a:t> parameters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EC3A74C-B360-4E0B-B85F-3982DCC6A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3740" y="4503292"/>
                <a:ext cx="4401205" cy="391582"/>
              </a:xfrm>
              <a:prstGeom prst="rect">
                <a:avLst/>
              </a:prstGeom>
              <a:blipFill>
                <a:blip r:embed="rId12"/>
                <a:stretch>
                  <a:fillRect l="-1108" t="-7813" r="-693" b="-203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127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3" grpId="0"/>
      <p:bldP spid="25" grpId="0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00E91-0A72-449B-BAC2-5AB192D7B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GPT-2: Parameter Count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BEBFC-FCF0-48C5-AC08-68A5A32F4C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Configuration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=12,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=768,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=40000,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=512</m:t>
                    </m:r>
                  </m:oMath>
                </a14:m>
                <a:endParaRPr lang="en-IN" dirty="0"/>
              </a:p>
              <a:p>
                <a:r>
                  <a:rPr lang="en-IN" dirty="0"/>
                  <a:t>Decoder Parameters: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12. 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IN" dirty="0"/>
              </a:p>
              <a:p>
                <a:pPr lvl="1"/>
                <a:r>
                  <a:rPr lang="en-IN" dirty="0">
                    <a:solidFill>
                      <a:srgbClr val="FF0000"/>
                    </a:solidFill>
                  </a:rPr>
                  <a:t>Why not </a:t>
                </a:r>
                <a14:m>
                  <m:oMath xmlns:m="http://schemas.openxmlformats.org/officeDocument/2006/math">
                    <m:r>
                      <a:rPr lang="en-IN" sz="2400" spc="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b="0" i="0" spc="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spc="5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 </m:t>
                    </m:r>
                    <m:sSubSup>
                      <m:sSubSupPr>
                        <m:ctrlPr>
                          <a:rPr lang="en-IN" sz="2400" i="1" spc="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spc="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sz="2400" spc="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spc="5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IN" dirty="0">
                    <a:solidFill>
                      <a:srgbClr val="FF0000"/>
                    </a:solidFill>
                  </a:rPr>
                  <a:t>?</a:t>
                </a:r>
              </a:p>
              <a:p>
                <a:r>
                  <a:rPr lang="en-IN" dirty="0"/>
                  <a:t>Total no of parameters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.12.</m:t>
                    </m:r>
                    <m:sSubSup>
                      <m:sSub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×768</m:t>
                    </m:r>
                  </m:oMath>
                </a14:m>
                <a:endParaRPr lang="en-IN" b="0" dirty="0"/>
              </a:p>
              <a:p>
                <a:pPr lvl="1"/>
                <a:r>
                  <a:rPr lang="en-IN" dirty="0"/>
                  <a:t>117 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FBEBFC-FCF0-48C5-AC08-68A5A32F4C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B3E38-6B2F-4D4D-B980-F87B9EFFE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788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E7B19-7D32-4B29-9B75-3A4AF4F8A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Transformer-XL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37CAA-8369-4AF3-AB65-59C1F9B23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Transformer addresses the problem of long range dependency as present in recurrent architectures like RNN, LSTM</a:t>
            </a:r>
          </a:p>
          <a:p>
            <a:r>
              <a:rPr lang="en-IN" dirty="0"/>
              <a:t>Transformers enables parallelization as compared to linear dependency </a:t>
            </a:r>
          </a:p>
          <a:p>
            <a:r>
              <a:rPr lang="en-IN" dirty="0"/>
              <a:t>But fixed context length is an issue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Context fragmentation:  The context is broken into fragments with a hard context length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First few symbols of a fragment always have less amount of context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56C5B-E235-4B07-8D72-F83E3B351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83FF3C-F315-4201-9693-704DB5B233E6}"/>
              </a:ext>
            </a:extLst>
          </p:cNvPr>
          <p:cNvSpPr txBox="1"/>
          <p:nvPr/>
        </p:nvSpPr>
        <p:spPr>
          <a:xfrm>
            <a:off x="2723322" y="6246769"/>
            <a:ext cx="68281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Da et al.,</a:t>
            </a:r>
            <a:r>
              <a:rPr lang="en-IN" sz="1200" dirty="0">
                <a:hlinkClick r:id="rId2"/>
              </a:rPr>
              <a:t> </a:t>
            </a:r>
            <a:r>
              <a:rPr lang="en-US" sz="1200" dirty="0">
                <a:hlinkClick r:id="rId2"/>
              </a:rPr>
              <a:t>Transformer-XL: Attentive Language Models Beyond a Fixed-Length Context</a:t>
            </a:r>
            <a:r>
              <a:rPr lang="en-US" sz="1200" dirty="0"/>
              <a:t>, 2019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89626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157C0-011B-4E7D-8389-A3E4679F6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Transformer-XL: Context Fragmentation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2F0D1-68D3-47AD-9215-22E4751A9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BB263C-5E44-4B4D-949D-5C765D248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874" y="925352"/>
            <a:ext cx="3723717" cy="29671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519B630-8777-447A-9FD0-8A24C2F05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063" y="4060239"/>
            <a:ext cx="8014353" cy="273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0098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E41AC-9B37-453E-A224-43BC8A0D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Transformer-XL: Add Recurrence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308B6-A509-41A7-8274-B79CD06A4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6CBD5E-C507-4288-A030-4B71B1EF6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66" y="1457768"/>
            <a:ext cx="10136050" cy="35416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3DBD1E-0F14-447E-9BCA-985677C8B4B2}"/>
              </a:ext>
            </a:extLst>
          </p:cNvPr>
          <p:cNvSpPr txBox="1"/>
          <p:nvPr/>
        </p:nvSpPr>
        <p:spPr>
          <a:xfrm>
            <a:off x="2866197" y="952394"/>
            <a:ext cx="65225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Segment-Level Recurrence with State Reuse</a:t>
            </a: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D9E9D-36E4-4807-A21D-0363FB684468}"/>
              </a:ext>
            </a:extLst>
          </p:cNvPr>
          <p:cNvSpPr txBox="1"/>
          <p:nvPr/>
        </p:nvSpPr>
        <p:spPr>
          <a:xfrm>
            <a:off x="2156790" y="5167902"/>
            <a:ext cx="774258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Hidden state sequence computed for the previous segment is fixed and cached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Reused as an extended context when the model processes the next new segment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4930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8062B-995B-42B4-88C8-F5A660610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Transformer-XL: Add Recurrence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CD2FD-F10F-415B-8257-71CDAED5F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74A1E9-3BEC-4329-8FA5-ACF7F72B8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79" y="1028493"/>
            <a:ext cx="9405508" cy="44485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66C1A4-A60A-4283-9316-36319C08E7B5}"/>
              </a:ext>
            </a:extLst>
          </p:cNvPr>
          <p:cNvSpPr txBox="1"/>
          <p:nvPr/>
        </p:nvSpPr>
        <p:spPr>
          <a:xfrm>
            <a:off x="4888361" y="5596852"/>
            <a:ext cx="24152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Inference 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FA94A3-8295-4568-B004-CC43D053F60B}"/>
              </a:ext>
            </a:extLst>
          </p:cNvPr>
          <p:cNvSpPr txBox="1"/>
          <p:nvPr/>
        </p:nvSpPr>
        <p:spPr>
          <a:xfrm>
            <a:off x="2445532" y="6218668"/>
            <a:ext cx="7586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Code explanation: https://www.youtube.com/watch?v=YZ1XJEJUyGI</a:t>
            </a:r>
          </a:p>
        </p:txBody>
      </p:sp>
    </p:spTree>
    <p:extLst>
      <p:ext uri="{BB962C8B-B14F-4D97-AF65-F5344CB8AC3E}">
        <p14:creationId xmlns:p14="http://schemas.microsoft.com/office/powerpoint/2010/main" val="13214058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2764-1E5D-4B6D-BD84-3EB5D25BC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Transformer-XL: Add Recurrence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3578D-131E-4E75-A1A7-9E643AA6F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7D38C-0FA7-4F9B-A5BD-27D75E66FA51}"/>
                  </a:ext>
                </a:extLst>
              </p:cNvPr>
              <p:cNvSpPr txBox="1"/>
              <p:nvPr/>
            </p:nvSpPr>
            <p:spPr>
              <a:xfrm>
                <a:off x="854766" y="1270446"/>
                <a:ext cx="10286999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Two consecutive segments: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….</m:t>
                    </m:r>
                    <m:sSub>
                      <m:sSubPr>
                        <m:ctrlP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</m:t>
                    </m:r>
                    <m:sSub>
                      <m:sSubPr>
                        <m:ctrlPr>
                          <a:rPr lang="en-IN" sz="2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     </m:t>
                        </m:r>
                        <m:r>
                          <a:rPr lang="en-I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I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, ….</m:t>
                    </m:r>
                    <m:sSub>
                      <m:sSubPr>
                        <m:ctrlPr>
                          <a:rPr lang="en-I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IN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+1,</m:t>
                        </m:r>
                        <m:r>
                          <a:rPr lang="en-IN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sz="24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77D38C-0FA7-4F9B-A5BD-27D75E66FA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66" y="1270446"/>
                <a:ext cx="10286999" cy="477888"/>
              </a:xfrm>
              <a:prstGeom prst="rect">
                <a:avLst/>
              </a:prstGeom>
              <a:blipFill>
                <a:blip r:embed="rId2"/>
                <a:stretch>
                  <a:fillRect l="-889" t="-8861" b="-25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3DDA40-F67C-4098-86D5-C789931A01A7}"/>
                  </a:ext>
                </a:extLst>
              </p:cNvPr>
              <p:cNvSpPr txBox="1"/>
              <p:nvPr/>
            </p:nvSpPr>
            <p:spPr>
              <a:xfrm>
                <a:off x="894521" y="1959559"/>
                <a:ext cx="10848429" cy="468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Hidden state representation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sz="2400" dirty="0"/>
                  <a:t> layer: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IN" sz="2400" dirty="0"/>
                  <a:t> is the hidden dimension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3DDA40-F67C-4098-86D5-C789931A0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521" y="1959559"/>
                <a:ext cx="10848429" cy="468205"/>
              </a:xfrm>
              <a:prstGeom prst="rect">
                <a:avLst/>
              </a:prstGeom>
              <a:blipFill>
                <a:blip r:embed="rId3"/>
                <a:stretch>
                  <a:fillRect l="-899" t="-7792" b="-29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3F379F0-D8FF-4CA2-A48E-56107C716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66" y="2690803"/>
            <a:ext cx="5502117" cy="115834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7E7B7747-7C30-4202-AB64-400D974CA06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45288" y="2810155"/>
            <a:ext cx="4230315" cy="61884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3EC13554-65DA-49EB-83F5-AF4A19A0F9FA}"/>
              </a:ext>
            </a:extLst>
          </p:cNvPr>
          <p:cNvSpPr txBox="1"/>
          <p:nvPr/>
        </p:nvSpPr>
        <p:spPr>
          <a:xfrm>
            <a:off x="7497400" y="3602127"/>
            <a:ext cx="2310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SG </a:t>
            </a:r>
            <a:r>
              <a:rPr lang="en-IN" dirty="0">
                <a:sym typeface="Wingdings" panose="05000000000000000000" pitchFamily="2" charset="2"/>
              </a:rPr>
              <a:t> Stop Gradient</a:t>
            </a:r>
            <a:endParaRPr lang="en-IN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A82682F1-3CA8-4AB6-865E-A1E05B800928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7722" y="4212348"/>
            <a:ext cx="9340568" cy="635338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EF68B6E0-F612-4AFA-976E-5FC5A254ABEE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79042" y="5008943"/>
            <a:ext cx="8078720" cy="5786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A1B9FB0-EE43-4382-9A52-4DCBD58238F1}"/>
                  </a:ext>
                </a:extLst>
              </p:cNvPr>
              <p:cNvSpPr txBox="1"/>
              <p:nvPr/>
            </p:nvSpPr>
            <p:spPr>
              <a:xfrm>
                <a:off x="579042" y="5769250"/>
                <a:ext cx="10159961" cy="4809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The key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IN" sz="2400" b="1" dirty="0"/>
                  <a:t> </a:t>
                </a:r>
                <a:r>
                  <a:rPr lang="en-IN" sz="2400" dirty="0"/>
                  <a:t>and value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IN" sz="2400" dirty="0"/>
                  <a:t> are conditioned on extended context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IN" sz="24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acc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IN" sz="2400" dirty="0"/>
                  <a:t> </a:t>
                </a:r>
                <a:endParaRPr lang="en-IN" sz="2400" b="1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A1B9FB0-EE43-4382-9A52-4DCBD5823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042" y="5769250"/>
                <a:ext cx="10159961" cy="480966"/>
              </a:xfrm>
              <a:prstGeom prst="rect">
                <a:avLst/>
              </a:prstGeom>
              <a:blipFill>
                <a:blip r:embed="rId8"/>
                <a:stretch>
                  <a:fillRect l="-960" t="-5063" b="-2911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2ACDB05-8A28-47F0-8CF3-98F61F995798}"/>
                  </a:ext>
                </a:extLst>
              </p:cNvPr>
              <p:cNvSpPr txBox="1"/>
              <p:nvPr/>
            </p:nvSpPr>
            <p:spPr>
              <a:xfrm>
                <a:off x="670244" y="6313157"/>
                <a:ext cx="587115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IN" sz="2400" b="1" dirty="0"/>
                  <a:t> </a:t>
                </a:r>
                <a:r>
                  <a:rPr lang="en-IN" sz="2400" dirty="0"/>
                  <a:t>cached from the previous segment </a:t>
                </a:r>
                <a:endParaRPr lang="en-IN" sz="2400" b="1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2ACDB05-8A28-47F0-8CF3-98F61F995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244" y="6313157"/>
                <a:ext cx="5871159" cy="461665"/>
              </a:xfrm>
              <a:prstGeom prst="rect">
                <a:avLst/>
              </a:prstGeom>
              <a:blipFill>
                <a:blip r:embed="rId9"/>
                <a:stretch>
                  <a:fillRect l="-415" t="-9333" r="-623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DFFAEB8-48FE-4617-A3A4-B6E11FC79BA4}"/>
              </a:ext>
            </a:extLst>
          </p:cNvPr>
          <p:cNvSpPr/>
          <p:nvPr/>
        </p:nvSpPr>
        <p:spPr>
          <a:xfrm>
            <a:off x="4263887" y="4212348"/>
            <a:ext cx="884583" cy="689211"/>
          </a:xfrm>
          <a:prstGeom prst="round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81684E4-2E21-4257-BF37-1CDBA05BAB1F}"/>
              </a:ext>
            </a:extLst>
          </p:cNvPr>
          <p:cNvSpPr/>
          <p:nvPr/>
        </p:nvSpPr>
        <p:spPr>
          <a:xfrm>
            <a:off x="6151505" y="4226925"/>
            <a:ext cx="990975" cy="689211"/>
          </a:xfrm>
          <a:prstGeom prst="roundRect">
            <a:avLst/>
          </a:prstGeom>
          <a:solidFill>
            <a:schemeClr val="accent1">
              <a:alpha val="2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13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8" grpId="0"/>
      <p:bldP spid="63" grpId="0"/>
      <p:bldP spid="64" grpId="0"/>
      <p:bldP spid="3" grpId="0" animBg="1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A1CA-5DD6-4D9B-B6C8-837A97B0C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XLNet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B8F7A-0C3F-4BF0-B084-83E8593D0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42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DC360C-B85B-4D2F-82D7-75BAE3391691}"/>
              </a:ext>
            </a:extLst>
          </p:cNvPr>
          <p:cNvCxnSpPr>
            <a:cxnSpLocks/>
          </p:cNvCxnSpPr>
          <p:nvPr/>
        </p:nvCxnSpPr>
        <p:spPr>
          <a:xfrm>
            <a:off x="6096000" y="1133061"/>
            <a:ext cx="0" cy="522453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62B4E3E-F460-446E-9373-A50A84D83161}"/>
              </a:ext>
            </a:extLst>
          </p:cNvPr>
          <p:cNvSpPr txBox="1"/>
          <p:nvPr/>
        </p:nvSpPr>
        <p:spPr>
          <a:xfrm>
            <a:off x="1630018" y="1133061"/>
            <a:ext cx="3624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/>
              <a:t>Autoregressive Language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EB7C2A-65B9-4095-9C37-F452399974F1}"/>
              </a:ext>
            </a:extLst>
          </p:cNvPr>
          <p:cNvSpPr txBox="1"/>
          <p:nvPr/>
        </p:nvSpPr>
        <p:spPr>
          <a:xfrm>
            <a:off x="7238485" y="1133061"/>
            <a:ext cx="3460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u="sng" dirty="0"/>
              <a:t>Denoising Autoencoder (BERT)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4744A-18BC-4EB0-8E2D-06B428BFD67C}"/>
              </a:ext>
            </a:extLst>
          </p:cNvPr>
          <p:cNvSpPr txBox="1"/>
          <p:nvPr/>
        </p:nvSpPr>
        <p:spPr>
          <a:xfrm>
            <a:off x="2541932" y="6443476"/>
            <a:ext cx="67312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Yang et al., </a:t>
            </a:r>
            <a:r>
              <a:rPr lang="en-US" sz="1200" dirty="0" err="1"/>
              <a:t>XLNet</a:t>
            </a:r>
            <a:r>
              <a:rPr lang="en-US" sz="1200" dirty="0"/>
              <a:t>: </a:t>
            </a:r>
            <a:r>
              <a:rPr lang="en-US" sz="1200" dirty="0">
                <a:hlinkClick r:id="rId2"/>
              </a:rPr>
              <a:t>Generalized Autoregressive Pretraining for Language Understanding</a:t>
            </a:r>
            <a:r>
              <a:rPr lang="en-US" sz="1200" dirty="0"/>
              <a:t>, 2019</a:t>
            </a:r>
            <a:endParaRPr lang="en-IN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0E99D7-E46D-407F-B489-D2A8782436B0}"/>
              </a:ext>
            </a:extLst>
          </p:cNvPr>
          <p:cNvSpPr/>
          <p:nvPr/>
        </p:nvSpPr>
        <p:spPr>
          <a:xfrm>
            <a:off x="1404692" y="2625171"/>
            <a:ext cx="4075041" cy="59370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Unidirectional Transformer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8F6354-34F9-4248-99D3-C4019BCD9DB5}"/>
              </a:ext>
            </a:extLst>
          </p:cNvPr>
          <p:cNvSpPr/>
          <p:nvPr/>
        </p:nvSpPr>
        <p:spPr>
          <a:xfrm>
            <a:off x="6975438" y="2603519"/>
            <a:ext cx="4075041" cy="59370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Bidirectional Transformer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9CAC3-A6FF-4EA4-90A5-603BD450A414}"/>
              </a:ext>
            </a:extLst>
          </p:cNvPr>
          <p:cNvSpPr txBox="1"/>
          <p:nvPr/>
        </p:nvSpPr>
        <p:spPr>
          <a:xfrm>
            <a:off x="1703881" y="3756992"/>
            <a:ext cx="337727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IN" dirty="0"/>
              <a:t>New      York       is       a        city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F5C59F-EFB1-4C1F-9F56-BCD95035301F}"/>
              </a:ext>
            </a:extLst>
          </p:cNvPr>
          <p:cNvSpPr txBox="1"/>
          <p:nvPr/>
        </p:nvSpPr>
        <p:spPr>
          <a:xfrm>
            <a:off x="1753576" y="1710149"/>
            <a:ext cx="3560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York        is          a      city   [EOS]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B5C5A0-23FB-41D4-9183-566700D66485}"/>
              </a:ext>
            </a:extLst>
          </p:cNvPr>
          <p:cNvCxnSpPr/>
          <p:nvPr/>
        </p:nvCxnSpPr>
        <p:spPr>
          <a:xfrm flipV="1">
            <a:off x="2017643" y="3250095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92F2F1-0708-442B-86E5-8E24818AE1D2}"/>
              </a:ext>
            </a:extLst>
          </p:cNvPr>
          <p:cNvCxnSpPr/>
          <p:nvPr/>
        </p:nvCxnSpPr>
        <p:spPr>
          <a:xfrm flipV="1">
            <a:off x="2832652" y="3250095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0A4B29-77EF-45D4-AA5E-4A39CBBF042A}"/>
              </a:ext>
            </a:extLst>
          </p:cNvPr>
          <p:cNvCxnSpPr/>
          <p:nvPr/>
        </p:nvCxnSpPr>
        <p:spPr>
          <a:xfrm flipV="1">
            <a:off x="3531700" y="3253410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93179C3-F182-406C-AF02-4247AB603C05}"/>
              </a:ext>
            </a:extLst>
          </p:cNvPr>
          <p:cNvCxnSpPr/>
          <p:nvPr/>
        </p:nvCxnSpPr>
        <p:spPr>
          <a:xfrm flipV="1">
            <a:off x="4078356" y="3253410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0DB753-BBDF-4329-9A4B-F7E7CE026B9C}"/>
              </a:ext>
            </a:extLst>
          </p:cNvPr>
          <p:cNvCxnSpPr/>
          <p:nvPr/>
        </p:nvCxnSpPr>
        <p:spPr>
          <a:xfrm flipV="1">
            <a:off x="4747591" y="3246786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18323E3-3736-4EA5-B999-7807E327AF16}"/>
              </a:ext>
            </a:extLst>
          </p:cNvPr>
          <p:cNvCxnSpPr/>
          <p:nvPr/>
        </p:nvCxnSpPr>
        <p:spPr>
          <a:xfrm flipV="1">
            <a:off x="2011016" y="2076744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45822E7-6439-44FE-A91C-786D8FF7339F}"/>
              </a:ext>
            </a:extLst>
          </p:cNvPr>
          <p:cNvCxnSpPr/>
          <p:nvPr/>
        </p:nvCxnSpPr>
        <p:spPr>
          <a:xfrm flipV="1">
            <a:off x="2826025" y="2076744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7D72230-F908-4C47-A8A8-79B3142A63BA}"/>
              </a:ext>
            </a:extLst>
          </p:cNvPr>
          <p:cNvCxnSpPr/>
          <p:nvPr/>
        </p:nvCxnSpPr>
        <p:spPr>
          <a:xfrm flipV="1">
            <a:off x="3525073" y="2080059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20EFBDA-64F2-4C43-902A-02E15D640BF0}"/>
              </a:ext>
            </a:extLst>
          </p:cNvPr>
          <p:cNvCxnSpPr/>
          <p:nvPr/>
        </p:nvCxnSpPr>
        <p:spPr>
          <a:xfrm flipV="1">
            <a:off x="4071729" y="2080059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A1E1299-1D48-4BE2-99E7-EB957E93DA14}"/>
              </a:ext>
            </a:extLst>
          </p:cNvPr>
          <p:cNvCxnSpPr/>
          <p:nvPr/>
        </p:nvCxnSpPr>
        <p:spPr>
          <a:xfrm flipV="1">
            <a:off x="4740964" y="2073435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9734BFE-B8EE-4411-B8E9-B84FB31DF12C}"/>
              </a:ext>
            </a:extLst>
          </p:cNvPr>
          <p:cNvSpPr txBox="1"/>
          <p:nvPr/>
        </p:nvSpPr>
        <p:spPr>
          <a:xfrm>
            <a:off x="7059582" y="3737114"/>
            <a:ext cx="3685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New    [MASK] [MASK]   a        city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4F111C8-27BE-4AD4-B0F8-6B2896F2C1CF}"/>
              </a:ext>
            </a:extLst>
          </p:cNvPr>
          <p:cNvCxnSpPr/>
          <p:nvPr/>
        </p:nvCxnSpPr>
        <p:spPr>
          <a:xfrm flipV="1">
            <a:off x="7621819" y="3230217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B934FAA-C799-46C1-88BD-A5D3F289B192}"/>
              </a:ext>
            </a:extLst>
          </p:cNvPr>
          <p:cNvCxnSpPr/>
          <p:nvPr/>
        </p:nvCxnSpPr>
        <p:spPr>
          <a:xfrm flipV="1">
            <a:off x="8188353" y="3230217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3D25B5E-15D4-4F36-8E17-89C31DF46EA3}"/>
              </a:ext>
            </a:extLst>
          </p:cNvPr>
          <p:cNvCxnSpPr/>
          <p:nvPr/>
        </p:nvCxnSpPr>
        <p:spPr>
          <a:xfrm flipV="1">
            <a:off x="9006669" y="3233532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C0F136F-C86C-4FE7-A799-F65575A6E442}"/>
              </a:ext>
            </a:extLst>
          </p:cNvPr>
          <p:cNvCxnSpPr/>
          <p:nvPr/>
        </p:nvCxnSpPr>
        <p:spPr>
          <a:xfrm flipV="1">
            <a:off x="9682532" y="3233532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E53BE67-C482-47D3-841E-F4D91465C2CE}"/>
              </a:ext>
            </a:extLst>
          </p:cNvPr>
          <p:cNvCxnSpPr/>
          <p:nvPr/>
        </p:nvCxnSpPr>
        <p:spPr>
          <a:xfrm flipV="1">
            <a:off x="10351767" y="3226908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9BE64623-D068-4299-8DED-C2A4B2AFFB8E}"/>
              </a:ext>
            </a:extLst>
          </p:cNvPr>
          <p:cNvSpPr txBox="1"/>
          <p:nvPr/>
        </p:nvSpPr>
        <p:spPr>
          <a:xfrm>
            <a:off x="7893149" y="1704103"/>
            <a:ext cx="1324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York       is 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B166656-A886-49E4-B01D-FA042ACE9E60}"/>
              </a:ext>
            </a:extLst>
          </p:cNvPr>
          <p:cNvCxnSpPr/>
          <p:nvPr/>
        </p:nvCxnSpPr>
        <p:spPr>
          <a:xfrm flipV="1">
            <a:off x="8229186" y="2060895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57FB00D-D02A-4277-8A45-FC1AF54FB0B8}"/>
              </a:ext>
            </a:extLst>
          </p:cNvPr>
          <p:cNvCxnSpPr/>
          <p:nvPr/>
        </p:nvCxnSpPr>
        <p:spPr>
          <a:xfrm flipV="1">
            <a:off x="8928234" y="2064210"/>
            <a:ext cx="0" cy="526775"/>
          </a:xfrm>
          <a:prstGeom prst="straightConnector1">
            <a:avLst/>
          </a:prstGeom>
          <a:ln w="127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24340C1-E667-4CC6-9D04-77856F7F1CDB}"/>
              </a:ext>
            </a:extLst>
          </p:cNvPr>
          <p:cNvSpPr txBox="1"/>
          <p:nvPr/>
        </p:nvSpPr>
        <p:spPr>
          <a:xfrm>
            <a:off x="1510748" y="4591878"/>
            <a:ext cx="3560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9900"/>
                </a:solidFill>
              </a:rPr>
              <a:t>Full autoregressive dependence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77D043-ED9C-4C26-ADD6-F4180A562F86}"/>
              </a:ext>
            </a:extLst>
          </p:cNvPr>
          <p:cNvSpPr txBox="1"/>
          <p:nvPr/>
        </p:nvSpPr>
        <p:spPr>
          <a:xfrm>
            <a:off x="1500809" y="5045176"/>
            <a:ext cx="2693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9900"/>
                </a:solidFill>
              </a:rPr>
              <a:t>Free from artificial noise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2F9C7B-CD81-4F9B-A958-BE9CCDCDA1AB}"/>
              </a:ext>
            </a:extLst>
          </p:cNvPr>
          <p:cNvSpPr txBox="1"/>
          <p:nvPr/>
        </p:nvSpPr>
        <p:spPr>
          <a:xfrm>
            <a:off x="1510748" y="5517677"/>
            <a:ext cx="2723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No bidirectional context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3AF8175-990D-4E68-B1D7-3CBFCBF70CD4}"/>
              </a:ext>
            </a:extLst>
          </p:cNvPr>
          <p:cNvSpPr txBox="1"/>
          <p:nvPr/>
        </p:nvSpPr>
        <p:spPr>
          <a:xfrm>
            <a:off x="1235351" y="4603401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rgbClr val="009900"/>
                </a:solidFill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C839C4-2853-49DD-ABC0-E728C6ED9A94}"/>
              </a:ext>
            </a:extLst>
          </p:cNvPr>
          <p:cNvSpPr txBox="1"/>
          <p:nvPr/>
        </p:nvSpPr>
        <p:spPr>
          <a:xfrm>
            <a:off x="1235351" y="5069717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rgbClr val="009900"/>
                </a:solidFill>
              </a:rPr>
              <a:t> </a:t>
            </a:r>
          </a:p>
        </p:txBody>
      </p:sp>
      <p:sp>
        <p:nvSpPr>
          <p:cNvPr id="46" name="Multiplication Sign 45">
            <a:extLst>
              <a:ext uri="{FF2B5EF4-FFF2-40B4-BE49-F238E27FC236}">
                <a16:creationId xmlns:a16="http://schemas.microsoft.com/office/drawing/2014/main" id="{B70FB47E-0744-47A5-96DE-232C973EC20F}"/>
              </a:ext>
            </a:extLst>
          </p:cNvPr>
          <p:cNvSpPr/>
          <p:nvPr/>
        </p:nvSpPr>
        <p:spPr>
          <a:xfrm>
            <a:off x="1321904" y="5583075"/>
            <a:ext cx="188841" cy="232516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9EE829-CDB2-41E8-90B5-2826F39D13E4}"/>
              </a:ext>
            </a:extLst>
          </p:cNvPr>
          <p:cNvSpPr txBox="1"/>
          <p:nvPr/>
        </p:nvSpPr>
        <p:spPr>
          <a:xfrm>
            <a:off x="6840870" y="5522516"/>
            <a:ext cx="3173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009900"/>
                </a:solidFill>
              </a:rPr>
              <a:t>Natural bidirectional context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6B435E-A4AE-4A09-8050-1190F3F0767F}"/>
              </a:ext>
            </a:extLst>
          </p:cNvPr>
          <p:cNvSpPr txBox="1"/>
          <p:nvPr/>
        </p:nvSpPr>
        <p:spPr>
          <a:xfrm>
            <a:off x="6840870" y="4643902"/>
            <a:ext cx="5363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Independent predictions (language is sequential)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467685-ED0D-4B8E-B567-4C05208AB49E}"/>
              </a:ext>
            </a:extLst>
          </p:cNvPr>
          <p:cNvSpPr txBox="1"/>
          <p:nvPr/>
        </p:nvSpPr>
        <p:spPr>
          <a:xfrm>
            <a:off x="6575412" y="5547057"/>
            <a:ext cx="5373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rgbClr val="009900"/>
                </a:solidFill>
              </a:rPr>
              <a:t> </a:t>
            </a:r>
          </a:p>
        </p:txBody>
      </p:sp>
      <p:sp>
        <p:nvSpPr>
          <p:cNvPr id="54" name="Multiplication Sign 53">
            <a:extLst>
              <a:ext uri="{FF2B5EF4-FFF2-40B4-BE49-F238E27FC236}">
                <a16:creationId xmlns:a16="http://schemas.microsoft.com/office/drawing/2014/main" id="{08D1FC50-437B-4447-932D-39D4DF7FC6AE}"/>
              </a:ext>
            </a:extLst>
          </p:cNvPr>
          <p:cNvSpPr/>
          <p:nvPr/>
        </p:nvSpPr>
        <p:spPr>
          <a:xfrm>
            <a:off x="6652026" y="4709300"/>
            <a:ext cx="188841" cy="232516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2CFA41F-1BCD-47EC-9D31-EE82FF4C3F8C}"/>
              </a:ext>
            </a:extLst>
          </p:cNvPr>
          <p:cNvSpPr txBox="1"/>
          <p:nvPr/>
        </p:nvSpPr>
        <p:spPr>
          <a:xfrm>
            <a:off x="6826794" y="5095347"/>
            <a:ext cx="4955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Artificial noise (pretrain-finetune discrepancy)</a:t>
            </a:r>
          </a:p>
        </p:txBody>
      </p:sp>
      <p:sp>
        <p:nvSpPr>
          <p:cNvPr id="56" name="Multiplication Sign 55">
            <a:extLst>
              <a:ext uri="{FF2B5EF4-FFF2-40B4-BE49-F238E27FC236}">
                <a16:creationId xmlns:a16="http://schemas.microsoft.com/office/drawing/2014/main" id="{3AE2BE86-4CD2-4895-A613-F983CEB98800}"/>
              </a:ext>
            </a:extLst>
          </p:cNvPr>
          <p:cNvSpPr/>
          <p:nvPr/>
        </p:nvSpPr>
        <p:spPr>
          <a:xfrm>
            <a:off x="6637950" y="5160745"/>
            <a:ext cx="188841" cy="232516"/>
          </a:xfrm>
          <a:prstGeom prst="mathMultiply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64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  <p:bldP spid="45" grpId="0"/>
      <p:bldP spid="47" grpId="0"/>
      <p:bldP spid="46" grpId="0" animBg="1"/>
      <p:bldP spid="50" grpId="0"/>
      <p:bldP spid="51" grpId="0"/>
      <p:bldP spid="53" grpId="0"/>
      <p:bldP spid="54" grpId="0" animBg="1"/>
      <p:bldP spid="55" grpId="0"/>
      <p:bldP spid="5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ABA53-0330-4EE3-AA9E-96078C276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AR vs AE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37C8C-C5E7-480E-AC28-33042D32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58B0EA-9153-4502-850F-70F592BB11C7}"/>
                  </a:ext>
                </a:extLst>
              </p:cNvPr>
              <p:cNvSpPr txBox="1"/>
              <p:nvPr/>
            </p:nvSpPr>
            <p:spPr>
              <a:xfrm>
                <a:off x="1013791" y="944220"/>
                <a:ext cx="58118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Given a text sequence: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58B0EA-9153-4502-850F-70F592BB1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791" y="944220"/>
                <a:ext cx="5811847" cy="461665"/>
              </a:xfrm>
              <a:prstGeom prst="rect">
                <a:avLst/>
              </a:prstGeom>
              <a:blipFill>
                <a:blip r:embed="rId2"/>
                <a:stretch>
                  <a:fillRect l="-1572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7EF04853-AF02-4500-B18B-EF45736F5DF5}"/>
              </a:ext>
            </a:extLst>
          </p:cNvPr>
          <p:cNvSpPr txBox="1"/>
          <p:nvPr/>
        </p:nvSpPr>
        <p:spPr>
          <a:xfrm>
            <a:off x="1023730" y="1500815"/>
            <a:ext cx="10185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accent4">
                    <a:lumMod val="75000"/>
                  </a:schemeClr>
                </a:solidFill>
              </a:rPr>
              <a:t>ARLM pretraining objective: Maximize likelihood under the forward autoregressive factorization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C399D5-DBED-4923-8D6C-3D1F557E482F}"/>
                  </a:ext>
                </a:extLst>
              </p:cNvPr>
              <p:cNvSpPr txBox="1"/>
              <p:nvPr/>
            </p:nvSpPr>
            <p:spPr>
              <a:xfrm>
                <a:off x="3525907" y="1942223"/>
                <a:ext cx="3232702" cy="957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IN" sz="2000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IN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C399D5-DBED-4923-8D6C-3D1F557E4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907" y="1942223"/>
                <a:ext cx="3232702" cy="9578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D06A05BC-0598-4A50-847F-4D7A325D4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215" y="2917212"/>
            <a:ext cx="10386960" cy="11964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DE3D26-A5D0-4E9F-9EE0-C3D7FC842D67}"/>
                  </a:ext>
                </a:extLst>
              </p:cNvPr>
              <p:cNvSpPr txBox="1"/>
              <p:nvPr/>
            </p:nvSpPr>
            <p:spPr>
              <a:xfrm>
                <a:off x="952215" y="4226710"/>
                <a:ext cx="88110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>
                    <a:solidFill>
                      <a:schemeClr val="accent4">
                        <a:lumMod val="75000"/>
                      </a:schemeClr>
                    </a:solidFill>
                  </a:rPr>
                  <a:t>AELM pretraining objective: Reconstruct masked tokens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b="1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IN" dirty="0">
                    <a:solidFill>
                      <a:schemeClr val="accent4">
                        <a:lumMod val="75000"/>
                      </a:schemeClr>
                    </a:solidFill>
                  </a:rPr>
                  <a:t>) from corrupted </a:t>
                </a:r>
                <a:r>
                  <a:rPr lang="en-IN" dirty="0" err="1">
                    <a:solidFill>
                      <a:schemeClr val="accent4">
                        <a:lumMod val="75000"/>
                      </a:schemeClr>
                    </a:solidFill>
                  </a:rPr>
                  <a:t>seq</a:t>
                </a:r>
                <a:r>
                  <a:rPr lang="en-IN" dirty="0">
                    <a:solidFill>
                      <a:schemeClr val="accent4">
                        <a:lumMod val="75000"/>
                      </a:schemeClr>
                    </a:solidFill>
                  </a:rPr>
                  <a:t>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IN" dirty="0">
                    <a:solidFill>
                      <a:schemeClr val="accent4">
                        <a:lumMod val="75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1DE3D26-A5D0-4E9F-9EE0-C3D7FC842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215" y="4226710"/>
                <a:ext cx="8811002" cy="369332"/>
              </a:xfrm>
              <a:prstGeom prst="rect">
                <a:avLst/>
              </a:prstGeom>
              <a:blipFill>
                <a:blip r:embed="rId5"/>
                <a:stretch>
                  <a:fillRect l="-553" t="-6557" r="-2835" b="-262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5E636137-346C-42EE-927A-9FD6C2CD37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730" y="4709096"/>
            <a:ext cx="10836579" cy="10897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C00403E-4E96-4F03-9521-74894672CA72}"/>
              </a:ext>
            </a:extLst>
          </p:cNvPr>
          <p:cNvSpPr txBox="1"/>
          <p:nvPr/>
        </p:nvSpPr>
        <p:spPr>
          <a:xfrm>
            <a:off x="1072076" y="5929182"/>
            <a:ext cx="10137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Can we have the benefit of bidirectionality in an autoregressive model?</a:t>
            </a:r>
          </a:p>
        </p:txBody>
      </p:sp>
    </p:spTree>
    <p:extLst>
      <p:ext uri="{BB962C8B-B14F-4D97-AF65-F5344CB8AC3E}">
        <p14:creationId xmlns:p14="http://schemas.microsoft.com/office/powerpoint/2010/main" val="54072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5" grpId="0"/>
      <p:bldP spid="1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5F9DA-E9B2-4232-B670-3F1233D3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Issue with AE (BERT)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D8255-570C-4D73-8631-9EED4774A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D2159-ECC9-4E96-9CE0-21A68AE0127C}"/>
              </a:ext>
            </a:extLst>
          </p:cNvPr>
          <p:cNvSpPr txBox="1"/>
          <p:nvPr/>
        </p:nvSpPr>
        <p:spPr>
          <a:xfrm>
            <a:off x="3009071" y="6466846"/>
            <a:ext cx="72381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https://rbcborealis.com/research-blogs/understanding-xlnet/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26991A-B2BC-44A1-AD8D-092C498D9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41" y="1493553"/>
            <a:ext cx="5913632" cy="30558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0D398EC-354A-49C5-A475-DD99DA078C53}"/>
              </a:ext>
            </a:extLst>
          </p:cNvPr>
          <p:cNvSpPr txBox="1"/>
          <p:nvPr/>
        </p:nvSpPr>
        <p:spPr>
          <a:xfrm>
            <a:off x="6769378" y="1308887"/>
            <a:ext cx="49735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BERT predicts [MASK]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boat</a:t>
            </a:r>
            <a:r>
              <a:rPr lang="en-US" dirty="0">
                <a:sym typeface="Wingdings" panose="05000000000000000000" pitchFamily="2" charset="2"/>
              </a:rPr>
              <a:t> using context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484C65-766E-4E5C-96F7-9517E4AD9EAB}"/>
              </a:ext>
            </a:extLst>
          </p:cNvPr>
          <p:cNvSpPr txBox="1"/>
          <p:nvPr/>
        </p:nvSpPr>
        <p:spPr>
          <a:xfrm>
            <a:off x="7170256" y="1787465"/>
            <a:ext cx="46937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ym typeface="Wingdings" panose="05000000000000000000" pitchFamily="2" charset="2"/>
              </a:rPr>
              <a:t>A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boat</a:t>
            </a:r>
            <a:r>
              <a:rPr lang="en-US" dirty="0">
                <a:sym typeface="Wingdings" panose="05000000000000000000" pitchFamily="2" charset="2"/>
              </a:rPr>
              <a:t> can be </a:t>
            </a:r>
            <a:r>
              <a:rPr lang="en-US" dirty="0">
                <a:solidFill>
                  <a:srgbClr val="009900"/>
                </a:solidFill>
                <a:sym typeface="Wingdings" panose="05000000000000000000" pitchFamily="2" charset="2"/>
              </a:rPr>
              <a:t>beached</a:t>
            </a:r>
            <a:r>
              <a:rPr lang="en-US" dirty="0">
                <a:sym typeface="Wingdings" panose="05000000000000000000" pitchFamily="2" charset="2"/>
              </a:rPr>
              <a:t>, or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ym typeface="Wingdings" panose="05000000000000000000" pitchFamily="2" charset="2"/>
              </a:rPr>
              <a:t>A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boat</a:t>
            </a:r>
            <a:r>
              <a:rPr lang="en-US" dirty="0">
                <a:sym typeface="Wingdings" panose="05000000000000000000" pitchFamily="2" charset="2"/>
              </a:rPr>
              <a:t> is often found on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riverside</a:t>
            </a:r>
            <a:r>
              <a:rPr lang="en-US" dirty="0">
                <a:sym typeface="Wingdings" panose="05000000000000000000" pitchFamily="2" charset="2"/>
              </a:rPr>
              <a:t>, but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ym typeface="Wingdings" panose="05000000000000000000" pitchFamily="2" charset="2"/>
              </a:rPr>
              <a:t>BERT does not necessarily learn an association between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boat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dirty="0">
                <a:solidFill>
                  <a:srgbClr val="009900"/>
                </a:solidFill>
                <a:sym typeface="Wingdings" panose="05000000000000000000" pitchFamily="2" charset="2"/>
              </a:rPr>
              <a:t>beached</a:t>
            </a:r>
            <a:r>
              <a:rPr lang="en-US" dirty="0">
                <a:sym typeface="Wingdings" panose="05000000000000000000" pitchFamily="2" charset="2"/>
              </a:rPr>
              <a:t> as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riverside</a:t>
            </a:r>
            <a:r>
              <a:rPr lang="en-US" dirty="0">
                <a:sym typeface="Wingdings" panose="05000000000000000000" pitchFamily="2" charset="2"/>
              </a:rPr>
              <a:t> can be used to predict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boat</a:t>
            </a:r>
            <a:r>
              <a:rPr lang="en-US" dirty="0">
                <a:sym typeface="Wingdings" panose="05000000000000000000" pitchFamily="2" charset="2"/>
              </a:rPr>
              <a:t> to replace [MASK]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0F7737-5796-4557-9896-8D6A5D563FF1}"/>
              </a:ext>
            </a:extLst>
          </p:cNvPr>
          <p:cNvSpPr txBox="1"/>
          <p:nvPr/>
        </p:nvSpPr>
        <p:spPr>
          <a:xfrm>
            <a:off x="6763580" y="3757164"/>
            <a:ext cx="54019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BERT predicts the masked tokens independently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2BB6EA-5CC0-4646-8EEA-39A65E7E73E3}"/>
              </a:ext>
            </a:extLst>
          </p:cNvPr>
          <p:cNvSpPr txBox="1"/>
          <p:nvPr/>
        </p:nvSpPr>
        <p:spPr>
          <a:xfrm>
            <a:off x="7170256" y="4208800"/>
            <a:ext cx="469375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ym typeface="Wingdings" panose="05000000000000000000" pitchFamily="2" charset="2"/>
              </a:rPr>
              <a:t>Does not consider interaction between the predicted tokens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ym typeface="Wingdings" panose="05000000000000000000" pitchFamily="2" charset="2"/>
              </a:rPr>
              <a:t>Consider: </a:t>
            </a:r>
            <a:r>
              <a:rPr lang="en-US" b="1" i="0" dirty="0">
                <a:solidFill>
                  <a:srgbClr val="2980B9"/>
                </a:solidFill>
                <a:effectLst/>
                <a:latin typeface="Inter"/>
              </a:rPr>
              <a:t>The [MASK] was [MASK] on the riverside</a:t>
            </a: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ym typeface="Wingdings" panose="05000000000000000000" pitchFamily="2" charset="2"/>
              </a:rPr>
              <a:t>BERT assigns high probabilities to: </a:t>
            </a:r>
            <a:r>
              <a:rPr lang="en-IN" b="0" i="0" dirty="0">
                <a:solidFill>
                  <a:srgbClr val="222731"/>
                </a:solidFill>
                <a:effectLst/>
                <a:latin typeface="Inter"/>
              </a:rPr>
              <a:t>(</a:t>
            </a:r>
            <a:r>
              <a:rPr lang="en-IN" b="1" i="0" dirty="0">
                <a:solidFill>
                  <a:srgbClr val="2980B9"/>
                </a:solidFill>
                <a:effectLst/>
                <a:latin typeface="Inter"/>
              </a:rPr>
              <a:t>boat</a:t>
            </a:r>
            <a:r>
              <a:rPr lang="en-IN" b="0" i="0" dirty="0">
                <a:solidFill>
                  <a:srgbClr val="222731"/>
                </a:solidFill>
                <a:effectLst/>
                <a:latin typeface="Inter"/>
              </a:rPr>
              <a:t>, </a:t>
            </a:r>
            <a:r>
              <a:rPr lang="en-IN" b="1" i="0" dirty="0">
                <a:solidFill>
                  <a:srgbClr val="2980B9"/>
                </a:solidFill>
                <a:effectLst/>
                <a:latin typeface="Inter"/>
              </a:rPr>
              <a:t>beached</a:t>
            </a:r>
            <a:r>
              <a:rPr lang="en-IN" b="0" i="0" dirty="0">
                <a:solidFill>
                  <a:srgbClr val="222731"/>
                </a:solidFill>
                <a:effectLst/>
                <a:latin typeface="Inter"/>
              </a:rPr>
              <a:t>) </a:t>
            </a:r>
            <a:r>
              <a:rPr lang="en-US" b="0" i="0" dirty="0">
                <a:solidFill>
                  <a:srgbClr val="222731"/>
                </a:solidFill>
                <a:effectLst/>
                <a:latin typeface="Inter"/>
                <a:sym typeface="Wingdings" panose="05000000000000000000" pitchFamily="2" charset="2"/>
              </a:rPr>
              <a:t>and </a:t>
            </a:r>
            <a:r>
              <a:rPr lang="en-IN" b="0" i="0" dirty="0">
                <a:solidFill>
                  <a:srgbClr val="222731"/>
                </a:solidFill>
                <a:effectLst/>
                <a:latin typeface="Inter"/>
              </a:rPr>
              <a:t>(</a:t>
            </a:r>
            <a:r>
              <a:rPr lang="en-IN" b="1" i="0" dirty="0">
                <a:solidFill>
                  <a:srgbClr val="2980B9"/>
                </a:solidFill>
                <a:effectLst/>
                <a:latin typeface="Inter"/>
              </a:rPr>
              <a:t>parade</a:t>
            </a:r>
            <a:r>
              <a:rPr lang="en-IN" b="0" i="0" dirty="0">
                <a:solidFill>
                  <a:srgbClr val="222731"/>
                </a:solidFill>
                <a:effectLst/>
                <a:latin typeface="Inter"/>
              </a:rPr>
              <a:t>, </a:t>
            </a:r>
            <a:r>
              <a:rPr lang="en-IN" b="1" i="0" dirty="0">
                <a:solidFill>
                  <a:srgbClr val="2980B9"/>
                </a:solidFill>
                <a:effectLst/>
                <a:latin typeface="Inter"/>
              </a:rPr>
              <a:t>seen</a:t>
            </a:r>
            <a:r>
              <a:rPr lang="en-IN" b="0" i="0" dirty="0">
                <a:solidFill>
                  <a:srgbClr val="222731"/>
                </a:solidFill>
                <a:effectLst/>
                <a:latin typeface="Inter"/>
              </a:rPr>
              <a:t>) </a:t>
            </a:r>
            <a:endParaRPr lang="en-US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ym typeface="Wingdings" panose="05000000000000000000" pitchFamily="2" charset="2"/>
              </a:rPr>
              <a:t>But, BERT might assign high probability to </a:t>
            </a:r>
            <a:r>
              <a:rPr lang="en-IN" b="0" i="0" dirty="0">
                <a:solidFill>
                  <a:srgbClr val="222731"/>
                </a:solidFill>
                <a:effectLst/>
                <a:latin typeface="Inter"/>
              </a:rPr>
              <a:t>(</a:t>
            </a:r>
            <a:r>
              <a:rPr lang="en-IN" b="1" i="0" dirty="0">
                <a:solidFill>
                  <a:srgbClr val="FF0000"/>
                </a:solidFill>
                <a:effectLst/>
                <a:latin typeface="Inter"/>
              </a:rPr>
              <a:t>parade</a:t>
            </a:r>
            <a:r>
              <a:rPr lang="en-IN" b="0" i="0" dirty="0">
                <a:solidFill>
                  <a:srgbClr val="FF0000"/>
                </a:solidFill>
                <a:effectLst/>
                <a:latin typeface="Inter"/>
              </a:rPr>
              <a:t>, </a:t>
            </a:r>
            <a:r>
              <a:rPr lang="en-IN" b="1" i="0" dirty="0">
                <a:solidFill>
                  <a:srgbClr val="FF0000"/>
                </a:solidFill>
                <a:effectLst/>
                <a:latin typeface="Inter"/>
              </a:rPr>
              <a:t>beached</a:t>
            </a:r>
            <a:r>
              <a:rPr lang="en-IN" b="0" i="0" dirty="0">
                <a:solidFill>
                  <a:srgbClr val="222731"/>
                </a:solidFill>
                <a:effectLst/>
                <a:latin typeface="Inter"/>
              </a:rPr>
              <a:t>) also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88D150-1E32-496F-9FFC-DB47B738D9FF}"/>
              </a:ext>
            </a:extLst>
          </p:cNvPr>
          <p:cNvSpPr txBox="1"/>
          <p:nvPr/>
        </p:nvSpPr>
        <p:spPr>
          <a:xfrm>
            <a:off x="995569" y="4903473"/>
            <a:ext cx="57680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The [</a:t>
            </a:r>
            <a:r>
              <a:rPr lang="en-US" sz="2400" b="1" dirty="0">
                <a:solidFill>
                  <a:srgbClr val="2980B9"/>
                </a:solidFill>
                <a:latin typeface="Inter"/>
              </a:rPr>
              <a:t>MASK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] was beached on the riverside</a:t>
            </a:r>
            <a:r>
              <a:rPr lang="en-US" sz="2400" b="0" i="0" dirty="0">
                <a:solidFill>
                  <a:srgbClr val="222731"/>
                </a:solidFill>
                <a:effectLst/>
                <a:latin typeface="Inter"/>
              </a:rPr>
              <a:t> 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21657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6EE8-FFC0-4E22-8987-46EAD50FF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Improvise Bidirectionality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680FD-59F4-4489-8F7C-9F5D42BEB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C6DDF-EDEE-48BE-A8C6-28995BB5A706}"/>
              </a:ext>
            </a:extLst>
          </p:cNvPr>
          <p:cNvSpPr txBox="1"/>
          <p:nvPr/>
        </p:nvSpPr>
        <p:spPr>
          <a:xfrm>
            <a:off x="1033669" y="974037"/>
            <a:ext cx="104445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Improvisation: Predict each token in a sequence conditioned on different </a:t>
            </a:r>
          </a:p>
          <a:p>
            <a:r>
              <a:rPr lang="en-IN" sz="2400" dirty="0"/>
              <a:t>                           combinations of other tokens in the sequence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7CC6B3-1430-4E3D-B9BF-CEFBC0343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09" y="2496545"/>
            <a:ext cx="5799323" cy="24157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DAEF6F-F655-4A3B-9929-ACCA0C343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436" y="2399361"/>
            <a:ext cx="5814564" cy="24767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59D43F-C319-42D0-AF4A-E8DEBA3C9EB4}"/>
              </a:ext>
            </a:extLst>
          </p:cNvPr>
          <p:cNvSpPr txBox="1"/>
          <p:nvPr/>
        </p:nvSpPr>
        <p:spPr>
          <a:xfrm>
            <a:off x="1659835" y="1853298"/>
            <a:ext cx="83627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The</a:t>
            </a:r>
            <a:r>
              <a:rPr lang="en-US" sz="2400" b="1" i="0" dirty="0">
                <a:solidFill>
                  <a:srgbClr val="92D050"/>
                </a:solidFill>
                <a:effectLst/>
                <a:latin typeface="Inter"/>
              </a:rPr>
              <a:t>[1]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 </a:t>
            </a:r>
            <a:r>
              <a:rPr lang="en-US" sz="2400" b="1" dirty="0">
                <a:solidFill>
                  <a:srgbClr val="2980B9"/>
                </a:solidFill>
                <a:latin typeface="Inter"/>
              </a:rPr>
              <a:t>_______ </a:t>
            </a:r>
            <a:r>
              <a:rPr lang="en-US" sz="2400" b="1" dirty="0">
                <a:solidFill>
                  <a:srgbClr val="92D050"/>
                </a:solidFill>
                <a:latin typeface="Inter"/>
              </a:rPr>
              <a:t>[2]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 was</a:t>
            </a:r>
            <a:r>
              <a:rPr lang="en-US" sz="2400" b="1" dirty="0">
                <a:solidFill>
                  <a:srgbClr val="92D050"/>
                </a:solidFill>
                <a:latin typeface="Inter"/>
              </a:rPr>
              <a:t>[3]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 beached</a:t>
            </a:r>
            <a:r>
              <a:rPr lang="en-US" sz="2400" b="1" dirty="0">
                <a:solidFill>
                  <a:srgbClr val="92D050"/>
                </a:solidFill>
                <a:latin typeface="Inter"/>
              </a:rPr>
              <a:t>[4]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 on</a:t>
            </a:r>
            <a:r>
              <a:rPr lang="en-US" sz="2400" b="1" dirty="0">
                <a:solidFill>
                  <a:srgbClr val="92D050"/>
                </a:solidFill>
                <a:latin typeface="Inter"/>
              </a:rPr>
              <a:t>[5]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  the</a:t>
            </a:r>
            <a:r>
              <a:rPr lang="en-US" sz="2400" b="1" dirty="0">
                <a:solidFill>
                  <a:srgbClr val="92D050"/>
                </a:solidFill>
                <a:latin typeface="Inter"/>
              </a:rPr>
              <a:t>[6]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 riverside</a:t>
            </a:r>
            <a:r>
              <a:rPr lang="en-US" sz="2400" b="1" dirty="0">
                <a:solidFill>
                  <a:srgbClr val="92D050"/>
                </a:solidFill>
                <a:latin typeface="Inter"/>
              </a:rPr>
              <a:t>[7]</a:t>
            </a:r>
            <a:r>
              <a:rPr lang="en-US" sz="2400" b="1" dirty="0">
                <a:solidFill>
                  <a:srgbClr val="2980B9"/>
                </a:solidFill>
                <a:latin typeface="Inter"/>
              </a:rPr>
              <a:t> </a:t>
            </a:r>
            <a:r>
              <a:rPr lang="en-US" sz="2400" b="0" i="0" dirty="0">
                <a:solidFill>
                  <a:srgbClr val="222731"/>
                </a:solidFill>
                <a:effectLst/>
                <a:latin typeface="Inter"/>
              </a:rPr>
              <a:t> 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7D77F4-A09F-4D44-AE10-CE64BBA701A2}"/>
              </a:ext>
            </a:extLst>
          </p:cNvPr>
          <p:cNvSpPr txBox="1"/>
          <p:nvPr/>
        </p:nvSpPr>
        <p:spPr>
          <a:xfrm>
            <a:off x="1828800" y="4961989"/>
            <a:ext cx="2687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</a:t>
            </a:r>
            <a:r>
              <a:rPr lang="en-IN" dirty="0" err="1"/>
              <a:t>boat|was</a:t>
            </a:r>
            <a:r>
              <a:rPr lang="en-IN" dirty="0"/>
              <a:t> on riverside)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71EBFA-FB7E-4BE3-9C2D-525C4A2BA474}"/>
              </a:ext>
            </a:extLst>
          </p:cNvPr>
          <p:cNvSpPr txBox="1"/>
          <p:nvPr/>
        </p:nvSpPr>
        <p:spPr>
          <a:xfrm>
            <a:off x="7940760" y="4961989"/>
            <a:ext cx="2377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</a:t>
            </a:r>
            <a:r>
              <a:rPr lang="en-IN" dirty="0" err="1"/>
              <a:t>boat|was</a:t>
            </a:r>
            <a:r>
              <a:rPr lang="en-IN" dirty="0"/>
              <a:t> beached)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43F9D7-3048-476A-A73A-3BA154F15E4A}"/>
              </a:ext>
            </a:extLst>
          </p:cNvPr>
          <p:cNvSpPr txBox="1"/>
          <p:nvPr/>
        </p:nvSpPr>
        <p:spPr>
          <a:xfrm>
            <a:off x="1838743" y="5419139"/>
            <a:ext cx="1876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P([2]| [3], [5], [7])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4D6354-33EB-44C0-A328-D15D547CE386}"/>
              </a:ext>
            </a:extLst>
          </p:cNvPr>
          <p:cNvSpPr txBox="1"/>
          <p:nvPr/>
        </p:nvSpPr>
        <p:spPr>
          <a:xfrm>
            <a:off x="7954606" y="5422454"/>
            <a:ext cx="1493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P([2]| [3], [4])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341EA0-23A8-40F6-B955-7069EC167CE2}"/>
              </a:ext>
            </a:extLst>
          </p:cNvPr>
          <p:cNvSpPr txBox="1"/>
          <p:nvPr/>
        </p:nvSpPr>
        <p:spPr>
          <a:xfrm>
            <a:off x="2849032" y="6126335"/>
            <a:ext cx="7156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Factorization over permutation of sequence index</a:t>
            </a:r>
          </a:p>
        </p:txBody>
      </p:sp>
    </p:spTree>
    <p:extLst>
      <p:ext uri="{BB962C8B-B14F-4D97-AF65-F5344CB8AC3E}">
        <p14:creationId xmlns:p14="http://schemas.microsoft.com/office/powerpoint/2010/main" val="57516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4479-60DA-4335-8ADD-45B0B48C4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Permutation Language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8A922-C1F1-4749-8BF5-16437309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275B4-6076-4F1F-AD3E-9C56B33C0E3E}"/>
              </a:ext>
            </a:extLst>
          </p:cNvPr>
          <p:cNvSpPr txBox="1"/>
          <p:nvPr/>
        </p:nvSpPr>
        <p:spPr>
          <a:xfrm>
            <a:off x="1517616" y="1103243"/>
            <a:ext cx="80290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What if an autoregressive transformer is pretrained with </a:t>
            </a:r>
          </a:p>
          <a:p>
            <a:r>
              <a:rPr lang="en-IN" sz="2400" dirty="0">
                <a:solidFill>
                  <a:srgbClr val="C00000"/>
                </a:solidFill>
              </a:rPr>
              <a:t>all the permutations of input sequence?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CD0A75-6886-4293-9B00-3D4FADF6B7CF}"/>
                  </a:ext>
                </a:extLst>
              </p:cNvPr>
              <p:cNvSpPr txBox="1"/>
              <p:nvPr/>
            </p:nvSpPr>
            <p:spPr>
              <a:xfrm>
                <a:off x="1890593" y="2478980"/>
                <a:ext cx="9509591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n-IN" sz="2400" dirty="0"/>
                  <a:t>For a sequence of length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IN" sz="2400" dirty="0"/>
                  <a:t>there are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IN" sz="2400" dirty="0"/>
                  <a:t> different orders</a:t>
                </a:r>
              </a:p>
              <a:p>
                <a:r>
                  <a:rPr lang="en-IN" sz="2400" dirty="0"/>
                  <a:t> 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n-IN" sz="2400" dirty="0"/>
                  <a:t>Each order can be used to perform a valid AR factorization</a:t>
                </a:r>
              </a:p>
              <a:p>
                <a:endParaRPr lang="en-IN" sz="2400" dirty="0"/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n-IN" sz="2400" dirty="0"/>
                  <a:t>The model will learn to gather information from all the positions </a:t>
                </a:r>
              </a:p>
              <a:p>
                <a:r>
                  <a:rPr lang="en-IN" sz="2400" dirty="0"/>
                  <a:t>     on both sides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ECD0A75-6886-4293-9B00-3D4FADF6B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593" y="2478980"/>
                <a:ext cx="9509591" cy="2308324"/>
              </a:xfrm>
              <a:prstGeom prst="rect">
                <a:avLst/>
              </a:prstGeom>
              <a:blipFill>
                <a:blip r:embed="rId2"/>
                <a:stretch>
                  <a:fillRect l="-833" t="-1852" r="-64" b="-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66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06BEF-6D44-472F-9509-0604474ED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Permutation Language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34B32-34B6-42FA-923A-9082AA9F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6F951-FFFB-4092-A091-C6C090BBE0F3}"/>
              </a:ext>
            </a:extLst>
          </p:cNvPr>
          <p:cNvSpPr txBox="1"/>
          <p:nvPr/>
        </p:nvSpPr>
        <p:spPr>
          <a:xfrm>
            <a:off x="5123624" y="286743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98BC78-8042-41A6-B5CD-B312813D915D}"/>
                  </a:ext>
                </a:extLst>
              </p:cNvPr>
              <p:cNvSpPr txBox="1"/>
              <p:nvPr/>
            </p:nvSpPr>
            <p:spPr>
              <a:xfrm>
                <a:off x="705681" y="1152940"/>
                <a:ext cx="382906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AR factorization: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398BC78-8042-41A6-B5CD-B312813D9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81" y="1152940"/>
                <a:ext cx="3829062" cy="461665"/>
              </a:xfrm>
              <a:prstGeom prst="rect">
                <a:avLst/>
              </a:prstGeom>
              <a:blipFill>
                <a:blip r:embed="rId2"/>
                <a:stretch>
                  <a:fillRect l="-2548" t="-9211" r="-478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AABA33-AAB4-4C16-BF32-4E4D1DB128D1}"/>
                  </a:ext>
                </a:extLst>
              </p:cNvPr>
              <p:cNvSpPr txBox="1"/>
              <p:nvPr/>
            </p:nvSpPr>
            <p:spPr>
              <a:xfrm>
                <a:off x="5390324" y="1180801"/>
                <a:ext cx="50075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Reverse AR factorization: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AABA33-AAB4-4C16-BF32-4E4D1DB12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324" y="1180801"/>
                <a:ext cx="5007525" cy="461665"/>
              </a:xfrm>
              <a:prstGeom prst="rect">
                <a:avLst/>
              </a:prstGeom>
              <a:blipFill>
                <a:blip r:embed="rId3"/>
                <a:stretch>
                  <a:fillRect l="-1825" t="-9333" r="-122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9CCC3E-E744-4B70-82C3-49AE22EBD4D7}"/>
                  </a:ext>
                </a:extLst>
              </p:cNvPr>
              <p:cNvSpPr txBox="1"/>
              <p:nvPr/>
            </p:nvSpPr>
            <p:spPr>
              <a:xfrm>
                <a:off x="1605314" y="1602710"/>
                <a:ext cx="19355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1, 2, …, 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9CCC3E-E744-4B70-82C3-49AE22EBD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314" y="1602710"/>
                <a:ext cx="1935504" cy="369332"/>
              </a:xfrm>
              <a:prstGeom prst="rect">
                <a:avLst/>
              </a:prstGeom>
              <a:blipFill>
                <a:blip r:embed="rId4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E7D601-F18C-4A35-837B-A8D70EE81F28}"/>
                  </a:ext>
                </a:extLst>
              </p:cNvPr>
              <p:cNvSpPr txBox="1"/>
              <p:nvPr/>
            </p:nvSpPr>
            <p:spPr>
              <a:xfrm>
                <a:off x="6568253" y="1602710"/>
                <a:ext cx="19355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IN" sz="1800" b="0" i="1" smtClean="0">
                          <a:latin typeface="Cambria Math" panose="02040503050406030204" pitchFamily="18" charset="0"/>
                        </a:rPr>
                        <m:t>, …, 2, 1]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E7D601-F18C-4A35-837B-A8D70EE81F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253" y="1602710"/>
                <a:ext cx="1935504" cy="369332"/>
              </a:xfrm>
              <a:prstGeom prst="rect">
                <a:avLst/>
              </a:prstGeom>
              <a:blipFill>
                <a:blip r:embed="rId5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7C6C3A2-C875-4D7D-9A50-438B9AC760E2}"/>
              </a:ext>
            </a:extLst>
          </p:cNvPr>
          <p:cNvSpPr txBox="1"/>
          <p:nvPr/>
        </p:nvSpPr>
        <p:spPr>
          <a:xfrm>
            <a:off x="8826997" y="1608979"/>
            <a:ext cx="2067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Two permutations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60BB83-7228-4B2C-8E8B-4FFFC3A48D92}"/>
                  </a:ext>
                </a:extLst>
              </p:cNvPr>
              <p:cNvSpPr txBox="1"/>
              <p:nvPr/>
            </p:nvSpPr>
            <p:spPr>
              <a:xfrm>
                <a:off x="636107" y="2281368"/>
                <a:ext cx="518898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Two nearest tokens: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60BB83-7228-4B2C-8E8B-4FFFC3A48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07" y="2281368"/>
                <a:ext cx="5188985" cy="461665"/>
              </a:xfrm>
              <a:prstGeom prst="rect">
                <a:avLst/>
              </a:prstGeom>
              <a:blipFill>
                <a:blip r:embed="rId6"/>
                <a:stretch>
                  <a:fillRect l="-1761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118E6E-6252-4553-8A54-1E4BA7C88E14}"/>
                  </a:ext>
                </a:extLst>
              </p:cNvPr>
              <p:cNvSpPr txBox="1"/>
              <p:nvPr/>
            </p:nvSpPr>
            <p:spPr>
              <a:xfrm>
                <a:off x="5829381" y="2281367"/>
                <a:ext cx="435837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/>
                  <a:t>Arbitrary: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2118E6E-6252-4553-8A54-1E4BA7C88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381" y="2281367"/>
                <a:ext cx="4358373" cy="461665"/>
              </a:xfrm>
              <a:prstGeom prst="rect">
                <a:avLst/>
              </a:prstGeom>
              <a:blipFill>
                <a:blip r:embed="rId7"/>
                <a:stretch>
                  <a:fillRect l="-2098" t="-9211" r="-280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20226FB5-3D96-4F2D-ABDF-5F73F2DA236C}"/>
              </a:ext>
            </a:extLst>
          </p:cNvPr>
          <p:cNvSpPr txBox="1"/>
          <p:nvPr/>
        </p:nvSpPr>
        <p:spPr>
          <a:xfrm>
            <a:off x="3389250" y="2867438"/>
            <a:ext cx="51889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Love</a:t>
            </a:r>
            <a:r>
              <a:rPr lang="en-US" sz="2400" b="1" i="0" dirty="0">
                <a:solidFill>
                  <a:srgbClr val="92D050"/>
                </a:solidFill>
                <a:effectLst/>
                <a:latin typeface="Inter"/>
              </a:rPr>
              <a:t>[1]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 conquers</a:t>
            </a:r>
            <a:r>
              <a:rPr lang="en-US" sz="2400" b="1" i="0" dirty="0">
                <a:solidFill>
                  <a:srgbClr val="92D050"/>
                </a:solidFill>
                <a:effectLst/>
                <a:latin typeface="Inter"/>
              </a:rPr>
              <a:t>[2]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 all</a:t>
            </a:r>
            <a:r>
              <a:rPr lang="en-US" sz="2400" b="1" i="0" dirty="0">
                <a:solidFill>
                  <a:srgbClr val="92D050"/>
                </a:solidFill>
                <a:effectLst/>
                <a:latin typeface="Inter"/>
              </a:rPr>
              <a:t>[3]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 things</a:t>
            </a:r>
            <a:r>
              <a:rPr lang="en-US" sz="2400" b="1" i="0" dirty="0">
                <a:solidFill>
                  <a:srgbClr val="92D050"/>
                </a:solidFill>
                <a:effectLst/>
                <a:latin typeface="Inter"/>
              </a:rPr>
              <a:t>[4]</a:t>
            </a:r>
            <a:endParaRPr lang="en-IN" sz="2400" dirty="0">
              <a:solidFill>
                <a:srgbClr val="92D05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AA94E2-E00C-449E-85FF-EB3BACBE392F}"/>
              </a:ext>
            </a:extLst>
          </p:cNvPr>
          <p:cNvSpPr txBox="1"/>
          <p:nvPr/>
        </p:nvSpPr>
        <p:spPr>
          <a:xfrm>
            <a:off x="1635133" y="377687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[1,2,3,4]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A5C07D-5236-4E14-8371-6142590F8DBD}"/>
              </a:ext>
            </a:extLst>
          </p:cNvPr>
          <p:cNvSpPr txBox="1"/>
          <p:nvPr/>
        </p:nvSpPr>
        <p:spPr>
          <a:xfrm>
            <a:off x="5127076" y="3780185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[3,4,2,1]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7A188C-B63D-4850-9CB2-154048BA2325}"/>
              </a:ext>
            </a:extLst>
          </p:cNvPr>
          <p:cNvSpPr txBox="1"/>
          <p:nvPr/>
        </p:nvSpPr>
        <p:spPr>
          <a:xfrm>
            <a:off x="8340729" y="3783500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[4,2,1,3]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0B70E9-4C84-42EA-9706-EE06BC39EDF1}"/>
              </a:ext>
            </a:extLst>
          </p:cNvPr>
          <p:cNvCxnSpPr/>
          <p:nvPr/>
        </p:nvCxnSpPr>
        <p:spPr>
          <a:xfrm>
            <a:off x="3975650" y="3783500"/>
            <a:ext cx="0" cy="24980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02FD2C-3B6E-49B1-ADA5-64821DF7A682}"/>
              </a:ext>
            </a:extLst>
          </p:cNvPr>
          <p:cNvCxnSpPr/>
          <p:nvPr/>
        </p:nvCxnSpPr>
        <p:spPr>
          <a:xfrm>
            <a:off x="7527233" y="3770250"/>
            <a:ext cx="0" cy="24980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76AB06A-5579-4B15-8FB2-F5601327E0F6}"/>
              </a:ext>
            </a:extLst>
          </p:cNvPr>
          <p:cNvSpPr txBox="1"/>
          <p:nvPr/>
        </p:nvSpPr>
        <p:spPr>
          <a:xfrm>
            <a:off x="586410" y="4412974"/>
            <a:ext cx="1997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P(conquers| love)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5B7D2B-186D-4A00-A5DF-6FCC1EEEA3B7}"/>
              </a:ext>
            </a:extLst>
          </p:cNvPr>
          <p:cNvSpPr txBox="1"/>
          <p:nvPr/>
        </p:nvSpPr>
        <p:spPr>
          <a:xfrm>
            <a:off x="596349" y="5032510"/>
            <a:ext cx="2346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P(all| love, conquers)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8C8A00-6E32-45E7-9061-8B30230B7499}"/>
              </a:ext>
            </a:extLst>
          </p:cNvPr>
          <p:cNvSpPr txBox="1"/>
          <p:nvPr/>
        </p:nvSpPr>
        <p:spPr>
          <a:xfrm>
            <a:off x="586985" y="5631477"/>
            <a:ext cx="3106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P(things| love, conquers, all)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52AA12-E04D-4D26-BCB2-F41508832E5B}"/>
              </a:ext>
            </a:extLst>
          </p:cNvPr>
          <p:cNvSpPr txBox="1"/>
          <p:nvPr/>
        </p:nvSpPr>
        <p:spPr>
          <a:xfrm>
            <a:off x="4443414" y="4412974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P(things| all)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564226C-132D-459C-99F5-42FA872478CC}"/>
              </a:ext>
            </a:extLst>
          </p:cNvPr>
          <p:cNvSpPr txBox="1"/>
          <p:nvPr/>
        </p:nvSpPr>
        <p:spPr>
          <a:xfrm>
            <a:off x="4453353" y="4714461"/>
            <a:ext cx="2553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P(conquers| all, things)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D8F1E5-EF69-4065-8EDB-942E6E2B9EFF}"/>
              </a:ext>
            </a:extLst>
          </p:cNvPr>
          <p:cNvSpPr txBox="1"/>
          <p:nvPr/>
        </p:nvSpPr>
        <p:spPr>
          <a:xfrm>
            <a:off x="4436790" y="5035824"/>
            <a:ext cx="3106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P(love| all, things, conquers)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15962F-B5AA-42A4-B8A9-B2622AEEAAF2}"/>
              </a:ext>
            </a:extLst>
          </p:cNvPr>
          <p:cNvSpPr txBox="1"/>
          <p:nvPr/>
        </p:nvSpPr>
        <p:spPr>
          <a:xfrm>
            <a:off x="8111990" y="4412974"/>
            <a:ext cx="2204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P(conquers| things)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C3C9FD3-6C10-47B7-8F3F-A619AB70D784}"/>
              </a:ext>
            </a:extLst>
          </p:cNvPr>
          <p:cNvSpPr txBox="1"/>
          <p:nvPr/>
        </p:nvSpPr>
        <p:spPr>
          <a:xfrm>
            <a:off x="8121929" y="4714461"/>
            <a:ext cx="27570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P(love| things, conquers)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841E8C-A9C3-43F4-A9A3-7CB0CA6E31F8}"/>
              </a:ext>
            </a:extLst>
          </p:cNvPr>
          <p:cNvSpPr txBox="1"/>
          <p:nvPr/>
        </p:nvSpPr>
        <p:spPr>
          <a:xfrm>
            <a:off x="8105366" y="5035824"/>
            <a:ext cx="3106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P(all| things, conquers, love)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1BD3E6-D913-4CD2-A9AB-997686F059CE}"/>
              </a:ext>
            </a:extLst>
          </p:cNvPr>
          <p:cNvSpPr txBox="1"/>
          <p:nvPr/>
        </p:nvSpPr>
        <p:spPr>
          <a:xfrm>
            <a:off x="910468" y="4722742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P([2]| [1])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A29BEC-0214-499E-8E49-288E068C1C02}"/>
              </a:ext>
            </a:extLst>
          </p:cNvPr>
          <p:cNvSpPr txBox="1"/>
          <p:nvPr/>
        </p:nvSpPr>
        <p:spPr>
          <a:xfrm>
            <a:off x="899072" y="5342278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P([3]| [1][2])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AAEF9E-CEBB-413E-A547-3DDFFD2CE442}"/>
              </a:ext>
            </a:extLst>
          </p:cNvPr>
          <p:cNvSpPr txBox="1"/>
          <p:nvPr/>
        </p:nvSpPr>
        <p:spPr>
          <a:xfrm>
            <a:off x="899072" y="5901656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P([4]| [1][2][3])</a:t>
            </a:r>
          </a:p>
        </p:txBody>
      </p:sp>
    </p:spTree>
    <p:extLst>
      <p:ext uri="{BB962C8B-B14F-4D97-AF65-F5344CB8AC3E}">
        <p14:creationId xmlns:p14="http://schemas.microsoft.com/office/powerpoint/2010/main" val="883882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23053-135E-4A5C-9E5E-3D455834E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Permutation Language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25D8DB-1B85-4CED-895C-2B07F1DF8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CCA7A5-5EED-49FF-BCB2-65C0E41E2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0946" y="1301806"/>
            <a:ext cx="6630108" cy="16501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351AEE-0E8C-447A-844D-D5B31F5F7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262" y="3047967"/>
            <a:ext cx="441998" cy="3810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ECA290-79B0-4938-A085-37E352634CA3}"/>
                  </a:ext>
                </a:extLst>
              </p:cNvPr>
              <p:cNvSpPr txBox="1"/>
              <p:nvPr/>
            </p:nvSpPr>
            <p:spPr>
              <a:xfrm>
                <a:off x="2164055" y="3018483"/>
                <a:ext cx="9279079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à"/>
                </a:pPr>
                <a:r>
                  <a:rPr lang="en-US" sz="2400" dirty="0"/>
                  <a:t>set of all possible permutations of the length-T index sequence</a:t>
                </a:r>
              </a:p>
              <a:p>
                <a:r>
                  <a:rPr lang="en-US" sz="2400" dirty="0"/>
                  <a:t>    (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,…,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)</a:t>
                </a:r>
                <a:endParaRPr lang="en-IN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ECA290-79B0-4938-A085-37E352634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055" y="3018483"/>
                <a:ext cx="9279079" cy="830997"/>
              </a:xfrm>
              <a:prstGeom prst="rect">
                <a:avLst/>
              </a:prstGeom>
              <a:blipFill>
                <a:blip r:embed="rId4"/>
                <a:stretch>
                  <a:fillRect l="-920" t="-5147" r="-526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B2761925-6806-42CD-BA2A-953E8D62FF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4499" y="3849480"/>
            <a:ext cx="342930" cy="3505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43A4E9-7DA1-44B0-8033-6E91DA2B9442}"/>
                  </a:ext>
                </a:extLst>
              </p:cNvPr>
              <p:cNvSpPr txBox="1"/>
              <p:nvPr/>
            </p:nvSpPr>
            <p:spPr>
              <a:xfrm>
                <a:off x="2121105" y="3848887"/>
                <a:ext cx="4741811" cy="4682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à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2400" dirty="0"/>
                  <a:t> element of a permutation </a:t>
                </a:r>
                <a:endParaRPr lang="en-I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743A4E9-7DA1-44B0-8033-6E91DA2B94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1105" y="3848887"/>
                <a:ext cx="4741811" cy="468205"/>
              </a:xfrm>
              <a:prstGeom prst="rect">
                <a:avLst/>
              </a:prstGeom>
              <a:blipFill>
                <a:blip r:embed="rId6"/>
                <a:stretch>
                  <a:fillRect l="-1799" t="-7792" b="-298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4B2016F6-BE11-48B4-8D55-AF99F03217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9891" y="3912849"/>
            <a:ext cx="955663" cy="3269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E3E0477-EE2F-4509-8729-C0C30CD9FE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70588" y="4418882"/>
            <a:ext cx="548688" cy="3200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D42411-6E4D-4269-BD96-CF5BD1656C90}"/>
                  </a:ext>
                </a:extLst>
              </p:cNvPr>
              <p:cNvSpPr txBox="1"/>
              <p:nvPr/>
            </p:nvSpPr>
            <p:spPr>
              <a:xfrm>
                <a:off x="2409337" y="4380461"/>
                <a:ext cx="3671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à"/>
                </a:pPr>
                <a:r>
                  <a:rPr lang="en-IN" sz="2400" b="0" dirty="0"/>
                  <a:t>First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elements of </a:t>
                </a:r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D42411-6E4D-4269-BD96-CF5BD1656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9337" y="4380461"/>
                <a:ext cx="3671454" cy="461665"/>
              </a:xfrm>
              <a:prstGeom prst="rect">
                <a:avLst/>
              </a:prstGeom>
              <a:blipFill>
                <a:blip r:embed="rId9"/>
                <a:stretch>
                  <a:fillRect l="-2156" t="-9333" r="-1493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F9D932AE-6B65-450E-8259-F638CD4607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7814" y="4437885"/>
            <a:ext cx="955663" cy="32693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CD0138-5EB8-4E1A-AC29-B86AEC394D9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9086" y="4884210"/>
            <a:ext cx="243861" cy="39627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1704E85-F8EA-4E79-A5CE-CC99047EE799}"/>
              </a:ext>
            </a:extLst>
          </p:cNvPr>
          <p:cNvSpPr txBox="1"/>
          <p:nvPr/>
        </p:nvSpPr>
        <p:spPr>
          <a:xfrm>
            <a:off x="2031654" y="4870326"/>
            <a:ext cx="7748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à"/>
            </a:pPr>
            <a:r>
              <a:rPr lang="en-IN" sz="2400" b="0" dirty="0"/>
              <a:t>Parameters shared across all the factorization order</a:t>
            </a:r>
            <a:r>
              <a:rPr lang="en-US" sz="2400" dirty="0"/>
              <a:t>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155824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CA5EC-6A93-4CB8-8215-B632F47EC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The Architectural Innovations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BD43E-04FB-4F0E-AC6E-1B2D67901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Permutation</a:t>
            </a:r>
            <a:r>
              <a:rPr lang="en-IN" dirty="0"/>
              <a:t>: only on factorization order, not on sequence</a:t>
            </a:r>
          </a:p>
          <a:p>
            <a:r>
              <a:rPr lang="en-IN" b="1" dirty="0"/>
              <a:t>Attention Mask</a:t>
            </a:r>
            <a:r>
              <a:rPr lang="en-IN" dirty="0"/>
              <a:t>: To ensure AR factorization on permutation order</a:t>
            </a:r>
          </a:p>
          <a:p>
            <a:r>
              <a:rPr lang="en-IN" b="1" dirty="0"/>
              <a:t>Two Steam Self-Attention</a:t>
            </a:r>
            <a:r>
              <a:rPr lang="en-IN" dirty="0"/>
              <a:t>: To allow prediction to be aware of the target position maintaining causality</a:t>
            </a:r>
          </a:p>
          <a:p>
            <a:r>
              <a:rPr lang="en-IN" b="1" dirty="0"/>
              <a:t>Partial Prediction</a:t>
            </a:r>
            <a:r>
              <a:rPr lang="en-IN" dirty="0"/>
              <a:t>: Only predict a subset of token in each permutation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CA6E8-F33D-4674-B443-FC676314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1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931E-A04A-4C51-BBF7-7D487B8DC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Permutation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5D132-9CA6-4B17-AB2C-FA30F51F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DB2BF-4D62-4385-B8E7-DDCBA839557C}"/>
              </a:ext>
            </a:extLst>
          </p:cNvPr>
          <p:cNvSpPr txBox="1"/>
          <p:nvPr/>
        </p:nvSpPr>
        <p:spPr>
          <a:xfrm>
            <a:off x="2736611" y="1242391"/>
            <a:ext cx="5897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Standard factorization order: 1</a:t>
            </a:r>
            <a:r>
              <a:rPr lang="en-IN" sz="2400" dirty="0">
                <a:sym typeface="Wingdings" panose="05000000000000000000" pitchFamily="2" charset="2"/>
              </a:rPr>
              <a:t>234</a:t>
            </a:r>
            <a:endParaRPr lang="en-IN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E329F-78F9-4EA8-AA1B-26903201E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41" y="1945429"/>
            <a:ext cx="5354174" cy="35210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6C825C-970F-4087-9763-19C5898283D8}"/>
                  </a:ext>
                </a:extLst>
              </p:cNvPr>
              <p:cNvSpPr txBox="1"/>
              <p:nvPr/>
            </p:nvSpPr>
            <p:spPr>
              <a:xfrm>
                <a:off x="2612661" y="5800229"/>
                <a:ext cx="656115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6C825C-970F-4087-9763-19C589828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661" y="5800229"/>
                <a:ext cx="6561155" cy="369332"/>
              </a:xfrm>
              <a:prstGeom prst="rect">
                <a:avLst/>
              </a:prstGeom>
              <a:blipFill>
                <a:blip r:embed="rId3"/>
                <a:stretch>
                  <a:fillRect l="-651" r="-1208" b="-36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70031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2931E-A04A-4C51-BBF7-7D487B8DC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Permutation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5D132-9CA6-4B17-AB2C-FA30F51F1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DB2BF-4D62-4385-B8E7-DDCBA839557C}"/>
              </a:ext>
            </a:extLst>
          </p:cNvPr>
          <p:cNvSpPr txBox="1"/>
          <p:nvPr/>
        </p:nvSpPr>
        <p:spPr>
          <a:xfrm>
            <a:off x="2736611" y="1242391"/>
            <a:ext cx="5987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Permuted factorization order: 4</a:t>
            </a:r>
            <a:r>
              <a:rPr lang="en-IN" sz="2400" dirty="0">
                <a:sym typeface="Wingdings" panose="05000000000000000000" pitchFamily="2" charset="2"/>
              </a:rPr>
              <a:t>132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6C825C-970F-4087-9763-19C5898283D8}"/>
                  </a:ext>
                </a:extLst>
              </p:cNvPr>
              <p:cNvSpPr txBox="1"/>
              <p:nvPr/>
            </p:nvSpPr>
            <p:spPr>
              <a:xfrm>
                <a:off x="2612661" y="5800229"/>
                <a:ext cx="664823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6C825C-970F-4087-9763-19C589828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2661" y="5800229"/>
                <a:ext cx="6648230" cy="369332"/>
              </a:xfrm>
              <a:prstGeom prst="rect">
                <a:avLst/>
              </a:prstGeom>
              <a:blipFill>
                <a:blip r:embed="rId2"/>
                <a:stretch>
                  <a:fillRect r="-550" b="-3606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5BD3807-881C-4F36-AECA-9BD95F92A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9884" y="1704056"/>
            <a:ext cx="5771285" cy="383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7475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8FE2-E631-424A-82E8-3122107EF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Permutation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FE533-07B1-420D-B372-7E1009EF2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0AD984-BC1F-44A6-8856-DB580DDDC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598" y="908685"/>
            <a:ext cx="4389500" cy="403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AF3694-5DED-448C-95FC-2045B6B69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1427" y="1513633"/>
            <a:ext cx="5794642" cy="423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3325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98FE2-E631-424A-82E8-3122107EF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Permutation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FE533-07B1-420D-B372-7E1009EF2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3C445F-7612-4ED4-8C7A-94DA6A42C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156" y="957064"/>
            <a:ext cx="4366638" cy="457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C3922B-A3B0-4030-9DD1-443109AE5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1424" y="1636309"/>
            <a:ext cx="5771086" cy="408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6506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BEE6-83F9-4D53-BD0F-D0240F5D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Permutation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B0F77-2D37-4667-8F67-CB0CD33F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0402F6-2F7C-43DD-AB17-A4F33E194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216" y="1064959"/>
            <a:ext cx="4465707" cy="4343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444E35-F6BA-494A-BDC5-27B73F408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843" y="1549032"/>
            <a:ext cx="5977679" cy="431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0533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BEE6-83F9-4D53-BD0F-D0240F5D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Permutation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B0F77-2D37-4667-8F67-CB0CD33F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85008-7B93-4BF5-B2C2-1595611F3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373" y="1084010"/>
            <a:ext cx="4381880" cy="396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099555-EDAC-4BA7-B713-1025D8775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687" y="1671519"/>
            <a:ext cx="5714625" cy="410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2540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4B06-FF4F-45FC-969E-9BFA25D4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Attention Mask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78CD7-A17B-4491-98E2-C25436CC7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20530A-67E3-4E57-B696-9E5990DC2B15}"/>
              </a:ext>
            </a:extLst>
          </p:cNvPr>
          <p:cNvSpPr txBox="1"/>
          <p:nvPr/>
        </p:nvSpPr>
        <p:spPr>
          <a:xfrm>
            <a:off x="2878206" y="1122329"/>
            <a:ext cx="6683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How does the model know about word order?</a:t>
            </a:r>
            <a:endParaRPr lang="en-IN" sz="240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C0C2EA-D42E-4193-8361-021697D66E00}"/>
              </a:ext>
            </a:extLst>
          </p:cNvPr>
          <p:cNvSpPr txBox="1"/>
          <p:nvPr/>
        </p:nvSpPr>
        <p:spPr>
          <a:xfrm>
            <a:off x="4252193" y="1566805"/>
            <a:ext cx="3510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Love conquers all things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7AE995-3395-4D6E-AF91-D958FF1C83D1}"/>
                  </a:ext>
                </a:extLst>
              </p:cNvPr>
              <p:cNvSpPr txBox="1"/>
              <p:nvPr/>
            </p:nvSpPr>
            <p:spPr>
              <a:xfrm>
                <a:off x="2404441" y="2126540"/>
                <a:ext cx="25931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IN" sz="240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IN" sz="2400">
                          <a:latin typeface="Cambria Math" panose="02040503050406030204" pitchFamily="18" charset="0"/>
                        </a:rPr>
                        <m:t>conquers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67AE995-3395-4D6E-AF91-D958FF1C8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4441" y="2126540"/>
                <a:ext cx="2593187" cy="461665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CD2CD5-1E93-40F3-AF65-A603D1012CF3}"/>
                  </a:ext>
                </a:extLst>
              </p:cNvPr>
              <p:cNvSpPr txBox="1"/>
              <p:nvPr/>
            </p:nvSpPr>
            <p:spPr>
              <a:xfrm>
                <a:off x="6465866" y="2126540"/>
                <a:ext cx="25931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latin typeface="Cambria Math" panose="02040503050406030204" pitchFamily="18" charset="0"/>
                        </a:rPr>
                        <m:t>all</m:t>
                      </m:r>
                      <m:r>
                        <a:rPr lang="en-IN" sz="2400" b="0" i="0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sty m:val="p"/>
                        </m:rPr>
                        <a:rPr lang="en-IN" sz="2400" b="0" i="0" smtClean="0">
                          <a:latin typeface="Cambria Math" panose="02040503050406030204" pitchFamily="18" charset="0"/>
                        </a:rPr>
                        <m:t>love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DCD2CD5-1E93-40F3-AF65-A603D1012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866" y="2126540"/>
                <a:ext cx="2593187" cy="461665"/>
              </a:xfrm>
              <a:prstGeom prst="rect">
                <a:avLst/>
              </a:prstGeom>
              <a:blipFill>
                <a:blip r:embed="rId3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369673F-28BC-4B05-AE6A-5B9A2D6E5DBF}"/>
              </a:ext>
            </a:extLst>
          </p:cNvPr>
          <p:cNvSpPr txBox="1"/>
          <p:nvPr/>
        </p:nvSpPr>
        <p:spPr>
          <a:xfrm>
            <a:off x="1460225" y="2784660"/>
            <a:ext cx="96815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Permutation factorization order makes </a:t>
            </a:r>
            <a:r>
              <a:rPr lang="en-US" sz="2400" dirty="0">
                <a:solidFill>
                  <a:srgbClr val="FF0000"/>
                </a:solidFill>
              </a:rPr>
              <a:t>all tokens equally likely to be next to each other</a:t>
            </a:r>
            <a:endParaRPr lang="en-IN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C5F2BC-BEDC-4008-ADD2-42DD393767F3}"/>
                  </a:ext>
                </a:extLst>
              </p:cNvPr>
              <p:cNvSpPr txBox="1"/>
              <p:nvPr/>
            </p:nvSpPr>
            <p:spPr>
              <a:xfrm>
                <a:off x="1460225" y="3701503"/>
                <a:ext cx="96815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We want the model to predict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 b="0" i="0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all</m:t>
                    </m:r>
                    <m:r>
                      <a:rPr lang="en-IN" sz="2400" b="0" i="0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conquers</m:t>
                    </m:r>
                    <m:r>
                      <a:rPr lang="en-IN" sz="240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400" b="0" i="1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lang="en-IN" sz="2400" dirty="0">
                    <a:solidFill>
                      <a:srgbClr val="0099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all</m:t>
                    </m:r>
                    <m:r>
                      <a:rPr lang="en-IN" sz="240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love</m:t>
                    </m:r>
                    <m:r>
                      <a:rPr lang="en-IN" sz="2400" b="0" i="0" smtClean="0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, 1</m:t>
                    </m:r>
                    <m:r>
                      <a:rPr lang="en-IN" sz="2400" i="1">
                        <a:solidFill>
                          <a:srgbClr val="0099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solidFill>
                      <a:srgbClr val="009900"/>
                    </a:solidFill>
                  </a:rPr>
                  <a:t> </a:t>
                </a:r>
                <a:r>
                  <a:rPr lang="en-US" sz="2400" dirty="0">
                    <a:solidFill>
                      <a:srgbClr val="009900"/>
                    </a:solidFill>
                  </a:rPr>
                  <a:t>  </a:t>
                </a:r>
                <a:endParaRPr lang="en-IN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3C5F2BC-BEDC-4008-ADD2-42DD39376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225" y="3701503"/>
                <a:ext cx="9681541" cy="461665"/>
              </a:xfrm>
              <a:prstGeom prst="rect">
                <a:avLst/>
              </a:prstGeom>
              <a:blipFill>
                <a:blip r:embed="rId4"/>
                <a:stretch>
                  <a:fillRect l="-1008" t="-9211" b="-30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FAB9AD6-33B4-49BE-8CEB-6E3AC824A5CB}"/>
              </a:ext>
            </a:extLst>
          </p:cNvPr>
          <p:cNvSpPr txBox="1"/>
          <p:nvPr/>
        </p:nvSpPr>
        <p:spPr>
          <a:xfrm>
            <a:off x="1460225" y="4482040"/>
            <a:ext cx="96815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 token order is kept the same only index is permuted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AB95F8-E041-4270-809D-11D1C9BE976C}"/>
              </a:ext>
            </a:extLst>
          </p:cNvPr>
          <p:cNvSpPr txBox="1"/>
          <p:nvPr/>
        </p:nvSpPr>
        <p:spPr>
          <a:xfrm>
            <a:off x="1460225" y="5274006"/>
            <a:ext cx="96815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Valid context tokens for a given factorization is dictated by an </a:t>
            </a:r>
            <a:r>
              <a:rPr lang="en-IN" sz="2400" b="1" dirty="0">
                <a:solidFill>
                  <a:srgbClr val="C00000"/>
                </a:solidFill>
              </a:rPr>
              <a:t>attention mask</a:t>
            </a:r>
            <a:r>
              <a:rPr lang="en-IN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72342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5" grpId="0"/>
      <p:bldP spid="1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FE76-FF1A-4616-8BE7-53A122EE9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Attention Mask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071B7-2DC4-4D9A-BC38-A6EAECE5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BA836D-16A8-4F8C-A63E-653374F7922E}"/>
              </a:ext>
            </a:extLst>
          </p:cNvPr>
          <p:cNvSpPr txBox="1"/>
          <p:nvPr/>
        </p:nvSpPr>
        <p:spPr>
          <a:xfrm>
            <a:off x="3697357" y="1040032"/>
            <a:ext cx="50291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Love</a:t>
            </a:r>
            <a:r>
              <a:rPr lang="en-US" sz="2400" b="1" i="0" dirty="0">
                <a:solidFill>
                  <a:srgbClr val="92D050"/>
                </a:solidFill>
                <a:effectLst/>
                <a:latin typeface="Inter"/>
              </a:rPr>
              <a:t>[1]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 conquers</a:t>
            </a:r>
            <a:r>
              <a:rPr lang="en-US" sz="2400" b="1" i="0" dirty="0">
                <a:solidFill>
                  <a:srgbClr val="92D050"/>
                </a:solidFill>
                <a:effectLst/>
                <a:latin typeface="Inter"/>
              </a:rPr>
              <a:t>[2]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 all</a:t>
            </a:r>
            <a:r>
              <a:rPr lang="en-US" sz="2400" b="1" i="0" dirty="0">
                <a:solidFill>
                  <a:srgbClr val="92D050"/>
                </a:solidFill>
                <a:effectLst/>
                <a:latin typeface="Inter"/>
              </a:rPr>
              <a:t>[3]</a:t>
            </a:r>
            <a:r>
              <a:rPr lang="en-US" sz="2400" b="1" i="0" dirty="0">
                <a:solidFill>
                  <a:srgbClr val="2980B9"/>
                </a:solidFill>
                <a:effectLst/>
                <a:latin typeface="Inter"/>
              </a:rPr>
              <a:t> things</a:t>
            </a:r>
            <a:r>
              <a:rPr lang="en-US" sz="2400" b="1" i="0" dirty="0">
                <a:solidFill>
                  <a:srgbClr val="92D050"/>
                </a:solidFill>
                <a:effectLst/>
                <a:latin typeface="Inter"/>
              </a:rPr>
              <a:t>[4]</a:t>
            </a:r>
            <a:endParaRPr lang="en-IN" sz="2400" dirty="0">
              <a:solidFill>
                <a:srgbClr val="92D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F672BE-76DE-4135-ACD3-A45A806223D3}"/>
              </a:ext>
            </a:extLst>
          </p:cNvPr>
          <p:cNvSpPr txBox="1"/>
          <p:nvPr/>
        </p:nvSpPr>
        <p:spPr>
          <a:xfrm>
            <a:off x="1063487" y="1699591"/>
            <a:ext cx="60649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Consider a permutation order 3</a:t>
            </a:r>
            <a:r>
              <a:rPr lang="en-IN" sz="2400" dirty="0">
                <a:sym typeface="Wingdings" panose="05000000000000000000" pitchFamily="2" charset="2"/>
              </a:rPr>
              <a:t>124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0A2E9-D92B-41EA-AAFF-56A31F6428F4}"/>
              </a:ext>
            </a:extLst>
          </p:cNvPr>
          <p:cNvSpPr txBox="1"/>
          <p:nvPr/>
        </p:nvSpPr>
        <p:spPr>
          <a:xfrm>
            <a:off x="1282149" y="2359150"/>
            <a:ext cx="74444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à"/>
            </a:pPr>
            <a:r>
              <a:rPr lang="en-IN" sz="2000" dirty="0"/>
              <a:t>First element in the order (3</a:t>
            </a:r>
            <a:r>
              <a:rPr lang="en-IN" sz="2000" baseline="30000" dirty="0"/>
              <a:t>rd</a:t>
            </a:r>
            <a:r>
              <a:rPr lang="en-IN" sz="2000" dirty="0"/>
              <a:t> token) does not have </a:t>
            </a:r>
          </a:p>
          <a:p>
            <a:r>
              <a:rPr lang="en-IN" sz="2000" dirty="0"/>
              <a:t>     any context 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IN" sz="2000" dirty="0"/>
              <a:t>The second element (1</a:t>
            </a:r>
            <a:r>
              <a:rPr lang="en-IN" sz="2000" baseline="30000" dirty="0"/>
              <a:t>st</a:t>
            </a:r>
            <a:r>
              <a:rPr lang="en-IN" sz="2000" dirty="0"/>
              <a:t> token) has 3</a:t>
            </a:r>
            <a:r>
              <a:rPr lang="en-IN" sz="2000" baseline="30000" dirty="0"/>
              <a:t>rd</a:t>
            </a:r>
            <a:r>
              <a:rPr lang="en-IN" sz="2000" dirty="0"/>
              <a:t> token as context</a:t>
            </a:r>
          </a:p>
          <a:p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IN" sz="2000" dirty="0"/>
              <a:t>The third element (2</a:t>
            </a:r>
            <a:r>
              <a:rPr lang="en-IN" sz="2000" baseline="30000" dirty="0"/>
              <a:t>nd</a:t>
            </a:r>
            <a:r>
              <a:rPr lang="en-IN" sz="2000" dirty="0"/>
              <a:t> token) has 3</a:t>
            </a:r>
            <a:r>
              <a:rPr lang="en-IN" sz="2000" baseline="30000" dirty="0"/>
              <a:t>rd</a:t>
            </a:r>
            <a:r>
              <a:rPr lang="en-IN" sz="2000" dirty="0"/>
              <a:t> and 1</a:t>
            </a:r>
            <a:r>
              <a:rPr lang="en-IN" sz="2000" baseline="30000" dirty="0"/>
              <a:t>st</a:t>
            </a:r>
            <a:r>
              <a:rPr lang="en-IN" sz="2000" dirty="0"/>
              <a:t> tokens</a:t>
            </a:r>
          </a:p>
          <a:p>
            <a:r>
              <a:rPr lang="en-IN" sz="2000" dirty="0"/>
              <a:t> </a:t>
            </a:r>
          </a:p>
          <a:p>
            <a:pPr marL="342900" indent="-342900">
              <a:buFont typeface="Wingdings" panose="05000000000000000000" pitchFamily="2" charset="2"/>
              <a:buChar char="à"/>
            </a:pPr>
            <a:r>
              <a:rPr lang="en-IN" sz="2000" dirty="0"/>
              <a:t>The fourth element (4</a:t>
            </a:r>
            <a:r>
              <a:rPr lang="en-IN" sz="2000" baseline="30000" dirty="0"/>
              <a:t>th</a:t>
            </a:r>
            <a:r>
              <a:rPr lang="en-IN" sz="2000" dirty="0"/>
              <a:t> token) as 3</a:t>
            </a:r>
            <a:r>
              <a:rPr lang="en-IN" sz="2000" baseline="30000" dirty="0"/>
              <a:t>rd</a:t>
            </a:r>
            <a:r>
              <a:rPr lang="en-IN" sz="2000" dirty="0"/>
              <a:t>, 1</a:t>
            </a:r>
            <a:r>
              <a:rPr lang="en-IN" sz="2000" baseline="30000" dirty="0"/>
              <a:t>st</a:t>
            </a:r>
            <a:r>
              <a:rPr lang="en-IN" sz="2000" dirty="0"/>
              <a:t> and 2</a:t>
            </a:r>
            <a:r>
              <a:rPr lang="en-IN" sz="2000" baseline="30000" dirty="0"/>
              <a:t>nd</a:t>
            </a:r>
            <a:r>
              <a:rPr lang="en-IN" sz="2000" dirty="0"/>
              <a:t> tokens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49D638F7-8731-4A4B-B297-B5BCC1AB7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643446"/>
              </p:ext>
            </p:extLst>
          </p:nvPr>
        </p:nvGraphicFramePr>
        <p:xfrm>
          <a:off x="9153254" y="3515278"/>
          <a:ext cx="211772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430">
                  <a:extLst>
                    <a:ext uri="{9D8B030D-6E8A-4147-A177-3AD203B41FA5}">
                      <a16:colId xmlns:a16="http://schemas.microsoft.com/office/drawing/2014/main" val="2010772719"/>
                    </a:ext>
                  </a:extLst>
                </a:gridCol>
                <a:gridCol w="529430">
                  <a:extLst>
                    <a:ext uri="{9D8B030D-6E8A-4147-A177-3AD203B41FA5}">
                      <a16:colId xmlns:a16="http://schemas.microsoft.com/office/drawing/2014/main" val="2859203047"/>
                    </a:ext>
                  </a:extLst>
                </a:gridCol>
                <a:gridCol w="529430">
                  <a:extLst>
                    <a:ext uri="{9D8B030D-6E8A-4147-A177-3AD203B41FA5}">
                      <a16:colId xmlns:a16="http://schemas.microsoft.com/office/drawing/2014/main" val="2100767920"/>
                    </a:ext>
                  </a:extLst>
                </a:gridCol>
                <a:gridCol w="529430">
                  <a:extLst>
                    <a:ext uri="{9D8B030D-6E8A-4147-A177-3AD203B41FA5}">
                      <a16:colId xmlns:a16="http://schemas.microsoft.com/office/drawing/2014/main" val="3649380699"/>
                    </a:ext>
                  </a:extLst>
                </a:gridCol>
              </a:tblGrid>
              <a:tr h="32036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89380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9D0A9FE-8E69-4925-B878-4975CF073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044555"/>
              </p:ext>
            </p:extLst>
          </p:nvPr>
        </p:nvGraphicFramePr>
        <p:xfrm>
          <a:off x="9146630" y="2534619"/>
          <a:ext cx="211772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430">
                  <a:extLst>
                    <a:ext uri="{9D8B030D-6E8A-4147-A177-3AD203B41FA5}">
                      <a16:colId xmlns:a16="http://schemas.microsoft.com/office/drawing/2014/main" val="2010772719"/>
                    </a:ext>
                  </a:extLst>
                </a:gridCol>
                <a:gridCol w="529430">
                  <a:extLst>
                    <a:ext uri="{9D8B030D-6E8A-4147-A177-3AD203B41FA5}">
                      <a16:colId xmlns:a16="http://schemas.microsoft.com/office/drawing/2014/main" val="2859203047"/>
                    </a:ext>
                  </a:extLst>
                </a:gridCol>
                <a:gridCol w="529430">
                  <a:extLst>
                    <a:ext uri="{9D8B030D-6E8A-4147-A177-3AD203B41FA5}">
                      <a16:colId xmlns:a16="http://schemas.microsoft.com/office/drawing/2014/main" val="2100767920"/>
                    </a:ext>
                  </a:extLst>
                </a:gridCol>
                <a:gridCol w="529430">
                  <a:extLst>
                    <a:ext uri="{9D8B030D-6E8A-4147-A177-3AD203B41FA5}">
                      <a16:colId xmlns:a16="http://schemas.microsoft.com/office/drawing/2014/main" val="3649380699"/>
                    </a:ext>
                  </a:extLst>
                </a:gridCol>
              </a:tblGrid>
              <a:tr h="32036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893807"/>
                  </a:ext>
                </a:extLst>
              </a:tr>
            </a:tbl>
          </a:graphicData>
        </a:graphic>
      </p:graphicFrame>
      <p:graphicFrame>
        <p:nvGraphicFramePr>
          <p:cNvPr id="12" name="Table 10">
            <a:extLst>
              <a:ext uri="{FF2B5EF4-FFF2-40B4-BE49-F238E27FC236}">
                <a16:creationId xmlns:a16="http://schemas.microsoft.com/office/drawing/2014/main" id="{2D4A0D1C-A7C2-4110-863D-0E414A4C8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898811"/>
              </p:ext>
            </p:extLst>
          </p:nvPr>
        </p:nvGraphicFramePr>
        <p:xfrm>
          <a:off x="9156569" y="3031576"/>
          <a:ext cx="211772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430">
                  <a:extLst>
                    <a:ext uri="{9D8B030D-6E8A-4147-A177-3AD203B41FA5}">
                      <a16:colId xmlns:a16="http://schemas.microsoft.com/office/drawing/2014/main" val="2010772719"/>
                    </a:ext>
                  </a:extLst>
                </a:gridCol>
                <a:gridCol w="529430">
                  <a:extLst>
                    <a:ext uri="{9D8B030D-6E8A-4147-A177-3AD203B41FA5}">
                      <a16:colId xmlns:a16="http://schemas.microsoft.com/office/drawing/2014/main" val="2859203047"/>
                    </a:ext>
                  </a:extLst>
                </a:gridCol>
                <a:gridCol w="529430">
                  <a:extLst>
                    <a:ext uri="{9D8B030D-6E8A-4147-A177-3AD203B41FA5}">
                      <a16:colId xmlns:a16="http://schemas.microsoft.com/office/drawing/2014/main" val="2100767920"/>
                    </a:ext>
                  </a:extLst>
                </a:gridCol>
                <a:gridCol w="529430">
                  <a:extLst>
                    <a:ext uri="{9D8B030D-6E8A-4147-A177-3AD203B41FA5}">
                      <a16:colId xmlns:a16="http://schemas.microsoft.com/office/drawing/2014/main" val="3649380699"/>
                    </a:ext>
                  </a:extLst>
                </a:gridCol>
              </a:tblGrid>
              <a:tr h="32036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893807"/>
                  </a:ext>
                </a:extLst>
              </a:tr>
            </a:tbl>
          </a:graphicData>
        </a:graphic>
      </p:graphicFrame>
      <p:graphicFrame>
        <p:nvGraphicFramePr>
          <p:cNvPr id="13" name="Table 10">
            <a:extLst>
              <a:ext uri="{FF2B5EF4-FFF2-40B4-BE49-F238E27FC236}">
                <a16:creationId xmlns:a16="http://schemas.microsoft.com/office/drawing/2014/main" id="{C326504F-DBBC-4B47-9BAC-ABF749692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949818"/>
              </p:ext>
            </p:extLst>
          </p:nvPr>
        </p:nvGraphicFramePr>
        <p:xfrm>
          <a:off x="9156569" y="4005604"/>
          <a:ext cx="211772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430">
                  <a:extLst>
                    <a:ext uri="{9D8B030D-6E8A-4147-A177-3AD203B41FA5}">
                      <a16:colId xmlns:a16="http://schemas.microsoft.com/office/drawing/2014/main" val="2010772719"/>
                    </a:ext>
                  </a:extLst>
                </a:gridCol>
                <a:gridCol w="529430">
                  <a:extLst>
                    <a:ext uri="{9D8B030D-6E8A-4147-A177-3AD203B41FA5}">
                      <a16:colId xmlns:a16="http://schemas.microsoft.com/office/drawing/2014/main" val="2859203047"/>
                    </a:ext>
                  </a:extLst>
                </a:gridCol>
                <a:gridCol w="529430">
                  <a:extLst>
                    <a:ext uri="{9D8B030D-6E8A-4147-A177-3AD203B41FA5}">
                      <a16:colId xmlns:a16="http://schemas.microsoft.com/office/drawing/2014/main" val="2100767920"/>
                    </a:ext>
                  </a:extLst>
                </a:gridCol>
                <a:gridCol w="529430">
                  <a:extLst>
                    <a:ext uri="{9D8B030D-6E8A-4147-A177-3AD203B41FA5}">
                      <a16:colId xmlns:a16="http://schemas.microsoft.com/office/drawing/2014/main" val="3649380699"/>
                    </a:ext>
                  </a:extLst>
                </a:gridCol>
              </a:tblGrid>
              <a:tr h="320366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4893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056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A873C-A1F5-47E5-A41A-98AF26CF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Standard LM Parameterization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DF022-35EB-4F04-ABDD-611269123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58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1718C6-E9E7-4A72-BB45-E8425663AB1D}"/>
              </a:ext>
            </a:extLst>
          </p:cNvPr>
          <p:cNvSpPr txBox="1"/>
          <p:nvPr/>
        </p:nvSpPr>
        <p:spPr>
          <a:xfrm>
            <a:off x="1938130" y="1003060"/>
            <a:ext cx="79413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2980B9"/>
                </a:solidFill>
                <a:latin typeface="Inter"/>
              </a:rPr>
              <a:t>two</a:t>
            </a:r>
            <a:r>
              <a:rPr lang="en-US" sz="2400" b="1" dirty="0">
                <a:solidFill>
                  <a:srgbClr val="8DD783"/>
                </a:solidFill>
                <a:latin typeface="Inter"/>
              </a:rPr>
              <a:t>[1]</a:t>
            </a:r>
            <a:r>
              <a:rPr lang="en-US" sz="2400" b="1" dirty="0">
                <a:solidFill>
                  <a:srgbClr val="2980B9"/>
                </a:solidFill>
                <a:latin typeface="Inter"/>
              </a:rPr>
              <a:t> positions</a:t>
            </a:r>
            <a:r>
              <a:rPr lang="en-US" sz="2400" b="1" dirty="0">
                <a:solidFill>
                  <a:srgbClr val="8DD783"/>
                </a:solidFill>
                <a:latin typeface="Inter"/>
              </a:rPr>
              <a:t>[2]</a:t>
            </a:r>
            <a:r>
              <a:rPr lang="en-US" sz="2400" b="1" dirty="0">
                <a:solidFill>
                  <a:srgbClr val="2980B9"/>
                </a:solidFill>
                <a:latin typeface="Inter"/>
              </a:rPr>
              <a:t> should</a:t>
            </a:r>
            <a:r>
              <a:rPr lang="en-US" sz="2400" b="1" dirty="0">
                <a:solidFill>
                  <a:srgbClr val="8DD783"/>
                </a:solidFill>
                <a:latin typeface="Inter"/>
              </a:rPr>
              <a:t>[3]</a:t>
            </a:r>
            <a:r>
              <a:rPr lang="en-US" sz="2400" b="1" dirty="0">
                <a:solidFill>
                  <a:srgbClr val="2980B9"/>
                </a:solidFill>
                <a:latin typeface="Inter"/>
              </a:rPr>
              <a:t> certainly</a:t>
            </a:r>
            <a:r>
              <a:rPr lang="en-US" sz="2400" b="1" dirty="0">
                <a:solidFill>
                  <a:srgbClr val="8DD783"/>
                </a:solidFill>
                <a:latin typeface="Inter"/>
              </a:rPr>
              <a:t>[4]</a:t>
            </a:r>
            <a:r>
              <a:rPr lang="en-US" sz="2400" b="1" dirty="0">
                <a:solidFill>
                  <a:srgbClr val="2980B9"/>
                </a:solidFill>
                <a:latin typeface="Inter"/>
              </a:rPr>
              <a:t> be</a:t>
            </a:r>
            <a:r>
              <a:rPr lang="en-US" sz="2400" b="1" dirty="0">
                <a:solidFill>
                  <a:srgbClr val="8DD783"/>
                </a:solidFill>
                <a:latin typeface="Inter"/>
              </a:rPr>
              <a:t>[5]</a:t>
            </a:r>
            <a:r>
              <a:rPr lang="en-US" sz="2400" b="1" dirty="0">
                <a:solidFill>
                  <a:srgbClr val="2980B9"/>
                </a:solidFill>
                <a:latin typeface="Inter"/>
              </a:rPr>
              <a:t> different</a:t>
            </a:r>
            <a:r>
              <a:rPr lang="en-US" sz="2400" b="1" dirty="0">
                <a:solidFill>
                  <a:srgbClr val="8DD783"/>
                </a:solidFill>
                <a:latin typeface="Inter"/>
              </a:rPr>
              <a:t>[6]</a:t>
            </a:r>
            <a:endParaRPr lang="en-IN" sz="2400" b="1" dirty="0">
              <a:solidFill>
                <a:srgbClr val="8DD783"/>
              </a:solidFill>
              <a:latin typeface="Inter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EEBAC3-5558-48B6-9399-C5A3D6164F04}"/>
                  </a:ext>
                </a:extLst>
              </p:cNvPr>
              <p:cNvSpPr txBox="1"/>
              <p:nvPr/>
            </p:nvSpPr>
            <p:spPr>
              <a:xfrm>
                <a:off x="1833768" y="1754256"/>
                <a:ext cx="2511265" cy="385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=[4,3,5,6,2,1]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EEBAC3-5558-48B6-9399-C5A3D6164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768" y="1754256"/>
                <a:ext cx="2511265" cy="385170"/>
              </a:xfrm>
              <a:prstGeom prst="rect">
                <a:avLst/>
              </a:prstGeom>
              <a:blipFill>
                <a:blip r:embed="rId2"/>
                <a:stretch>
                  <a:fillRect l="-1214" t="-4762" r="-3883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255DF2-EF1A-410D-9EDB-2F44F757F71B}"/>
                  </a:ext>
                </a:extLst>
              </p:cNvPr>
              <p:cNvSpPr txBox="1"/>
              <p:nvPr/>
            </p:nvSpPr>
            <p:spPr>
              <a:xfrm>
                <a:off x="5077240" y="1764195"/>
                <a:ext cx="2511265" cy="3851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=[4,3,5,2,1,6]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255DF2-EF1A-410D-9EDB-2F44F757F7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240" y="1764195"/>
                <a:ext cx="2511265" cy="385170"/>
              </a:xfrm>
              <a:prstGeom prst="rect">
                <a:avLst/>
              </a:prstGeom>
              <a:blipFill>
                <a:blip r:embed="rId3"/>
                <a:stretch>
                  <a:fillRect l="-1214" t="-4688" r="-3883" b="-328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E63702-2FF5-4AAB-9E8B-6908C1CFF0B2}"/>
                  </a:ext>
                </a:extLst>
              </p:cNvPr>
              <p:cNvSpPr txBox="1"/>
              <p:nvPr/>
            </p:nvSpPr>
            <p:spPr>
              <a:xfrm>
                <a:off x="8174986" y="1686546"/>
                <a:ext cx="3567963" cy="4692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IN" sz="24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4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&lt;4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=[4,3,5]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2E63702-2FF5-4AAB-9E8B-6908C1CFF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4986" y="1686546"/>
                <a:ext cx="3567963" cy="4692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51F9D8F2-1FBA-4EA5-9D45-8CF51DBEC94D}"/>
              </a:ext>
            </a:extLst>
          </p:cNvPr>
          <p:cNvSpPr txBox="1"/>
          <p:nvPr/>
        </p:nvSpPr>
        <p:spPr>
          <a:xfrm>
            <a:off x="1066000" y="2310296"/>
            <a:ext cx="1744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In general,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62AE76-29D6-41D4-BFED-4AFD917BA37D}"/>
                  </a:ext>
                </a:extLst>
              </p:cNvPr>
              <p:cNvSpPr txBox="1"/>
              <p:nvPr/>
            </p:nvSpPr>
            <p:spPr>
              <a:xfrm>
                <a:off x="2075675" y="2909356"/>
                <a:ext cx="2293768" cy="4628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400" b="1" i="1" smtClean="0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Sup>
                            <m:sSubSupPr>
                              <m:ctrlPr>
                                <a:rPr lang="en-IN" sz="2400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400" b="1" i="1"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IN" sz="2400" b="1" i="1" smtClean="0"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62AE76-29D6-41D4-BFED-4AFD917BA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675" y="2909356"/>
                <a:ext cx="2293768" cy="4628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C15F4C7A-6D4D-41E6-A4F9-C6EF9E3B42D5}"/>
              </a:ext>
            </a:extLst>
          </p:cNvPr>
          <p:cNvGrpSpPr/>
          <p:nvPr/>
        </p:nvGrpSpPr>
        <p:grpSpPr>
          <a:xfrm>
            <a:off x="1816402" y="3441105"/>
            <a:ext cx="3953264" cy="573559"/>
            <a:chOff x="1816402" y="3441105"/>
            <a:chExt cx="3953264" cy="57355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BC86340-5805-4920-95D9-3E2515EA7EFA}"/>
                </a:ext>
              </a:extLst>
            </p:cNvPr>
            <p:cNvSpPr txBox="1"/>
            <p:nvPr/>
          </p:nvSpPr>
          <p:spPr>
            <a:xfrm>
              <a:off x="4235704" y="3549326"/>
              <a:ext cx="78565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400" dirty="0"/>
                <a:t>and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680E39E-364E-46D1-8095-C236429F3DAA}"/>
                    </a:ext>
                  </a:extLst>
                </p:cNvPr>
                <p:cNvSpPr txBox="1"/>
                <p:nvPr/>
              </p:nvSpPr>
              <p:spPr>
                <a:xfrm>
                  <a:off x="1816402" y="3441105"/>
                  <a:ext cx="2636327" cy="55367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IN" sz="2400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b="1" i="1" smtClean="0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b="1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Sup>
                          <m:sSubSupPr>
                            <m:ctrlPr>
                              <a:rPr lang="en-IN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b="1" i="1">
                                <a:latin typeface="Cambria Math" panose="02040503050406030204" pitchFamily="18" charset="0"/>
                              </a:rPr>
                              <m:t>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n-IN" sz="24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680E39E-364E-46D1-8095-C236429F3D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6402" y="3441105"/>
                  <a:ext cx="2636327" cy="55367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2722D72-4183-4B21-9117-A3F4E16A9F32}"/>
                    </a:ext>
                  </a:extLst>
                </p:cNvPr>
                <p:cNvSpPr txBox="1"/>
                <p:nvPr/>
              </p:nvSpPr>
              <p:spPr>
                <a:xfrm>
                  <a:off x="4798168" y="3552999"/>
                  <a:ext cx="971498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oMath>
                    </m:oMathPara>
                  </a14:m>
                  <a:endParaRPr lang="en-IN" sz="2400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82722D72-4183-4B21-9117-A3F4E16A9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8168" y="3552999"/>
                  <a:ext cx="971498" cy="461665"/>
                </a:xfrm>
                <a:prstGeom prst="rect">
                  <a:avLst/>
                </a:prstGeom>
                <a:blipFill>
                  <a:blip r:embed="rId7"/>
                  <a:stretch>
                    <a:fillRect b="-1710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BB95C9A5-EA7E-4375-8496-8180C27FAD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0816" y="3988499"/>
            <a:ext cx="9428575" cy="12677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59A7A0-1B74-46AF-8625-4A4E94DD104F}"/>
                  </a:ext>
                </a:extLst>
              </p:cNvPr>
              <p:cNvSpPr txBox="1"/>
              <p:nvPr/>
            </p:nvSpPr>
            <p:spPr>
              <a:xfrm>
                <a:off x="2643214" y="5664011"/>
                <a:ext cx="798112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</a:rPr>
                  <a:t>Two different target positions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share exactly the same model prediction</a:t>
                </a:r>
                <a:endParaRPr lang="en-IN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59A7A0-1B74-46AF-8625-4A4E94DD1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214" y="5664011"/>
                <a:ext cx="7981121" cy="830997"/>
              </a:xfrm>
              <a:prstGeom prst="rect">
                <a:avLst/>
              </a:prstGeom>
              <a:blipFill>
                <a:blip r:embed="rId9"/>
                <a:stretch>
                  <a:fillRect l="-1222" t="-5147" b="-169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145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2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7C02-9BA0-4A06-96BC-3B65EDF4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Reparameterization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6EEDF-CF2C-4204-98D5-9BC5279A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76715E-76E1-4F65-B569-FEDF7B132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637" y="1944221"/>
            <a:ext cx="9734711" cy="1305876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1E7F715-1830-4787-9632-9D6A7E37A893}"/>
              </a:ext>
            </a:extLst>
          </p:cNvPr>
          <p:cNvSpPr/>
          <p:nvPr/>
        </p:nvSpPr>
        <p:spPr>
          <a:xfrm>
            <a:off x="7921487" y="2027584"/>
            <a:ext cx="2196548" cy="497738"/>
          </a:xfrm>
          <a:prstGeom prst="roundRect">
            <a:avLst/>
          </a:prstGeom>
          <a:solidFill>
            <a:schemeClr val="accent1">
              <a:alpha val="3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DF897A-59D5-4499-B2F6-1B8D7FEC9A34}"/>
              </a:ext>
            </a:extLst>
          </p:cNvPr>
          <p:cNvSpPr txBox="1"/>
          <p:nvPr/>
        </p:nvSpPr>
        <p:spPr>
          <a:xfrm>
            <a:off x="8346385" y="1658252"/>
            <a:ext cx="2238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Reparameterization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19694F-6BB3-482B-9378-3B7C0EC5B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513" y="3409213"/>
            <a:ext cx="1867062" cy="5029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7FCB6A-A810-43A6-9D42-E93E0F7EFC28}"/>
              </a:ext>
            </a:extLst>
          </p:cNvPr>
          <p:cNvSpPr txBox="1"/>
          <p:nvPr/>
        </p:nvSpPr>
        <p:spPr>
          <a:xfrm>
            <a:off x="3329609" y="3450512"/>
            <a:ext cx="67783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à"/>
            </a:pPr>
            <a:r>
              <a:rPr lang="en-US" sz="2400" dirty="0"/>
              <a:t>of </a:t>
            </a:r>
            <a:r>
              <a:rPr lang="en-US" sz="2400" dirty="0">
                <a:solidFill>
                  <a:srgbClr val="C00000"/>
                </a:solidFill>
              </a:rPr>
              <a:t>target-aware representations </a:t>
            </a:r>
            <a:r>
              <a:rPr lang="en-US" sz="2400" dirty="0"/>
              <a:t>removes the </a:t>
            </a:r>
          </a:p>
          <a:p>
            <a:r>
              <a:rPr lang="en-US" sz="2400" dirty="0"/>
              <a:t>    ambiguity in target prediction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951F0A6-9EB9-4968-A827-0EC18419C534}"/>
                  </a:ext>
                </a:extLst>
              </p:cNvPr>
              <p:cNvSpPr/>
              <p:nvPr/>
            </p:nvSpPr>
            <p:spPr>
              <a:xfrm>
                <a:off x="3876261" y="5068072"/>
                <a:ext cx="3001617" cy="50296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sSub>
                            <m:sSubPr>
                              <m:ctrlP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951F0A6-9EB9-4968-A827-0EC18419C5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6261" y="5068072"/>
                <a:ext cx="3001617" cy="502964"/>
              </a:xfrm>
              <a:prstGeom prst="rect">
                <a:avLst/>
              </a:prstGeom>
              <a:blipFill>
                <a:blip r:embed="rId4"/>
                <a:stretch>
                  <a:fillRect b="-23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318782-A4E2-4F5E-9B5C-F35C0877F4EE}"/>
                  </a:ext>
                </a:extLst>
              </p:cNvPr>
              <p:cNvSpPr/>
              <p:nvPr/>
            </p:nvSpPr>
            <p:spPr>
              <a:xfrm>
                <a:off x="7295322" y="5068072"/>
                <a:ext cx="480391" cy="50296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318782-A4E2-4F5E-9B5C-F35C0877F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322" y="5068072"/>
                <a:ext cx="480391" cy="5029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Up 15">
            <a:extLst>
              <a:ext uri="{FF2B5EF4-FFF2-40B4-BE49-F238E27FC236}">
                <a16:creationId xmlns:a16="http://schemas.microsoft.com/office/drawing/2014/main" id="{8B0F2D96-B97A-427D-A887-7D7F4DBCA342}"/>
              </a:ext>
            </a:extLst>
          </p:cNvPr>
          <p:cNvSpPr/>
          <p:nvPr/>
        </p:nvSpPr>
        <p:spPr>
          <a:xfrm>
            <a:off x="7434470" y="5610793"/>
            <a:ext cx="238539" cy="34787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41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D7C02-9BA0-4A06-96BC-3B65EDF47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Reparameterization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6EEDF-CF2C-4204-98D5-9BC5279A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951F0A6-9EB9-4968-A827-0EC18419C534}"/>
                  </a:ext>
                </a:extLst>
              </p:cNvPr>
              <p:cNvSpPr/>
              <p:nvPr/>
            </p:nvSpPr>
            <p:spPr>
              <a:xfrm>
                <a:off x="3796748" y="1629131"/>
                <a:ext cx="3001617" cy="50296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sSub>
                            <m:sSubPr>
                              <m:ctrlP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951F0A6-9EB9-4968-A827-0EC18419C5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6748" y="1629131"/>
                <a:ext cx="3001617" cy="502964"/>
              </a:xfrm>
              <a:prstGeom prst="rect">
                <a:avLst/>
              </a:prstGeom>
              <a:blipFill>
                <a:blip r:embed="rId2"/>
                <a:stretch>
                  <a:fillRect b="-23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318782-A4E2-4F5E-9B5C-F35C0877F4EE}"/>
                  </a:ext>
                </a:extLst>
              </p:cNvPr>
              <p:cNvSpPr/>
              <p:nvPr/>
            </p:nvSpPr>
            <p:spPr>
              <a:xfrm>
                <a:off x="7215809" y="1629131"/>
                <a:ext cx="480391" cy="50296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9318782-A4E2-4F5E-9B5C-F35C0877F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5809" y="1629131"/>
                <a:ext cx="480391" cy="5029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Arrow: Up 15">
            <a:extLst>
              <a:ext uri="{FF2B5EF4-FFF2-40B4-BE49-F238E27FC236}">
                <a16:creationId xmlns:a16="http://schemas.microsoft.com/office/drawing/2014/main" id="{8B0F2D96-B97A-427D-A887-7D7F4DBCA342}"/>
              </a:ext>
            </a:extLst>
          </p:cNvPr>
          <p:cNvSpPr/>
          <p:nvPr/>
        </p:nvSpPr>
        <p:spPr>
          <a:xfrm>
            <a:off x="7354957" y="2171852"/>
            <a:ext cx="238539" cy="347870"/>
          </a:xfrm>
          <a:prstGeom prst="upArrow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87799FB-F96C-41BB-9D94-834481C39FF2}"/>
              </a:ext>
            </a:extLst>
          </p:cNvPr>
          <p:cNvSpPr/>
          <p:nvPr/>
        </p:nvSpPr>
        <p:spPr>
          <a:xfrm>
            <a:off x="3995530" y="1103171"/>
            <a:ext cx="3538331" cy="536784"/>
          </a:xfrm>
          <a:custGeom>
            <a:avLst/>
            <a:gdLst>
              <a:gd name="connsiteX0" fmla="*/ 3538331 w 3538331"/>
              <a:gd name="connsiteY0" fmla="*/ 506967 h 536784"/>
              <a:gd name="connsiteX1" fmla="*/ 1729409 w 3538331"/>
              <a:gd name="connsiteY1" fmla="*/ 71 h 536784"/>
              <a:gd name="connsiteX2" fmla="*/ 0 w 3538331"/>
              <a:gd name="connsiteY2" fmla="*/ 536784 h 53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38331" h="536784">
                <a:moveTo>
                  <a:pt x="3538331" y="506967"/>
                </a:moveTo>
                <a:cubicBezTo>
                  <a:pt x="2928731" y="251034"/>
                  <a:pt x="2319131" y="-4898"/>
                  <a:pt x="1729409" y="71"/>
                </a:cubicBezTo>
                <a:cubicBezTo>
                  <a:pt x="1139687" y="5040"/>
                  <a:pt x="569843" y="270912"/>
                  <a:pt x="0" y="536784"/>
                </a:cubicBezTo>
              </a:path>
            </a:pathLst>
          </a:custGeom>
          <a:noFill/>
          <a:ln w="127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04D7C6D-2D93-4E2E-B42B-761612127672}"/>
              </a:ext>
            </a:extLst>
          </p:cNvPr>
          <p:cNvSpPr/>
          <p:nvPr/>
        </p:nvSpPr>
        <p:spPr>
          <a:xfrm>
            <a:off x="4532243" y="1255571"/>
            <a:ext cx="3001617" cy="384384"/>
          </a:xfrm>
          <a:custGeom>
            <a:avLst/>
            <a:gdLst>
              <a:gd name="connsiteX0" fmla="*/ 3538331 w 3538331"/>
              <a:gd name="connsiteY0" fmla="*/ 506967 h 536784"/>
              <a:gd name="connsiteX1" fmla="*/ 1729409 w 3538331"/>
              <a:gd name="connsiteY1" fmla="*/ 71 h 536784"/>
              <a:gd name="connsiteX2" fmla="*/ 0 w 3538331"/>
              <a:gd name="connsiteY2" fmla="*/ 536784 h 53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38331" h="536784">
                <a:moveTo>
                  <a:pt x="3538331" y="506967"/>
                </a:moveTo>
                <a:cubicBezTo>
                  <a:pt x="2928731" y="251034"/>
                  <a:pt x="2319131" y="-4898"/>
                  <a:pt x="1729409" y="71"/>
                </a:cubicBezTo>
                <a:cubicBezTo>
                  <a:pt x="1139687" y="5040"/>
                  <a:pt x="569843" y="270912"/>
                  <a:pt x="0" y="536784"/>
                </a:cubicBezTo>
              </a:path>
            </a:pathLst>
          </a:custGeom>
          <a:noFill/>
          <a:ln w="127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BE8D578-2DA2-413C-838B-599539BFD0C2}"/>
              </a:ext>
            </a:extLst>
          </p:cNvPr>
          <p:cNvSpPr/>
          <p:nvPr/>
        </p:nvSpPr>
        <p:spPr>
          <a:xfrm>
            <a:off x="5227983" y="1407971"/>
            <a:ext cx="2305877" cy="231984"/>
          </a:xfrm>
          <a:custGeom>
            <a:avLst/>
            <a:gdLst>
              <a:gd name="connsiteX0" fmla="*/ 3538331 w 3538331"/>
              <a:gd name="connsiteY0" fmla="*/ 506967 h 536784"/>
              <a:gd name="connsiteX1" fmla="*/ 1729409 w 3538331"/>
              <a:gd name="connsiteY1" fmla="*/ 71 h 536784"/>
              <a:gd name="connsiteX2" fmla="*/ 0 w 3538331"/>
              <a:gd name="connsiteY2" fmla="*/ 536784 h 53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38331" h="536784">
                <a:moveTo>
                  <a:pt x="3538331" y="506967"/>
                </a:moveTo>
                <a:cubicBezTo>
                  <a:pt x="2928731" y="251034"/>
                  <a:pt x="2319131" y="-4898"/>
                  <a:pt x="1729409" y="71"/>
                </a:cubicBezTo>
                <a:cubicBezTo>
                  <a:pt x="1139687" y="5040"/>
                  <a:pt x="569843" y="270912"/>
                  <a:pt x="0" y="536784"/>
                </a:cubicBezTo>
              </a:path>
            </a:pathLst>
          </a:custGeom>
          <a:noFill/>
          <a:ln w="127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F8C60-3D18-41B8-A422-159578ED9521}"/>
              </a:ext>
            </a:extLst>
          </p:cNvPr>
          <p:cNvSpPr txBox="1"/>
          <p:nvPr/>
        </p:nvSpPr>
        <p:spPr>
          <a:xfrm>
            <a:off x="6793072" y="964553"/>
            <a:ext cx="1123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attention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DB2504-EB25-45A6-94FB-F68EFD9133B0}"/>
              </a:ext>
            </a:extLst>
          </p:cNvPr>
          <p:cNvSpPr txBox="1"/>
          <p:nvPr/>
        </p:nvSpPr>
        <p:spPr>
          <a:xfrm>
            <a:off x="765313" y="2519722"/>
            <a:ext cx="2793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Two requirements: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BDAABA-EEC3-470D-A828-A7BB4D2C2876}"/>
                  </a:ext>
                </a:extLst>
              </p:cNvPr>
              <p:cNvSpPr txBox="1"/>
              <p:nvPr/>
            </p:nvSpPr>
            <p:spPr>
              <a:xfrm>
                <a:off x="1411981" y="3052209"/>
                <a:ext cx="9847504" cy="24541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n-IN" sz="2400" dirty="0"/>
                  <a:t>To predict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solidFill>
                      <a:schemeClr val="tx1"/>
                    </a:solidFill>
                  </a:rPr>
                  <a:t> should only use </a:t>
                </a:r>
                <a:r>
                  <a:rPr lang="en-IN" sz="2400" dirty="0">
                    <a:solidFill>
                      <a:srgbClr val="C00000"/>
                    </a:solidFill>
                  </a:rPr>
                  <a:t>position</a:t>
                </a:r>
                <a:r>
                  <a:rPr lang="en-IN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schemeClr val="tx1"/>
                    </a:solidFill>
                  </a:rPr>
                  <a:t> but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endParaRPr lang="en-IN" sz="2400" dirty="0">
                  <a:solidFill>
                    <a:schemeClr val="tx1"/>
                  </a:solidFill>
                </a:endParaRPr>
              </a:p>
              <a:p>
                <a:endParaRPr lang="en-IN" sz="2400" dirty="0">
                  <a:solidFill>
                    <a:schemeClr val="tx1"/>
                  </a:solidFill>
                </a:endParaRPr>
              </a:p>
              <a:p>
                <a:endParaRPr lang="en-IN" sz="2400" dirty="0">
                  <a:solidFill>
                    <a:schemeClr val="tx1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n-IN" sz="2400" dirty="0"/>
                  <a:t>To predict tokens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sz="24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  <m:r>
                      <a:rPr lang="en-IN" sz="24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>
                    <a:solidFill>
                      <a:schemeClr val="tx1"/>
                    </a:solidFill>
                  </a:rPr>
                  <a:t> should also encode the </a:t>
                </a:r>
              </a:p>
              <a:p>
                <a:r>
                  <a:rPr lang="en-IN" sz="2400" dirty="0"/>
                  <a:t>     </a:t>
                </a:r>
                <a:r>
                  <a:rPr lang="en-IN" sz="2400" dirty="0">
                    <a:solidFill>
                      <a:srgbClr val="C00000"/>
                    </a:solidFill>
                  </a:rPr>
                  <a:t>content</a:t>
                </a:r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sz="24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</a:pPr>
                <a:endParaRPr lang="en-IN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BDAABA-EEC3-470D-A828-A7BB4D2C2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1981" y="3052209"/>
                <a:ext cx="9847504" cy="2454133"/>
              </a:xfrm>
              <a:prstGeom prst="rect">
                <a:avLst/>
              </a:prstGeom>
              <a:blipFill>
                <a:blip r:embed="rId4"/>
                <a:stretch>
                  <a:fillRect l="-867" t="-1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77D6A0-B8D7-437B-A014-41980BFA5563}"/>
                  </a:ext>
                </a:extLst>
              </p:cNvPr>
              <p:cNvSpPr txBox="1"/>
              <p:nvPr/>
            </p:nvSpPr>
            <p:spPr>
              <a:xfrm>
                <a:off x="4650248" y="3602755"/>
                <a:ext cx="2823978" cy="495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FF0000"/>
                    </a:solidFill>
                  </a:rPr>
                  <a:t>Should not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I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sz="2400" dirty="0">
                    <a:solidFill>
                      <a:srgbClr val="FF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77D6A0-B8D7-437B-A014-41980BFA5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0248" y="3602755"/>
                <a:ext cx="2823978" cy="495328"/>
              </a:xfrm>
              <a:prstGeom prst="rect">
                <a:avLst/>
              </a:prstGeom>
              <a:blipFill>
                <a:blip r:embed="rId5"/>
                <a:stretch>
                  <a:fillRect l="-3456" t="-8642" b="-2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2E8310-8BFF-4CC6-A047-679B1AAFEC88}"/>
                  </a:ext>
                </a:extLst>
              </p:cNvPr>
              <p:cNvSpPr txBox="1"/>
              <p:nvPr/>
            </p:nvSpPr>
            <p:spPr>
              <a:xfrm>
                <a:off x="4621062" y="4946555"/>
                <a:ext cx="2282163" cy="495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009900"/>
                    </a:solidFill>
                  </a:rPr>
                  <a:t>Should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solidFill>
                              <a:srgbClr val="0099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IN" sz="2400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0099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sz="2400" dirty="0">
                    <a:solidFill>
                      <a:srgbClr val="0099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2E8310-8BFF-4CC6-A047-679B1AAFE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062" y="4946555"/>
                <a:ext cx="2282163" cy="495328"/>
              </a:xfrm>
              <a:prstGeom prst="rect">
                <a:avLst/>
              </a:prstGeom>
              <a:blipFill>
                <a:blip r:embed="rId6"/>
                <a:stretch>
                  <a:fillRect l="-4011" t="-8537" b="-207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907889D-BAD8-45FC-A641-E231611E386A}"/>
              </a:ext>
            </a:extLst>
          </p:cNvPr>
          <p:cNvSpPr txBox="1"/>
          <p:nvPr/>
        </p:nvSpPr>
        <p:spPr>
          <a:xfrm>
            <a:off x="3241540" y="5893149"/>
            <a:ext cx="5324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How to resolve such a contradiction?</a:t>
            </a:r>
          </a:p>
        </p:txBody>
      </p:sp>
    </p:spTree>
    <p:extLst>
      <p:ext uri="{BB962C8B-B14F-4D97-AF65-F5344CB8AC3E}">
        <p14:creationId xmlns:p14="http://schemas.microsoft.com/office/powerpoint/2010/main" val="215047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3" grpId="0" animBg="1"/>
      <p:bldP spid="17" grpId="0" animBg="1"/>
      <p:bldP spid="5" grpId="0"/>
      <p:bldP spid="8" grpId="0"/>
      <p:bldP spid="10" grpId="0"/>
      <p:bldP spid="19" grpId="0"/>
      <p:bldP spid="20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3BC9-4D1D-4237-A076-AC6EA220D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Two-Stream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D5492-F136-4554-83CE-8B2D9B53F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148D9-31D5-442E-A0E5-56D19E91121F}"/>
                  </a:ext>
                </a:extLst>
              </p:cNvPr>
              <p:cNvSpPr txBox="1"/>
              <p:nvPr/>
            </p:nvSpPr>
            <p:spPr>
              <a:xfrm>
                <a:off x="705681" y="1202635"/>
                <a:ext cx="9101018" cy="495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C00000"/>
                    </a:solidFill>
                  </a:rPr>
                  <a:t>Content Representation: </a:t>
                </a:r>
                <a:r>
                  <a:rPr lang="en-IN" sz="2400" dirty="0"/>
                  <a:t>Encodes both the context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sSub>
                          <m:sSubPr>
                            <m:ctrlP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IN" sz="2400" dirty="0"/>
                  <a:t> itself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148D9-31D5-442E-A0E5-56D19E911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81" y="1202635"/>
                <a:ext cx="9101018" cy="495328"/>
              </a:xfrm>
              <a:prstGeom prst="rect">
                <a:avLst/>
              </a:prstGeom>
              <a:blipFill>
                <a:blip r:embed="rId2"/>
                <a:stretch>
                  <a:fillRect l="-1072" t="-8537" r="-134" b="-207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2A306D-D7CB-495C-B5A9-7F456363BEDE}"/>
                  </a:ext>
                </a:extLst>
              </p:cNvPr>
              <p:cNvSpPr txBox="1"/>
              <p:nvPr/>
            </p:nvSpPr>
            <p:spPr>
              <a:xfrm>
                <a:off x="705681" y="2179982"/>
                <a:ext cx="109537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C00000"/>
                    </a:solidFill>
                  </a:rPr>
                  <a:t>Query Representation: </a:t>
                </a:r>
                <a:r>
                  <a:rPr lang="en-US" sz="2400" dirty="0"/>
                  <a:t>has access to the contextual information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40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2400" dirty="0"/>
                  <a:t>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2A306D-D7CB-495C-B5A9-7F456363B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81" y="2179982"/>
                <a:ext cx="10953704" cy="461665"/>
              </a:xfrm>
              <a:prstGeom prst="rect">
                <a:avLst/>
              </a:prstGeom>
              <a:blipFill>
                <a:blip r:embed="rId3"/>
                <a:stretch>
                  <a:fillRect l="-890" t="-9333" b="-3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76A369-5832-44D2-A1F0-10B30198BDF6}"/>
                  </a:ext>
                </a:extLst>
              </p:cNvPr>
              <p:cNvSpPr txBox="1"/>
              <p:nvPr/>
            </p:nvSpPr>
            <p:spPr>
              <a:xfrm>
                <a:off x="4768298" y="1606307"/>
                <a:ext cx="2328242" cy="495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40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76A369-5832-44D2-A1F0-10B30198B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298" y="1606307"/>
                <a:ext cx="2328242" cy="495328"/>
              </a:xfrm>
              <a:prstGeom prst="rect">
                <a:avLst/>
              </a:prstGeom>
              <a:blipFill>
                <a:blip r:embed="rId4"/>
                <a:stretch>
                  <a:fillRect l="-785" t="-8642" b="-222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620BFA-4F13-49B2-A61C-12C0C7A6A2DF}"/>
                  </a:ext>
                </a:extLst>
              </p:cNvPr>
              <p:cNvSpPr txBox="1"/>
              <p:nvPr/>
            </p:nvSpPr>
            <p:spPr>
              <a:xfrm>
                <a:off x="4768298" y="2562077"/>
                <a:ext cx="2646293" cy="495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40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sub>
                    </m:sSub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6620BFA-4F13-49B2-A61C-12C0C7A6A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298" y="2562077"/>
                <a:ext cx="2646293" cy="495328"/>
              </a:xfrm>
              <a:prstGeom prst="rect">
                <a:avLst/>
              </a:prstGeom>
              <a:blipFill>
                <a:blip r:embed="rId5"/>
                <a:stretch>
                  <a:fillRect l="-691" t="-8537" b="-207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439A645-7D22-4E4B-AE34-26FF02B367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4408" y="3429000"/>
            <a:ext cx="6447079" cy="6096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7929F0-069D-4CE6-9380-489AB28569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2494" y="4120663"/>
            <a:ext cx="6530906" cy="579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6567A3-EC6A-4FAE-9397-D77D4B5DD72A}"/>
                  </a:ext>
                </a:extLst>
              </p:cNvPr>
              <p:cNvSpPr txBox="1"/>
              <p:nvPr/>
            </p:nvSpPr>
            <p:spPr>
              <a:xfrm>
                <a:off x="1509122" y="5063987"/>
                <a:ext cx="1235146" cy="4701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6567A3-EC6A-4FAE-9397-D77D4B5DD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122" y="5063987"/>
                <a:ext cx="1235146" cy="4701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5A822E-6615-4E95-952E-E735D4868956}"/>
                  </a:ext>
                </a:extLst>
              </p:cNvPr>
              <p:cNvSpPr txBox="1"/>
              <p:nvPr/>
            </p:nvSpPr>
            <p:spPr>
              <a:xfrm>
                <a:off x="3241843" y="5063987"/>
                <a:ext cx="1657441" cy="4701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(0)</m:t>
                          </m:r>
                        </m:sup>
                      </m:sSub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5A822E-6615-4E95-952E-E735D4868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843" y="5063987"/>
                <a:ext cx="1657441" cy="47012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97D1B2-C84F-4D9A-ACC8-692B9BEC629C}"/>
                  </a:ext>
                </a:extLst>
              </p:cNvPr>
              <p:cNvSpPr txBox="1"/>
              <p:nvPr/>
            </p:nvSpPr>
            <p:spPr>
              <a:xfrm>
                <a:off x="5572256" y="5153307"/>
                <a:ext cx="495847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IN" sz="2400" b="0" dirty="0"/>
                  <a:t>Self-Attention Layers: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97D1B2-C84F-4D9A-ACC8-692B9BEC62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256" y="5153307"/>
                <a:ext cx="4958473" cy="369332"/>
              </a:xfrm>
              <a:prstGeom prst="rect">
                <a:avLst/>
              </a:prstGeom>
              <a:blipFill>
                <a:blip r:embed="rId10"/>
                <a:stretch>
                  <a:fillRect l="-3690" t="-22951" r="-1230" b="-508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0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4" grpId="0"/>
      <p:bldP spid="15" grpId="0"/>
      <p:bldP spid="1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90340-D2E9-4D4C-8C78-DB5BFEEDE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Two-Stream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2B5D3-00C3-47B1-816E-8521A714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38BFC-E378-4882-AEAD-6E26E7C47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08" y="1886985"/>
            <a:ext cx="5090601" cy="28653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69AF4F-1128-48DF-8166-131AFB70C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170" y="1886985"/>
            <a:ext cx="5037257" cy="28348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D741690-6EEE-48B2-8A96-2991F67B5FD0}"/>
              </a:ext>
            </a:extLst>
          </p:cNvPr>
          <p:cNvSpPr txBox="1"/>
          <p:nvPr/>
        </p:nvSpPr>
        <p:spPr>
          <a:xfrm>
            <a:off x="1908313" y="4909930"/>
            <a:ext cx="2383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Content Stream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A1A61F-BFA0-4634-8456-5808AA14691E}"/>
              </a:ext>
            </a:extLst>
          </p:cNvPr>
          <p:cNvSpPr txBox="1"/>
          <p:nvPr/>
        </p:nvSpPr>
        <p:spPr>
          <a:xfrm>
            <a:off x="7899829" y="4909930"/>
            <a:ext cx="2124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Query Stream</a:t>
            </a:r>
          </a:p>
        </p:txBody>
      </p:sp>
    </p:spTree>
    <p:extLst>
      <p:ext uri="{BB962C8B-B14F-4D97-AF65-F5344CB8AC3E}">
        <p14:creationId xmlns:p14="http://schemas.microsoft.com/office/powerpoint/2010/main" val="82566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04DB5-75B2-4544-9734-142A8714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Two-Stream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D6321-D070-49D9-A82C-02F8A6967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DB6C8C-7B38-45B4-A929-BE43428CB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966" y="1093124"/>
            <a:ext cx="7978834" cy="547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586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B98EB-D312-4F5B-8B07-8ED3926C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Partial Prediction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E6205-2E72-407F-A2F1-E432CF6D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DA784-A697-4737-AF68-6851A0999251}"/>
              </a:ext>
            </a:extLst>
          </p:cNvPr>
          <p:cNvSpPr txBox="1"/>
          <p:nvPr/>
        </p:nvSpPr>
        <p:spPr>
          <a:xfrm>
            <a:off x="1729408" y="1043609"/>
            <a:ext cx="81703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For a single sequence, the model is trained with multiple </a:t>
            </a:r>
          </a:p>
          <a:p>
            <a:r>
              <a:rPr lang="en-IN" sz="2400" dirty="0"/>
              <a:t>permutation orderings (worst case O(T!))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9B41C-50D8-4358-9DAE-A6ED8C6AAB04}"/>
              </a:ext>
            </a:extLst>
          </p:cNvPr>
          <p:cNvSpPr txBox="1"/>
          <p:nvPr/>
        </p:nvSpPr>
        <p:spPr>
          <a:xfrm>
            <a:off x="3988904" y="2009530"/>
            <a:ext cx="2761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Slow convergence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602CF0-54AA-4212-BE86-854F8212DF86}"/>
              </a:ext>
            </a:extLst>
          </p:cNvPr>
          <p:cNvSpPr txBox="1"/>
          <p:nvPr/>
        </p:nvSpPr>
        <p:spPr>
          <a:xfrm>
            <a:off x="1643269" y="2606119"/>
            <a:ext cx="99274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Consider last few tokens in the factorization order as prediction target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24BBF1F-DB51-4B75-BB12-B2DE7153AE53}"/>
                  </a:ext>
                </a:extLst>
              </p:cNvPr>
              <p:cNvSpPr/>
              <p:nvPr/>
            </p:nvSpPr>
            <p:spPr>
              <a:xfrm>
                <a:off x="5708379" y="3366056"/>
                <a:ext cx="2196548" cy="46166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sSub>
                            <m:sSubPr>
                              <m:ctrlP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24BBF1F-DB51-4B75-BB12-B2DE7153A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8379" y="3366056"/>
                <a:ext cx="2196548" cy="461665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CE7B151-7908-4E57-837A-80FB1E1B2029}"/>
                  </a:ext>
                </a:extLst>
              </p:cNvPr>
              <p:cNvSpPr/>
              <p:nvPr/>
            </p:nvSpPr>
            <p:spPr>
              <a:xfrm>
                <a:off x="4383159" y="3366056"/>
                <a:ext cx="1298713" cy="46166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sSub>
                            <m:sSubPr>
                              <m:ctrlP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N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CE7B151-7908-4E57-837A-80FB1E1B20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3159" y="3366056"/>
                <a:ext cx="1298713" cy="461665"/>
              </a:xfrm>
              <a:prstGeom prst="rect">
                <a:avLst/>
              </a:prstGeom>
              <a:blipFill>
                <a:blip r:embed="rId3"/>
                <a:stretch>
                  <a:fillRect b="-64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CE911A64-5362-44F5-8843-A47125E6D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770" y="4125993"/>
            <a:ext cx="9494105" cy="136040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C989264-7807-49C6-95C2-4F655E8E0F1A}"/>
              </a:ext>
            </a:extLst>
          </p:cNvPr>
          <p:cNvSpPr txBox="1"/>
          <p:nvPr/>
        </p:nvSpPr>
        <p:spPr>
          <a:xfrm>
            <a:off x="2212287" y="5688503"/>
            <a:ext cx="85219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For unselected tokens, their query representations need not be computed, which saves speed and memory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9446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2" grpId="0" animBg="1"/>
      <p:bldP spid="1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E811F-B3C9-4A88-A064-C5155AFA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Integrating Transformer-XL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80172-7F6E-434A-B881-56C2EB5CB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F7474-4DBC-4A17-BE1E-FDF4727BF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948" y="1141814"/>
            <a:ext cx="6534390" cy="48017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037B11-12BC-4363-99BF-764B06EAC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435" y="6064341"/>
            <a:ext cx="5311600" cy="4343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75DB94-A198-497D-A415-08DC120FE6DA}"/>
              </a:ext>
            </a:extLst>
          </p:cNvPr>
          <p:cNvSpPr txBox="1"/>
          <p:nvPr/>
        </p:nvSpPr>
        <p:spPr>
          <a:xfrm>
            <a:off x="278295" y="3171477"/>
            <a:ext cx="29280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Previous segment state </a:t>
            </a:r>
          </a:p>
          <a:p>
            <a:r>
              <a:rPr lang="en-IN" dirty="0"/>
              <a:t>is independent of the</a:t>
            </a:r>
          </a:p>
          <a:p>
            <a:r>
              <a:rPr lang="en-IN" dirty="0"/>
              <a:t>current factorization order</a:t>
            </a:r>
          </a:p>
        </p:txBody>
      </p:sp>
    </p:spTree>
    <p:extLst>
      <p:ext uri="{BB962C8B-B14F-4D97-AF65-F5344CB8AC3E}">
        <p14:creationId xmlns:p14="http://schemas.microsoft.com/office/powerpoint/2010/main" val="365706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7450-2D1B-4E42-87C6-CD4A1DD01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XLNet</a:t>
            </a:r>
            <a:r>
              <a:rPr lang="en-IN" dirty="0"/>
              <a:t>: Integrating Transformer-XL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8B6DB-C413-49F9-9DCE-9F6F3D1EA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07DFB-4DBB-428F-A04F-E17DBE813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5991" y="912025"/>
            <a:ext cx="6989835" cy="8694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6420A3-E063-4486-9576-8D1A9DB69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992" y="1844687"/>
            <a:ext cx="5230608" cy="3111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68E9E59-E46F-4714-89EB-6150024593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5992" y="2313151"/>
            <a:ext cx="2159418" cy="4836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D9441B-B793-4901-A74A-6A79F2028A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2578" y="2763871"/>
            <a:ext cx="8549613" cy="6068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C0521A-BD5E-44B7-B209-28DA600F7D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2578" y="3262625"/>
            <a:ext cx="5766657" cy="6833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9C68E4D-4437-4FFF-AA68-B219C145FC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1257" y="3953664"/>
            <a:ext cx="8513394" cy="60682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1194727-D2B7-4795-967C-D2B9131333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22578" y="4455424"/>
            <a:ext cx="5249482" cy="6151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A9C1CA1-0057-4008-8C09-5A6FF13F7B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0408" y="5228471"/>
            <a:ext cx="5942923" cy="129032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71AD45BA-0E71-46DA-A9C5-A753740A2F45}"/>
              </a:ext>
            </a:extLst>
          </p:cNvPr>
          <p:cNvGrpSpPr/>
          <p:nvPr/>
        </p:nvGrpSpPr>
        <p:grpSpPr>
          <a:xfrm>
            <a:off x="8647043" y="1421944"/>
            <a:ext cx="2951922" cy="1840681"/>
            <a:chOff x="8647043" y="1421944"/>
            <a:chExt cx="2951922" cy="184068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1F231EC0-B89A-4278-B7B0-CD68790B605E}"/>
                </a:ext>
              </a:extLst>
            </p:cNvPr>
            <p:cNvSpPr/>
            <p:nvPr/>
          </p:nvSpPr>
          <p:spPr>
            <a:xfrm>
              <a:off x="8647043" y="2796806"/>
              <a:ext cx="914400" cy="465819"/>
            </a:xfrm>
            <a:prstGeom prst="roundRect">
              <a:avLst/>
            </a:prstGeom>
            <a:solidFill>
              <a:schemeClr val="accent1">
                <a:alpha val="3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25DE137-516B-477B-B0A7-82B41F88E7DA}"/>
                </a:ext>
              </a:extLst>
            </p:cNvPr>
            <p:cNvSpPr txBox="1"/>
            <p:nvPr/>
          </p:nvSpPr>
          <p:spPr>
            <a:xfrm>
              <a:off x="9043257" y="1421944"/>
              <a:ext cx="255570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Cached embeddings from </a:t>
              </a:r>
              <a:r>
                <a:rPr lang="en-IN" dirty="0" err="1"/>
                <a:t>prev</a:t>
              </a:r>
              <a:r>
                <a:rPr lang="en-IN" dirty="0"/>
                <a:t> segment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4A562E8-C120-455E-A5CE-96A7D9136C24}"/>
                </a:ext>
              </a:extLst>
            </p:cNvPr>
            <p:cNvCxnSpPr>
              <a:endCxn id="5" idx="2"/>
            </p:cNvCxnSpPr>
            <p:nvPr/>
          </p:nvCxnSpPr>
          <p:spPr>
            <a:xfrm flipV="1">
              <a:off x="9043257" y="2068275"/>
              <a:ext cx="1277854" cy="7285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1781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CA367-25C5-4DD5-9A38-060153C05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Text-to-Text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EC3C8-4979-44E5-9992-B0795BCE4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BERT is differently fine-tuned for each task</a:t>
            </a:r>
          </a:p>
          <a:p>
            <a:pPr lvl="1"/>
            <a:r>
              <a:rPr lang="en-IN" dirty="0"/>
              <a:t>Need a different model for each task</a:t>
            </a:r>
          </a:p>
          <a:p>
            <a:pPr lvl="1"/>
            <a:r>
              <a:rPr lang="en-IN" dirty="0">
                <a:solidFill>
                  <a:srgbClr val="FF0000"/>
                </a:solidFill>
              </a:rPr>
              <a:t>Not realistic in real deployment scenario</a:t>
            </a:r>
          </a:p>
          <a:p>
            <a:r>
              <a:rPr lang="en-IN" dirty="0"/>
              <a:t>Human Learning</a:t>
            </a:r>
          </a:p>
          <a:p>
            <a:pPr lvl="1"/>
            <a:r>
              <a:rPr lang="en-IN" dirty="0"/>
              <a:t>Probably a single model that solves all tasks</a:t>
            </a:r>
          </a:p>
          <a:p>
            <a:r>
              <a:rPr lang="en-IN" dirty="0"/>
              <a:t>Is there a framework to create a single model that solves all tasks?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B6180-A613-4C5A-96A7-899026185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43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E444-5AD7-4FC4-8828-05D7F87E1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Text-to-Text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D7192-A503-413C-9045-109322865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BERT follows Pre-Training followed by fine tuning</a:t>
            </a:r>
          </a:p>
          <a:p>
            <a:r>
              <a:rPr lang="en-IN" dirty="0"/>
              <a:t>Fine tuning requires annotated data for supervision</a:t>
            </a:r>
          </a:p>
          <a:p>
            <a:r>
              <a:rPr lang="en-IN" dirty="0"/>
              <a:t>Human, in general, do not learn from labelled examples </a:t>
            </a:r>
          </a:p>
          <a:p>
            <a:r>
              <a:rPr lang="en-IN" dirty="0"/>
              <a:t>Human rely on </a:t>
            </a:r>
            <a:r>
              <a:rPr lang="en-IN" dirty="0">
                <a:solidFill>
                  <a:srgbClr val="C00000"/>
                </a:solidFill>
              </a:rPr>
              <a:t>task descriptions </a:t>
            </a:r>
            <a:r>
              <a:rPr lang="en-IN" dirty="0"/>
              <a:t>along with possibly some examples</a:t>
            </a:r>
          </a:p>
          <a:p>
            <a:r>
              <a:rPr lang="en-US" dirty="0"/>
              <a:t>Is there a framework that allows us to leverage </a:t>
            </a:r>
            <a:r>
              <a:rPr lang="en-US" dirty="0">
                <a:solidFill>
                  <a:srgbClr val="C00000"/>
                </a:solidFill>
              </a:rPr>
              <a:t>task descriptions</a:t>
            </a:r>
            <a:r>
              <a:rPr lang="en-US" dirty="0"/>
              <a:t>?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1C9C9-A587-4A36-8771-CD5DEFB2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1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F8D44-4873-466A-A61D-03F99F9E9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Text-to-Text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CF027-9977-41A0-8653-D4B704098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BERT requires relatively good amount of data for fine tuning</a:t>
            </a:r>
          </a:p>
          <a:p>
            <a:r>
              <a:rPr lang="en-IN" dirty="0"/>
              <a:t>But human may require a very small number of examples (2-3)</a:t>
            </a:r>
          </a:p>
          <a:p>
            <a:r>
              <a:rPr lang="en-US" dirty="0"/>
              <a:t>Is there a framework that allows us to learn from just a </a:t>
            </a:r>
            <a:r>
              <a:rPr lang="en-US" dirty="0">
                <a:solidFill>
                  <a:srgbClr val="C00000"/>
                </a:solidFill>
              </a:rPr>
              <a:t>small number of examples</a:t>
            </a:r>
            <a:r>
              <a:rPr lang="en-US" dirty="0"/>
              <a:t>?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Few Shot Learning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E0D075-538E-4740-9FAB-8DFB28F25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781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9D7A-77B4-4FD3-BE83-DC59467BC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Text-to-Text 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45E6C-E04C-4FF0-9CEE-0C1865118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0DF7FC-1B69-4459-9CB4-33652B4A8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61" y="1089457"/>
            <a:ext cx="7094524" cy="27569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3F3922-95CA-49F4-97E5-CC1F7B2BBC66}"/>
              </a:ext>
            </a:extLst>
          </p:cNvPr>
          <p:cNvSpPr txBox="1"/>
          <p:nvPr/>
        </p:nvSpPr>
        <p:spPr>
          <a:xfrm>
            <a:off x="3885144" y="4512221"/>
            <a:ext cx="41953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NimbusSanL-ReguItal"/>
              </a:rPr>
              <a:t>Input: </a:t>
            </a:r>
            <a:r>
              <a:rPr lang="en-US" sz="2400" b="0" i="0" u="none" strike="noStrike" baseline="0" dirty="0">
                <a:latin typeface="NimbusSanL-Regu"/>
              </a:rPr>
              <a:t>Text in source language</a:t>
            </a:r>
          </a:p>
          <a:p>
            <a:pPr algn="l"/>
            <a:r>
              <a:rPr lang="en-US" sz="2400" b="0" i="0" u="none" strike="noStrike" baseline="0" dirty="0">
                <a:latin typeface="NimbusSanL-ReguItal"/>
              </a:rPr>
              <a:t>Output: </a:t>
            </a:r>
            <a:r>
              <a:rPr lang="en-US" sz="2400" b="0" i="0" u="none" strike="noStrike" baseline="0" dirty="0">
                <a:latin typeface="NimbusSanL-Regu"/>
              </a:rPr>
              <a:t>Text in target language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2638552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6BAF-ADA1-41B2-8007-16226862A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Text-to-Text Task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12DF3-96AD-4E6B-BCA8-9C9483190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E9F5C2-F047-46EE-94E8-F2CD49930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284" y="1238765"/>
            <a:ext cx="6542370" cy="493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6973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6204-AEAF-458F-B539-1BD57F50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Text-to-Text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483FA-7F48-4C15-A7CA-D61494A43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BERT know which task it is performing?</a:t>
            </a:r>
          </a:p>
          <a:p>
            <a:pPr lvl="1"/>
            <a:r>
              <a:rPr lang="en-US" dirty="0"/>
              <a:t>It doesn’t </a:t>
            </a:r>
          </a:p>
          <a:p>
            <a:pPr lvl="1"/>
            <a:r>
              <a:rPr lang="en-US" dirty="0"/>
              <a:t>BERT just learns associations between text features and class distributions</a:t>
            </a:r>
          </a:p>
          <a:p>
            <a:r>
              <a:rPr lang="en-US" dirty="0"/>
              <a:t>BERT does not “understand“ what task it is actually performing</a:t>
            </a:r>
          </a:p>
          <a:p>
            <a:pPr lvl="1"/>
            <a:r>
              <a:rPr lang="en-US" dirty="0"/>
              <a:t>Different BERT model for different tasks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69561-AEC3-4177-B13A-2FF2DE65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8A7947-72F8-4BD3-99C9-7BA1AF6381C7}"/>
              </a:ext>
            </a:extLst>
          </p:cNvPr>
          <p:cNvSpPr txBox="1"/>
          <p:nvPr/>
        </p:nvSpPr>
        <p:spPr>
          <a:xfrm>
            <a:off x="1548018" y="6133260"/>
            <a:ext cx="97892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 err="1"/>
              <a:t>Raffel</a:t>
            </a:r>
            <a:r>
              <a:rPr lang="en-IN" sz="1400" dirty="0"/>
              <a:t> et al., </a:t>
            </a:r>
            <a:r>
              <a:rPr lang="en-US" sz="1400" dirty="0">
                <a:hlinkClick r:id="rId2"/>
              </a:rPr>
              <a:t>Exploring the Limits of Transfer Learning with a Unified Text-to-Text Transformer</a:t>
            </a:r>
            <a:r>
              <a:rPr lang="en-US" sz="1400" dirty="0"/>
              <a:t>, 2019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6371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32CF-6E2F-4D3F-857E-CEFB2AAF2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Text-to-Text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E65AD-AAF9-41EB-A4E2-C884CA2A3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could we “inform“ our model about the task?</a:t>
            </a:r>
          </a:p>
          <a:p>
            <a:pPr lvl="1"/>
            <a:r>
              <a:rPr lang="en-US" dirty="0"/>
              <a:t>Describe the task in natural language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Learn to associate:</a:t>
            </a:r>
          </a:p>
          <a:p>
            <a:pPr lvl="1"/>
            <a:r>
              <a:rPr lang="en-US" dirty="0"/>
              <a:t>task descriptions to a set of class names</a:t>
            </a:r>
          </a:p>
          <a:p>
            <a:pPr lvl="1"/>
            <a:r>
              <a:rPr lang="en-US" dirty="0"/>
              <a:t>text features to class name distributions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33B98-DD74-4018-9296-A8AA2F92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4508E0-17FC-438D-B7F6-6EA87810D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730" y="2523692"/>
            <a:ext cx="9310540" cy="577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17F95C-2207-46EB-81DF-88B4F24D4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235" y="3375069"/>
            <a:ext cx="3810330" cy="8839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BF2DA2-E087-4AE3-9716-03465503B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042" y="3518456"/>
            <a:ext cx="2560542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269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711D2-F6B2-4109-9EE4-AB578BE0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Text-to-Text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58FD3-5CA6-40FD-B565-FA8C0AE71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model can learn to link task descriptions to label sets, can it learn to perform multiple tasks at once?</a:t>
            </a:r>
          </a:p>
          <a:p>
            <a:pPr lvl="1"/>
            <a:r>
              <a:rPr lang="en-US" dirty="0"/>
              <a:t>Through fine tuning each task description will be linked to its label set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DA9CD-FDA6-4A83-8A00-A325862FE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B8D34B-A59E-4A6D-899B-BFD87651198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76433" y="3687765"/>
            <a:ext cx="9373412" cy="2918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086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47C7-6904-4818-A288-1AB47CD83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Text-to-Text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3F45B-AA09-4EFB-999B-474A611255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have one single model for both different classification tasks and generation tasks?</a:t>
            </a:r>
          </a:p>
          <a:p>
            <a:pPr lvl="1"/>
            <a:r>
              <a:rPr lang="en-US" dirty="0"/>
              <a:t>Yes, we just have to design suitable task descriptions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F5D2F-AB14-43A2-8558-D162E083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4B2D03-5142-48E3-8FC1-8977919BD26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19687" y="3200664"/>
            <a:ext cx="6157494" cy="15698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E3E678-ACE6-4667-82E0-FB15310F344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619687" y="5163395"/>
            <a:ext cx="6439458" cy="76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5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6302-AD70-4581-BAFC-4E80C3D61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Text-to-Text Transfer Transformer (T5)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F1D5F-4365-4954-A730-57D66CE93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FF2633-7CB8-47A0-B049-C9B97082E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97" y="1577179"/>
            <a:ext cx="10920406" cy="37036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7E7205-BC67-434D-952A-E90E0B391AD1}"/>
              </a:ext>
            </a:extLst>
          </p:cNvPr>
          <p:cNvSpPr txBox="1"/>
          <p:nvPr/>
        </p:nvSpPr>
        <p:spPr>
          <a:xfrm>
            <a:off x="1729407" y="5949911"/>
            <a:ext cx="579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Unified different Transfer Learning approaches in NLP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9AA63-8A9E-4A2B-9DBC-741690704FC9}"/>
              </a:ext>
            </a:extLst>
          </p:cNvPr>
          <p:cNvSpPr txBox="1"/>
          <p:nvPr/>
        </p:nvSpPr>
        <p:spPr>
          <a:xfrm>
            <a:off x="1729407" y="5581978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General Framework: “text-to-text” problem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C3CFD5-5256-4A7A-9721-A0B8C7183F00}"/>
              </a:ext>
            </a:extLst>
          </p:cNvPr>
          <p:cNvSpPr txBox="1"/>
          <p:nvPr/>
        </p:nvSpPr>
        <p:spPr>
          <a:xfrm>
            <a:off x="1719468" y="6317844"/>
            <a:ext cx="8448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Same model, objective, training procedure, and decoding process to every task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8638B9-8BD2-4C4F-8047-B52C0DD295AB}"/>
              </a:ext>
            </a:extLst>
          </p:cNvPr>
          <p:cNvSpPr txBox="1"/>
          <p:nvPr/>
        </p:nvSpPr>
        <p:spPr>
          <a:xfrm>
            <a:off x="3094381" y="1023881"/>
            <a:ext cx="6973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Sequential Transfer Learning vs Multi-Task Transfer Learning</a:t>
            </a:r>
          </a:p>
        </p:txBody>
      </p:sp>
    </p:spTree>
    <p:extLst>
      <p:ext uri="{BB962C8B-B14F-4D97-AF65-F5344CB8AC3E}">
        <p14:creationId xmlns:p14="http://schemas.microsoft.com/office/powerpoint/2010/main" val="271194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138A-00C0-4629-B0DE-FE96EE91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Different Architectural Options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FFF0C-8807-466D-B54D-F6627DE70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77</a:t>
            </a:fld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7518CBE-B82D-4DA9-BC82-AA53D65B5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41" y="1509599"/>
            <a:ext cx="10313993" cy="383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74664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DEF2-43B1-4BA8-8F06-921A5B9FC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Different Architectural Options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52A8D-8F6F-469C-A4AC-89FED73B1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0378AE-2479-4DA4-B644-DE887CB8C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241" y="1493352"/>
            <a:ext cx="8969517" cy="3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848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0C33C-0565-4BF2-A680-C93EEA867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Unsupervised Training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31870-3EA9-4210-9EDC-CB5908F3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260B77-3EC8-4E33-BBA9-ABE859DAF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13" y="2379665"/>
            <a:ext cx="11726973" cy="2271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5485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73C80-E538-43FD-8E44-9895483D7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MASS-Style Pre-training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DBBBD-BB20-4824-8340-17241CE5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911C7B-21BC-4983-9CB1-B866FBAFA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83" y="904545"/>
            <a:ext cx="11219633" cy="23753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B26B02-6AEF-4599-BF59-927B8C8BF1B1}"/>
                  </a:ext>
                </a:extLst>
              </p:cNvPr>
              <p:cNvSpPr txBox="1"/>
              <p:nvPr/>
            </p:nvSpPr>
            <p:spPr>
              <a:xfrm>
                <a:off x="2160519" y="3220281"/>
                <a:ext cx="793391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000" dirty="0"/>
                  <a:t>The model only predicts the masked fragment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IN" sz="2000" dirty="0"/>
                  <a:t>,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IN" sz="2000" dirty="0"/>
                  <a:t> as the decoder input for position 4 − 6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BB26B02-6AEF-4599-BF59-927B8C8BF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519" y="3220281"/>
                <a:ext cx="7933912" cy="707886"/>
              </a:xfrm>
              <a:prstGeom prst="rect">
                <a:avLst/>
              </a:prstGeom>
              <a:blipFill>
                <a:blip r:embed="rId3"/>
                <a:stretch>
                  <a:fillRect l="-768" t="-3448" b="-155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0C23551-CB1A-4E13-954D-296514306EE0}"/>
              </a:ext>
            </a:extLst>
          </p:cNvPr>
          <p:cNvSpPr txBox="1"/>
          <p:nvPr/>
        </p:nvSpPr>
        <p:spPr>
          <a:xfrm>
            <a:off x="2160518" y="4001440"/>
            <a:ext cx="79339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Decoder takes the special mask symbol [M] as inputs for the other positions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2A9DEC-66FA-4E71-934C-71C707447F2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306354" y="4649963"/>
            <a:ext cx="5967940" cy="17309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683E0AC-AD26-4E19-BEA5-DF2D9B1FF326}"/>
              </a:ext>
            </a:extLst>
          </p:cNvPr>
          <p:cNvSpPr txBox="1"/>
          <p:nvPr/>
        </p:nvSpPr>
        <p:spPr>
          <a:xfrm>
            <a:off x="2486219" y="6444987"/>
            <a:ext cx="78305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Song et al., </a:t>
            </a:r>
            <a:r>
              <a:rPr lang="en-IN" sz="1400" dirty="0">
                <a:hlinkClick r:id="rId5"/>
              </a:rPr>
              <a:t>MASS: Masked Sequence to Sequence Pre-training for Language Generation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83996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13C11-EDF6-4FC8-9C24-D6047689E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MASS-Style Pre-training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95F82-4DCF-4981-A2D3-850788D7C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F4AB17-D0AE-4BBC-B108-2BB86823B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618" y="1055807"/>
            <a:ext cx="9336439" cy="1786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EC2E11-7CFA-4570-A898-84130F77E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633" y="4558970"/>
            <a:ext cx="9162734" cy="19249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164521-093D-42EF-B7E9-074D3C289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9501" y="3063125"/>
            <a:ext cx="5037257" cy="13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7413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0C33C-0565-4BF2-A680-C93EEA867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Unsupervised Training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31870-3EA9-4210-9EDC-CB5908F3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260B77-3EC8-4E33-BBA9-ABE859DAF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88" y="1276420"/>
            <a:ext cx="11726973" cy="22718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85D21F-4AC2-498C-B6E5-CFB16498D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285" y="3916001"/>
            <a:ext cx="5601430" cy="2050523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086260-940A-4A56-BB39-954847C034E0}"/>
              </a:ext>
            </a:extLst>
          </p:cNvPr>
          <p:cNvSpPr/>
          <p:nvPr/>
        </p:nvSpPr>
        <p:spPr>
          <a:xfrm>
            <a:off x="437321" y="2663687"/>
            <a:ext cx="10227365" cy="308113"/>
          </a:xfrm>
          <a:prstGeom prst="roundRect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8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0C33C-0565-4BF2-A680-C93EEA867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Unsupervised Training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31870-3EA9-4210-9EDC-CB5908F3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260B77-3EC8-4E33-BBA9-ABE859DAF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88" y="1276420"/>
            <a:ext cx="11726973" cy="2271846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0086260-940A-4A56-BB39-954847C034E0}"/>
              </a:ext>
            </a:extLst>
          </p:cNvPr>
          <p:cNvSpPr/>
          <p:nvPr/>
        </p:nvSpPr>
        <p:spPr>
          <a:xfrm>
            <a:off x="437321" y="2663687"/>
            <a:ext cx="11410122" cy="765313"/>
          </a:xfrm>
          <a:prstGeom prst="roundRect">
            <a:avLst/>
          </a:prstGeom>
          <a:solidFill>
            <a:schemeClr val="accent1">
              <a:alpha val="3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AFF2B6-5643-4C46-8A3C-013A619C90C3}"/>
              </a:ext>
            </a:extLst>
          </p:cNvPr>
          <p:cNvSpPr txBox="1"/>
          <p:nvPr/>
        </p:nvSpPr>
        <p:spPr>
          <a:xfrm>
            <a:off x="2502176" y="4306601"/>
            <a:ext cx="845074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The target sequences are shorter and consequently make training faster</a:t>
            </a:r>
          </a:p>
        </p:txBody>
      </p:sp>
    </p:spTree>
    <p:extLst>
      <p:ext uri="{BB962C8B-B14F-4D97-AF65-F5344CB8AC3E}">
        <p14:creationId xmlns:p14="http://schemas.microsoft.com/office/powerpoint/2010/main" val="325404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4028-965F-46D5-9E04-03D721E30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Unsupervised Training Objectives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8CD63-8FA9-4478-BE44-283685E97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672110-4FBE-4886-B512-251BD2C2C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480" y="1044183"/>
            <a:ext cx="8943994" cy="455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4022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F1047-FCE4-4276-B473-E0726DA83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Translating Task into Text-to-Text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ED777-AF74-4F17-B92C-9698F9735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A7B0DD-9BCD-4AB4-9190-7D339CEE164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58629" y="908686"/>
            <a:ext cx="7802206" cy="2721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11E665-EE76-477D-BCEB-B5DF40552B4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858629" y="3745494"/>
            <a:ext cx="8039797" cy="2842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85666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C0A2B-9D8D-46EB-B721-E894B6C35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How to Mix Pretraining Datasets?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3E018-CCA7-4126-9DC2-E93591CB6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Should not overtrain or undertrain the models</a:t>
            </a:r>
          </a:p>
          <a:p>
            <a:r>
              <a:rPr lang="en-IN" dirty="0"/>
              <a:t>Should see enough data to perform task well</a:t>
            </a:r>
          </a:p>
          <a:p>
            <a:pPr lvl="1"/>
            <a:r>
              <a:rPr lang="en-IN" dirty="0"/>
              <a:t>But not large to memorize the training data</a:t>
            </a:r>
          </a:p>
          <a:p>
            <a:r>
              <a:rPr lang="en-IN" dirty="0"/>
              <a:t>Dataset proportion </a:t>
            </a:r>
            <a:r>
              <a:rPr lang="en-IN" dirty="0">
                <a:sym typeface="Wingdings" panose="05000000000000000000" pitchFamily="2" charset="2"/>
              </a:rPr>
              <a:t> “difficulty” of the task</a:t>
            </a:r>
          </a:p>
          <a:p>
            <a:r>
              <a:rPr lang="en-IN" dirty="0">
                <a:sym typeface="Wingdings" panose="05000000000000000000" pitchFamily="2" charset="2"/>
              </a:rPr>
              <a:t>Task interference or negative transfer</a:t>
            </a:r>
          </a:p>
          <a:p>
            <a:pPr lvl="1"/>
            <a:r>
              <a:rPr lang="en-US" dirty="0"/>
              <a:t>Achieving good performance on one task can hinder performance on another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EB60F-C323-411A-82F5-EB6DE264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9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EC65C-006D-4D39-B532-C2DF58FD7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Dataset Mixing Strategies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756E28-00C5-420C-825B-5D662F597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Examples-proportional mixing</a:t>
                </a:r>
              </a:p>
              <a:p>
                <a:pPr lvl="1"/>
                <a:r>
                  <a:rPr lang="en-IN" dirty="0"/>
                  <a:t>Decide the mixing proportion based on the size of the dataset</a:t>
                </a:r>
              </a:p>
              <a:p>
                <a:pPr lvl="1"/>
                <a:r>
                  <a:rPr lang="en-IN" dirty="0"/>
                  <a:t>Concatenating all the datasets and randomly sampling examples</a:t>
                </a:r>
              </a:p>
              <a:p>
                <a:pPr lvl="1"/>
                <a:r>
                  <a:rPr lang="en-IN" dirty="0"/>
                  <a:t>Vast majority of the training data is </a:t>
                </a:r>
                <a:r>
                  <a:rPr lang="en-IN" dirty="0">
                    <a:solidFill>
                      <a:srgbClr val="C00000"/>
                    </a:solidFill>
                  </a:rPr>
                  <a:t>unlabelled</a:t>
                </a:r>
                <a:r>
                  <a:rPr lang="en-IN" dirty="0"/>
                  <a:t> </a:t>
                </a:r>
              </a:p>
              <a:p>
                <a:pPr lvl="2"/>
                <a:r>
                  <a:rPr lang="en-IN" dirty="0">
                    <a:solidFill>
                      <a:srgbClr val="FF0000"/>
                    </a:solidFill>
                  </a:rPr>
                  <a:t>Supervised training data will be sampled with very low probability</a:t>
                </a:r>
              </a:p>
              <a:p>
                <a:pPr lvl="1"/>
                <a:r>
                  <a:rPr lang="en-IN" dirty="0"/>
                  <a:t>Artificial limit on the dataset size (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/>
                  <a:t>)</a:t>
                </a:r>
              </a:p>
              <a:p>
                <a:pPr lvl="1"/>
                <a:r>
                  <a:rPr lang="en-IN" dirty="0"/>
                  <a:t>Probability of sampling an example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IN" dirty="0"/>
                  <a:t> task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756E28-00C5-420C-825B-5D662F597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1D82C-235D-410B-9787-B7F28F4A7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E428EE-C321-4BDA-A2FB-AA99EB9016D2}"/>
                  </a:ext>
                </a:extLst>
              </p:cNvPr>
              <p:cNvSpPr txBox="1"/>
              <p:nvPr/>
            </p:nvSpPr>
            <p:spPr>
              <a:xfrm>
                <a:off x="4523922" y="5344575"/>
                <a:ext cx="2480936" cy="7689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func>
                                <m:funcPr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IN" sz="2400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fName>
                                <m:e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IN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E428EE-C321-4BDA-A2FB-AA99EB901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922" y="5344575"/>
                <a:ext cx="2480936" cy="7689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666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DD599-FF93-4F1F-890A-0815C16B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Dataset Mixing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0B8DD-1116-4753-87E1-1B1A76682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Equal Mixing</a:t>
            </a:r>
          </a:p>
          <a:p>
            <a:pPr lvl="1"/>
            <a:r>
              <a:rPr lang="en-IN" dirty="0"/>
              <a:t>Sample examples from each task with equal probability</a:t>
            </a:r>
          </a:p>
          <a:p>
            <a:pPr lvl="1"/>
            <a:r>
              <a:rPr lang="en-IN" dirty="0"/>
              <a:t>Suboptimal</a:t>
            </a:r>
          </a:p>
          <a:p>
            <a:pPr lvl="2"/>
            <a:r>
              <a:rPr lang="en-IN" dirty="0">
                <a:solidFill>
                  <a:srgbClr val="FF0000"/>
                </a:solidFill>
              </a:rPr>
              <a:t>Quickly overfit on low-resource tasks and underfit on high-resource tasks</a:t>
            </a:r>
          </a:p>
          <a:p>
            <a:r>
              <a:rPr lang="en-IN" dirty="0"/>
              <a:t>Temperature scaled mixing</a:t>
            </a:r>
          </a:p>
          <a:p>
            <a:pPr lvl="1"/>
            <a:r>
              <a:rPr lang="en-IN" dirty="0"/>
              <a:t>Control trade-off between disproportionate vs equal mixing</a:t>
            </a:r>
          </a:p>
          <a:p>
            <a:pPr lvl="1"/>
            <a:r>
              <a:rPr lang="en-IN" dirty="0"/>
              <a:t>Adjust temperature to control the mixing 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D4398-179B-4022-9309-4B6D158CF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F59C10-144A-4E38-ADB9-913187B72D5A}"/>
                  </a:ext>
                </a:extLst>
              </p:cNvPr>
              <p:cNvSpPr txBox="1"/>
              <p:nvPr/>
            </p:nvSpPr>
            <p:spPr>
              <a:xfrm>
                <a:off x="4444409" y="5588607"/>
                <a:ext cx="1670970" cy="11594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f>
                                <m:fPr>
                                  <m:type m:val="skw"/>
                                  <m:ctrlP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sup>
                          </m:sSub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Sup>
                                <m:sSubSupPr>
                                  <m:ctrlP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I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f>
                                    <m:fPr>
                                      <m:type m:val="skw"/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den>
                                  </m:f>
                                </m:sup>
                              </m:sSubSup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8F59C10-144A-4E38-ADB9-913187B72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409" y="5588607"/>
                <a:ext cx="1670970" cy="11594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85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B49D1-0A21-46B6-8A8F-2C556CF32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In a Nutshell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10B4A2-964E-43FD-B455-B8F213DEA1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dirty="0"/>
                  <a:t>Training Objective: </a:t>
                </a:r>
              </a:p>
              <a:p>
                <a:pPr lvl="1"/>
                <a:r>
                  <a:rPr lang="en-IN" dirty="0" err="1"/>
                  <a:t>iid</a:t>
                </a:r>
                <a:r>
                  <a:rPr lang="en-IN" dirty="0"/>
                  <a:t> denoising objective with span corruption </a:t>
                </a:r>
              </a:p>
              <a:p>
                <a:pPr lvl="1"/>
                <a:r>
                  <a:rPr lang="en-IN" dirty="0"/>
                  <a:t>Mean span length = 3 and corruption proportion = 15%</a:t>
                </a:r>
              </a:p>
              <a:p>
                <a:r>
                  <a:rPr lang="en-IN" dirty="0"/>
                  <a:t>Longer Training:</a:t>
                </a:r>
              </a:p>
              <a:p>
                <a:pPr lvl="1"/>
                <a:r>
                  <a:rPr lang="en-IN" dirty="0"/>
                  <a:t>Substantially longer pre-training without repeating data </a:t>
                </a:r>
              </a:p>
              <a:p>
                <a:pPr lvl="2"/>
                <a:r>
                  <a:rPr lang="en-IN" dirty="0"/>
                  <a:t>C4 is large enough (no repetition even after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23</m:t>
                        </m:r>
                      </m:sup>
                    </m:sSup>
                  </m:oMath>
                </a14:m>
                <a:r>
                  <a:rPr lang="en-IN" dirty="0"/>
                  <a:t> training steps)</a:t>
                </a:r>
              </a:p>
              <a:p>
                <a:pPr lvl="2"/>
                <a:r>
                  <a:rPr lang="en-IN" dirty="0"/>
                  <a:t>1 million steps, batch size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 sequences of length = 512</a:t>
                </a:r>
              </a:p>
              <a:p>
                <a:r>
                  <a:rPr lang="en-IN" dirty="0"/>
                  <a:t>Model size: </a:t>
                </a:r>
              </a:p>
              <a:p>
                <a:pPr lvl="1"/>
                <a:r>
                  <a:rPr lang="en-IN" dirty="0"/>
                  <a:t>Base – 220M, Small – 60M, Large – 770M, Very Large – 3B and 11B</a:t>
                </a: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10B4A2-964E-43FD-B455-B8F213DEA1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19DEF-4C9B-4B79-8830-0230133F1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32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4AC41-3F0A-4B96-BD5B-4B535266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In a Nutshell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DEECB-E3DE-4AEE-8F20-B660506D2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Multi-Task pre-Training:</a:t>
            </a:r>
          </a:p>
          <a:p>
            <a:pPr lvl="1"/>
            <a:r>
              <a:rPr lang="en-US" dirty="0"/>
              <a:t>pre-training on a multi-task mixture of unsupervised and supervised tasks</a:t>
            </a:r>
          </a:p>
          <a:p>
            <a:pPr lvl="1"/>
            <a:r>
              <a:rPr lang="en-US" dirty="0"/>
              <a:t>Artificial limit on dataset size</a:t>
            </a:r>
          </a:p>
          <a:p>
            <a:r>
              <a:rPr lang="en-US" dirty="0"/>
              <a:t>Fine Tuning</a:t>
            </a:r>
          </a:p>
          <a:p>
            <a:pPr lvl="1"/>
            <a:r>
              <a:rPr lang="en-US" dirty="0"/>
              <a:t>Individual GLUE and </a:t>
            </a:r>
            <a:r>
              <a:rPr lang="en-US" dirty="0" err="1"/>
              <a:t>SuperGLUE</a:t>
            </a:r>
            <a:r>
              <a:rPr lang="en-US" dirty="0"/>
              <a:t> tasks</a:t>
            </a:r>
          </a:p>
          <a:p>
            <a:pPr lvl="1"/>
            <a:r>
              <a:rPr lang="en-US" dirty="0"/>
              <a:t>Concatenate all the benchmarks </a:t>
            </a:r>
          </a:p>
          <a:p>
            <a:pPr lvl="2"/>
            <a:r>
              <a:rPr lang="en-US" dirty="0"/>
              <a:t>Fine tune the model only once</a:t>
            </a:r>
          </a:p>
          <a:p>
            <a:pPr lvl="2"/>
            <a:r>
              <a:rPr lang="en-US" dirty="0"/>
              <a:t>Mitigate the overfitting problem for low-resourced tasks</a:t>
            </a:r>
          </a:p>
          <a:p>
            <a:pPr lvl="1"/>
            <a:r>
              <a:rPr lang="en-US" dirty="0"/>
              <a:t>Smaller batch size (batch size of 8 length-512 sequences) to avoid repetition for the low-resourced tasks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B062F-4F81-4F03-B5CE-06AA3301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6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07DAA-029B-4BD2-9B6F-E93C4B178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T5: In a Nutshell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010A1-3967-4DA9-B2A4-59B9E80DE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Beam Search:</a:t>
            </a:r>
          </a:p>
          <a:p>
            <a:pPr lvl="1"/>
            <a:r>
              <a:rPr lang="en-IN" dirty="0"/>
              <a:t>Greedy decoding may not be always “optimal” and may not model diversity</a:t>
            </a:r>
          </a:p>
          <a:p>
            <a:pPr lvl="1"/>
            <a:r>
              <a:rPr lang="en-IN" dirty="0"/>
              <a:t>Consider different possibilities (limited </a:t>
            </a:r>
            <a:r>
              <a:rPr lang="en-IN"/>
              <a:t>by bandwidth</a:t>
            </a:r>
            <a:r>
              <a:rPr lang="en-IN" dirty="0"/>
              <a:t>) may allow diverse sequence generation. </a:t>
            </a:r>
          </a:p>
          <a:p>
            <a:r>
              <a:rPr lang="en-IN" dirty="0"/>
              <a:t>Test set:</a:t>
            </a:r>
          </a:p>
          <a:p>
            <a:pPr lvl="1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B869DB-9F7F-4FB1-B435-8EC912CC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27803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1C2B32"/>
      </a:dk2>
      <a:lt2>
        <a:srgbClr val="E2E8E2"/>
      </a:lt2>
      <a:accent1>
        <a:srgbClr val="D838D6"/>
      </a:accent1>
      <a:accent2>
        <a:srgbClr val="8526C6"/>
      </a:accent2>
      <a:accent3>
        <a:srgbClr val="5538D8"/>
      </a:accent3>
      <a:accent4>
        <a:srgbClr val="264CC6"/>
      </a:accent4>
      <a:accent5>
        <a:srgbClr val="38A1D8"/>
      </a:accent5>
      <a:accent6>
        <a:srgbClr val="23B6AC"/>
      </a:accent6>
      <a:hlink>
        <a:srgbClr val="3F7D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82149</TotalTime>
  <Words>3458</Words>
  <Application>Microsoft Office PowerPoint</Application>
  <PresentationFormat>Widescreen</PresentationFormat>
  <Paragraphs>585</Paragraphs>
  <Slides>91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104" baseType="lpstr">
      <vt:lpstr>AAAAAC+Charter-Roman</vt:lpstr>
      <vt:lpstr>Arial</vt:lpstr>
      <vt:lpstr>Avenir Next LT Pro</vt:lpstr>
      <vt:lpstr>Calibri</vt:lpstr>
      <vt:lpstr>Cambria Math</vt:lpstr>
      <vt:lpstr>Cascadia Code Light</vt:lpstr>
      <vt:lpstr>Courier New</vt:lpstr>
      <vt:lpstr>Goudy Old Style</vt:lpstr>
      <vt:lpstr>Inter</vt:lpstr>
      <vt:lpstr>NimbusSanL-Regu</vt:lpstr>
      <vt:lpstr>NimbusSanL-ReguItal</vt:lpstr>
      <vt:lpstr>Wingdings</vt:lpstr>
      <vt:lpstr>FrostyVTI</vt:lpstr>
      <vt:lpstr>LLM Architectures</vt:lpstr>
      <vt:lpstr>Transformer as Foundation of LLMs</vt:lpstr>
      <vt:lpstr>Autoregressive (AR) Language Model</vt:lpstr>
      <vt:lpstr>Autoregressive Language Model (ARLM)</vt:lpstr>
      <vt:lpstr>Auto Encoder Language Model (AELM)</vt:lpstr>
      <vt:lpstr>PowerPoint Presentation</vt:lpstr>
      <vt:lpstr>PowerPoint Presentation</vt:lpstr>
      <vt:lpstr>PowerPoint Presentation</vt:lpstr>
      <vt:lpstr>Context Matters</vt:lpstr>
      <vt:lpstr>BERT: Transfer Learning Setting</vt:lpstr>
      <vt:lpstr>Copy of Transformer Encoder Block</vt:lpstr>
      <vt:lpstr>The BERT</vt:lpstr>
      <vt:lpstr>Input Tokens: Many Words are Rare</vt:lpstr>
      <vt:lpstr>Input Tokens: Sub-Word</vt:lpstr>
      <vt:lpstr>The [CLS] Token</vt:lpstr>
      <vt:lpstr>Pre-Train Once, Fine Tune Multiple Times</vt:lpstr>
      <vt:lpstr>BERT Pretraining: Masked Language Model</vt:lpstr>
      <vt:lpstr>BERT Pretraining: Masked Language Model</vt:lpstr>
      <vt:lpstr>BERT Pretraining: Next Sentence Prediction</vt:lpstr>
      <vt:lpstr>BERT Pretraining</vt:lpstr>
      <vt:lpstr>BERT Parameter Count</vt:lpstr>
      <vt:lpstr>Transfer Learning</vt:lpstr>
      <vt:lpstr>Using Pre-Trained Model</vt:lpstr>
      <vt:lpstr>Using Pre-Trained Model</vt:lpstr>
      <vt:lpstr>The Case of Transfer Learning in NLP</vt:lpstr>
      <vt:lpstr>Fine-Tuning: Task Specific Models</vt:lpstr>
      <vt:lpstr>Fine-Tuning: Task Specific Models</vt:lpstr>
      <vt:lpstr>Fine-Tuning: Task Specific Models</vt:lpstr>
      <vt:lpstr>BERT for Feature Extraction</vt:lpstr>
      <vt:lpstr>BERT for Feature Extraction</vt:lpstr>
      <vt:lpstr>BERT Family &amp; BERTology</vt:lpstr>
      <vt:lpstr>RoBERTa: Dynamic Masking</vt:lpstr>
      <vt:lpstr>Beyond BERT</vt:lpstr>
      <vt:lpstr>GPT: Auto-Regressive LM</vt:lpstr>
      <vt:lpstr>GPT: Auto-Regressive LM</vt:lpstr>
      <vt:lpstr>GPT-2: Parameter Count</vt:lpstr>
      <vt:lpstr>Transformer-XL</vt:lpstr>
      <vt:lpstr>Transformer-XL: Context Fragmentation</vt:lpstr>
      <vt:lpstr>Transformer-XL: Add Recurrence</vt:lpstr>
      <vt:lpstr>Transformer-XL: Add Recurrence</vt:lpstr>
      <vt:lpstr>Transformer-XL: Add Recurrence</vt:lpstr>
      <vt:lpstr>XLNet</vt:lpstr>
      <vt:lpstr>XLNet: AR vs AE Objectives</vt:lpstr>
      <vt:lpstr>XLNet: Issue with AE (BERT)</vt:lpstr>
      <vt:lpstr>XLNet: Improvise Bidirectionality</vt:lpstr>
      <vt:lpstr>XLNet: Permutation Language Model</vt:lpstr>
      <vt:lpstr>XLNet: Permutation Language Model</vt:lpstr>
      <vt:lpstr>XLNet: Permutation Language Model</vt:lpstr>
      <vt:lpstr>XLNet: The Architectural Innovations</vt:lpstr>
      <vt:lpstr>XLNet: Permutation</vt:lpstr>
      <vt:lpstr>XLNet: Permutation</vt:lpstr>
      <vt:lpstr>XLNet: Permutation</vt:lpstr>
      <vt:lpstr>XLNet: Permutation</vt:lpstr>
      <vt:lpstr>XLNet: Permutation</vt:lpstr>
      <vt:lpstr>XLNet: Permutation</vt:lpstr>
      <vt:lpstr>XLNet: Attention Mask</vt:lpstr>
      <vt:lpstr>XLNet: Attention Mask</vt:lpstr>
      <vt:lpstr>XLNet: Standard LM Parameterization</vt:lpstr>
      <vt:lpstr>XLNet: Reparameterization</vt:lpstr>
      <vt:lpstr>XLNet: Reparameterization</vt:lpstr>
      <vt:lpstr>XLNet: Two-Stream Architecture</vt:lpstr>
      <vt:lpstr>XLNet: Two-Stream Architecture</vt:lpstr>
      <vt:lpstr>XLNet: Two-Stream Architecture</vt:lpstr>
      <vt:lpstr>XLNet: Partial Prediction</vt:lpstr>
      <vt:lpstr>XLNet: Integrating Transformer-XL</vt:lpstr>
      <vt:lpstr>XLNet: Integrating Transformer-XL</vt:lpstr>
      <vt:lpstr>Text-to-Text Tasks</vt:lpstr>
      <vt:lpstr>Text-to-Text Tasks</vt:lpstr>
      <vt:lpstr>Text-to-Text Tasks</vt:lpstr>
      <vt:lpstr>Text-to-Text Task</vt:lpstr>
      <vt:lpstr>Text-to-Text Task</vt:lpstr>
      <vt:lpstr>Text-to-Text Task</vt:lpstr>
      <vt:lpstr>Text-to-Text Task</vt:lpstr>
      <vt:lpstr>Text-to-Text Task</vt:lpstr>
      <vt:lpstr>Text-to-Text Task</vt:lpstr>
      <vt:lpstr>Text-to-Text Transfer Transformer (T5)</vt:lpstr>
      <vt:lpstr>T5: Different Architectural Options</vt:lpstr>
      <vt:lpstr>T5: Different Architectural Options</vt:lpstr>
      <vt:lpstr>T5: Unsupervised Training Objectives</vt:lpstr>
      <vt:lpstr>MASS-Style Pre-training</vt:lpstr>
      <vt:lpstr>MASS-Style Pre-training</vt:lpstr>
      <vt:lpstr>T5: Unsupervised Training Objectives</vt:lpstr>
      <vt:lpstr>T5: Unsupervised Training Objectives</vt:lpstr>
      <vt:lpstr>T5: Unsupervised Training Objectives </vt:lpstr>
      <vt:lpstr>T5: Translating Task into Text-to-Text</vt:lpstr>
      <vt:lpstr>T5: How to Mix Pretraining Datasets?</vt:lpstr>
      <vt:lpstr>T5: Dataset Mixing Strategies</vt:lpstr>
      <vt:lpstr>T5: Dataset Mixing Strategies</vt:lpstr>
      <vt:lpstr>T5: In a Nutshell </vt:lpstr>
      <vt:lpstr>T5: In a Nutshell </vt:lpstr>
      <vt:lpstr>T5: In a Nutshell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</dc:title>
  <dc:creator>Plaban Kumar Bhowmick</dc:creator>
  <cp:lastModifiedBy>Plaban Kumar Bhowmick</cp:lastModifiedBy>
  <cp:revision>934</cp:revision>
  <dcterms:created xsi:type="dcterms:W3CDTF">2021-07-28T12:05:26Z</dcterms:created>
  <dcterms:modified xsi:type="dcterms:W3CDTF">2025-09-08T00:48:25Z</dcterms:modified>
</cp:coreProperties>
</file>