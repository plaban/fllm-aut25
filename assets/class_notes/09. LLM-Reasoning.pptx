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4"/>
  </p:notesMasterIdLst>
  <p:sldIdLst>
    <p:sldId id="258" r:id="rId2"/>
    <p:sldId id="259" r:id="rId3"/>
    <p:sldId id="260" r:id="rId4"/>
    <p:sldId id="261" r:id="rId5"/>
    <p:sldId id="262" r:id="rId6"/>
    <p:sldId id="263" r:id="rId7"/>
    <p:sldId id="268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009900"/>
    <a:srgbClr val="8DD783"/>
    <a:srgbClr val="EA9B26"/>
    <a:srgbClr val="158D82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3684B-A4BC-40E1-95BF-E6FD95234C0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61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415013"/>
            <a:ext cx="8567530" cy="2085696"/>
          </a:xfrm>
        </p:spPr>
        <p:txBody>
          <a:bodyPr/>
          <a:lstStyle/>
          <a:p>
            <a:r>
              <a:rPr lang="en-US" dirty="0"/>
              <a:t>LLM Reasoning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FF62-4C71-41DC-8BA9-EB703D08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Expectation from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73877-9C8B-4FF0-AD91-F10BCA786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the hardest math problems that humans cannot solve?</a:t>
            </a:r>
          </a:p>
          <a:p>
            <a:r>
              <a:rPr lang="en-US" dirty="0"/>
              <a:t>Discover new scientific theories?</a:t>
            </a:r>
          </a:p>
          <a:p>
            <a:r>
              <a:rPr lang="en-US" dirty="0"/>
              <a:t>Synthesize new materials or proteins?</a:t>
            </a:r>
          </a:p>
          <a:p>
            <a:r>
              <a:rPr lang="en-US" dirty="0"/>
              <a:t> Solve AGI?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B090-32D7-4545-8BA3-A8DF61C3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5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882E-77F2-4ADB-BAB4-0AF5106C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Expectation from AI?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A8D9D-F468-4946-AF55-4E32A9CC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EA74B-9018-4EFE-A340-B63CA7711223}"/>
              </a:ext>
            </a:extLst>
          </p:cNvPr>
          <p:cNvSpPr txBox="1"/>
          <p:nvPr/>
        </p:nvSpPr>
        <p:spPr>
          <a:xfrm>
            <a:off x="1391477" y="1520684"/>
            <a:ext cx="9501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AI should be able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to learn from just a few examples</a:t>
            </a:r>
            <a:r>
              <a:rPr lang="en-US" sz="3600" dirty="0"/>
              <a:t>, like what humans usually do</a:t>
            </a:r>
            <a:r>
              <a:rPr lang="en-IN" sz="36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C384E-7A61-4681-A1DA-9B76E021270E}"/>
              </a:ext>
            </a:extLst>
          </p:cNvPr>
          <p:cNvSpPr txBox="1"/>
          <p:nvPr/>
        </p:nvSpPr>
        <p:spPr>
          <a:xfrm>
            <a:off x="1391476" y="3592635"/>
            <a:ext cx="9501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Humans can learn from just a few examples</a:t>
            </a:r>
          </a:p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because humans can reason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4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49E3-6944-4981-A0FF-0A22BCF1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Symbolic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242B9-A9F8-41F8-89AC-36AB89FF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F590490-FB14-4B69-879E-219411292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156793"/>
              </p:ext>
            </p:extLst>
          </p:nvPr>
        </p:nvGraphicFramePr>
        <p:xfrm>
          <a:off x="2759261" y="1889926"/>
          <a:ext cx="6991026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8922">
                  <a:extLst>
                    <a:ext uri="{9D8B030D-6E8A-4147-A177-3AD203B41FA5}">
                      <a16:colId xmlns:a16="http://schemas.microsoft.com/office/drawing/2014/main" val="1645365747"/>
                    </a:ext>
                  </a:extLst>
                </a:gridCol>
                <a:gridCol w="2922104">
                  <a:extLst>
                    <a:ext uri="{9D8B030D-6E8A-4147-A177-3AD203B41FA5}">
                      <a16:colId xmlns:a16="http://schemas.microsoft.com/office/drawing/2014/main" val="513129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66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variation + despite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233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outdoor +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72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dirty="0" err="1"/>
                        <a:t>junglee</a:t>
                      </a:r>
                      <a:r>
                        <a:rPr lang="en-IN" sz="2800" dirty="0"/>
                        <a:t> + torso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6141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DC0A55-2CD2-46B0-B7C7-E0BEB1D22D1E}"/>
              </a:ext>
            </a:extLst>
          </p:cNvPr>
          <p:cNvSpPr txBox="1"/>
          <p:nvPr/>
        </p:nvSpPr>
        <p:spPr>
          <a:xfrm>
            <a:off x="2594112" y="4794720"/>
            <a:ext cx="80904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Rule: Take the middle letter of each word, and </a:t>
            </a:r>
            <a:br>
              <a:rPr lang="en-US" sz="2800" dirty="0"/>
            </a:br>
            <a:r>
              <a:rPr lang="en-US" sz="2800" dirty="0"/>
              <a:t>          then concatenate them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4027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7B89-11FE-472D-BC4A-7DA0559A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Symbolic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57F46-9D37-4189-9612-E3DC3773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F8066-14C6-431A-A484-F13F4C4B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9" y="2400831"/>
            <a:ext cx="4361595" cy="18044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B8B0BD-5A36-4FA8-BD5A-818511F76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083" y="2301440"/>
            <a:ext cx="5166808" cy="20194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9C0B83-4F10-4DB6-9D35-E2E3B21F9B71}"/>
              </a:ext>
            </a:extLst>
          </p:cNvPr>
          <p:cNvCxnSpPr/>
          <p:nvPr/>
        </p:nvCxnSpPr>
        <p:spPr>
          <a:xfrm>
            <a:off x="4870174" y="3311177"/>
            <a:ext cx="1530626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0558E70E-2212-4B4F-A519-56B643BFF10E}"/>
              </a:ext>
            </a:extLst>
          </p:cNvPr>
          <p:cNvSpPr/>
          <p:nvPr/>
        </p:nvSpPr>
        <p:spPr>
          <a:xfrm>
            <a:off x="9849678" y="3838867"/>
            <a:ext cx="914400" cy="96409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A75A-517B-4510-88F8-3F7C6188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Reasoning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D8A86-4F4D-47BD-8AAB-15B53498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21186-4ECF-404C-9AA6-E96E49C42BE7}"/>
              </a:ext>
            </a:extLst>
          </p:cNvPr>
          <p:cNvSpPr txBox="1"/>
          <p:nvPr/>
        </p:nvSpPr>
        <p:spPr>
          <a:xfrm>
            <a:off x="1140514" y="1334294"/>
            <a:ext cx="1025966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variation + despite --&gt; ap </a:t>
            </a:r>
          </a:p>
          <a:p>
            <a:r>
              <a:rPr lang="en-US" sz="2400" dirty="0"/>
              <a:t>the middle letter of the first word is 'a' and the middle letter of the second word is 'p'. Hence, together they form the output as 'ap’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outdoor + formula --&gt; dm </a:t>
            </a:r>
          </a:p>
          <a:p>
            <a:r>
              <a:rPr lang="en-US" sz="2400" dirty="0"/>
              <a:t>the middle letter of the first word is 'd' and the middle letter of the second word is 'm'. Together they become 'dm' 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A1183-88EA-4935-BBBE-2AB4EA3E70FA}"/>
              </a:ext>
            </a:extLst>
          </p:cNvPr>
          <p:cNvSpPr txBox="1"/>
          <p:nvPr/>
        </p:nvSpPr>
        <p:spPr>
          <a:xfrm>
            <a:off x="857786" y="4806891"/>
            <a:ext cx="70890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Word 1:</a:t>
            </a:r>
            <a:r>
              <a:rPr lang="en-IN" sz="2400" dirty="0"/>
              <a:t> </a:t>
            </a:r>
            <a:r>
              <a:rPr lang="en-IN" sz="2400" dirty="0" err="1"/>
              <a:t>junglee</a:t>
            </a:r>
            <a:r>
              <a:rPr lang="en-IN" sz="2400" dirty="0"/>
              <a:t> → letters = j u n g l e </a:t>
            </a:r>
            <a:r>
              <a:rPr lang="en-IN" sz="2400" dirty="0" err="1"/>
              <a:t>e</a:t>
            </a:r>
            <a:r>
              <a:rPr lang="en-IN" sz="2400" dirty="0"/>
              <a:t> (7 letters)</a:t>
            </a:r>
            <a:br>
              <a:rPr lang="en-IN" sz="2400" dirty="0"/>
            </a:br>
            <a:r>
              <a:rPr lang="en-IN" sz="2400" dirty="0"/>
              <a:t>→ middle letter = </a:t>
            </a:r>
            <a:r>
              <a:rPr lang="en-IN" sz="2400" b="1" dirty="0"/>
              <a:t>g</a:t>
            </a:r>
            <a:r>
              <a:rPr lang="en-IN" sz="2400" dirty="0"/>
              <a:t> (4th position)</a:t>
            </a:r>
          </a:p>
          <a:p>
            <a:endParaRPr lang="en-IN" sz="2400" dirty="0"/>
          </a:p>
          <a:p>
            <a:r>
              <a:rPr lang="en-IN" sz="2400" b="1" dirty="0"/>
              <a:t>Word 2:</a:t>
            </a:r>
            <a:r>
              <a:rPr lang="en-IN" sz="2400" dirty="0"/>
              <a:t> torso → letters = t o r s o (5 letters)</a:t>
            </a:r>
            <a:br>
              <a:rPr lang="en-IN" sz="2400" dirty="0"/>
            </a:br>
            <a:r>
              <a:rPr lang="en-IN" sz="2400" dirty="0"/>
              <a:t>→ middle letter = </a:t>
            </a:r>
            <a:r>
              <a:rPr lang="en-IN" sz="2400" b="1" dirty="0"/>
              <a:t>r</a:t>
            </a:r>
            <a:r>
              <a:rPr lang="en-IN" sz="2400" dirty="0"/>
              <a:t> (3rd position)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1BEBE6-D802-46B9-9AF0-16EE53009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740" y="5152141"/>
            <a:ext cx="2911092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1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857B-40B7-4640-9761-088198D3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NL Reasoning (NLR) Variations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C5EC-B52B-4022-8E27-A5B9214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ED4C8-8A6B-42FB-98AE-1DCD5B29A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81" y="1866764"/>
            <a:ext cx="11622584" cy="34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2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C419-C6C0-44CE-A49A-CC515FBD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Intermediate Steps are Important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98F74-F304-49D2-A7A9-97F85A6FD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E6E1B-AF5E-4B9C-A499-97D6D5FCD88F}"/>
              </a:ext>
            </a:extLst>
          </p:cNvPr>
          <p:cNvSpPr txBox="1"/>
          <p:nvPr/>
        </p:nvSpPr>
        <p:spPr>
          <a:xfrm>
            <a:off x="1160393" y="996363"/>
            <a:ext cx="96235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Ling et al 2017 in DeepMind pioneered using natural language rationale to solve math problems by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“... derive the final answer through a series of small steps”</a:t>
            </a:r>
            <a:r>
              <a:rPr lang="en-US" sz="2400" dirty="0"/>
              <a:t>. </a:t>
            </a:r>
            <a:r>
              <a:rPr lang="en-US" sz="2400" dirty="0">
                <a:solidFill>
                  <a:srgbClr val="C00000"/>
                </a:solidFill>
              </a:rPr>
              <a:t>Trained a sequence-to-sequence model from scratch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215E43-1C02-472C-A0F8-1E8BBABB3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62" y="2869648"/>
            <a:ext cx="7047396" cy="29919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31D86D-DBCC-400A-A8E5-45351603C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402" y="951407"/>
            <a:ext cx="1279893" cy="118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1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8357-267B-4B01-95B3-216535AB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&lt;Problem, </a:t>
            </a:r>
            <a:r>
              <a:rPr lang="en-IN" b="1" dirty="0"/>
              <a:t>Intermediate Steps</a:t>
            </a:r>
            <a:r>
              <a:rPr lang="en-IN" dirty="0"/>
              <a:t>, Answer&gt;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4B06-54D2-4F14-85C2-3600C657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6D879-3267-4E0B-B8BC-B040045E2140}"/>
              </a:ext>
            </a:extLst>
          </p:cNvPr>
          <p:cNvSpPr txBox="1"/>
          <p:nvPr/>
        </p:nvSpPr>
        <p:spPr>
          <a:xfrm>
            <a:off x="2014744" y="938502"/>
            <a:ext cx="81625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Cobbe et al 2021 in </a:t>
            </a:r>
            <a:r>
              <a:rPr lang="en-US" sz="2400" dirty="0" err="1"/>
              <a:t>OpenAI</a:t>
            </a:r>
            <a:r>
              <a:rPr lang="en-US" sz="2400" dirty="0"/>
              <a:t> built a much larger math word problem dataset (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GSM8K</a:t>
            </a:r>
            <a:r>
              <a:rPr lang="en-US" sz="2400" dirty="0"/>
              <a:t>)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with natural language rationales</a:t>
            </a:r>
            <a:r>
              <a:rPr lang="en-US" sz="2400" dirty="0"/>
              <a:t>, and used it to </a:t>
            </a:r>
            <a:r>
              <a:rPr lang="en-US" sz="2400" dirty="0">
                <a:solidFill>
                  <a:srgbClr val="C00000"/>
                </a:solidFill>
              </a:rPr>
              <a:t>finetune GPT3</a:t>
            </a:r>
            <a:endParaRPr lang="en-IN" sz="2400" dirty="0">
              <a:solidFill>
                <a:srgbClr val="C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053354-67BA-4780-B1B5-7853997DB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382" y="2520014"/>
            <a:ext cx="7993381" cy="33994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E81DA-0B4C-438E-B8F6-2863659C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763" y="938502"/>
            <a:ext cx="960203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08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8A56-8368-43D6-8162-3265BC3E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Show Your Work: Scratchpads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BC039-29BF-4093-A664-47A025F8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D8F7C-2A6E-41F1-82C3-3C59F582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49" y="1173225"/>
            <a:ext cx="8737351" cy="5298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D5FE4-B8F0-4688-AD28-B0B7F348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484" y="3130179"/>
            <a:ext cx="1082134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2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2B61-A27A-4DC7-8443-B64EABFB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 Fine-Tuning Enough?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934D5-3701-4AF0-BE37-D4F2B22C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2B582-7657-4DE9-B217-D14C8DDA8057}"/>
              </a:ext>
            </a:extLst>
          </p:cNvPr>
          <p:cNvSpPr txBox="1"/>
          <p:nvPr/>
        </p:nvSpPr>
        <p:spPr>
          <a:xfrm>
            <a:off x="1369114" y="1122978"/>
            <a:ext cx="8907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Fine-tune GPT-3 on GSM8K (arithmetic): (Cobbe et al. 2021)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39DDD7-84B5-48F5-8ACD-E277FC498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14" y="1798936"/>
            <a:ext cx="5159187" cy="49915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F43EBA-0FB8-4FCB-ACB9-083CF392CAB8}"/>
              </a:ext>
            </a:extLst>
          </p:cNvPr>
          <p:cNvSpPr txBox="1"/>
          <p:nvPr/>
        </p:nvSpPr>
        <p:spPr>
          <a:xfrm>
            <a:off x="6790778" y="3309977"/>
            <a:ext cx="49521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Conjecture: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To achieve &gt; 80%, needs 100 times more fine-tuning data for 175B model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80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3E62-3BA1-47B5-B6CF-6CFCCD15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 Few-Shot Standard Prompting Enough?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7A36E-3EE0-403E-9717-196D703F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6D364-935C-4CC1-BBB9-8FCE8041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18" y="943702"/>
            <a:ext cx="4921086" cy="4970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89C229-6F8C-44C0-BB71-6B4A26C879CD}"/>
              </a:ext>
            </a:extLst>
          </p:cNvPr>
          <p:cNvSpPr txBox="1"/>
          <p:nvPr/>
        </p:nvSpPr>
        <p:spPr>
          <a:xfrm>
            <a:off x="6470377" y="3230215"/>
            <a:ext cx="4512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Few-shot standard prompting with even larger model (</a:t>
            </a:r>
            <a:r>
              <a:rPr lang="en-US" sz="2400" dirty="0" err="1">
                <a:solidFill>
                  <a:srgbClr val="FF0000"/>
                </a:solidFill>
              </a:rPr>
              <a:t>PaLM</a:t>
            </a:r>
            <a:r>
              <a:rPr lang="en-US" sz="2400" dirty="0">
                <a:solidFill>
                  <a:srgbClr val="FF0000"/>
                </a:solidFill>
              </a:rPr>
              <a:t> 540B) also does not work well.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6C8EF5-ED81-4072-80BD-2A29E91612CB}"/>
              </a:ext>
            </a:extLst>
          </p:cNvPr>
          <p:cNvSpPr txBox="1"/>
          <p:nvPr/>
        </p:nvSpPr>
        <p:spPr>
          <a:xfrm>
            <a:off x="1091318" y="5914297"/>
            <a:ext cx="10110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Scaling up language model size does not efficiently achieve high performances, for Arithmetic Reasoning (AR), </a:t>
            </a:r>
            <a:r>
              <a:rPr lang="en-US" dirty="0" err="1">
                <a:solidFill>
                  <a:srgbClr val="C00000"/>
                </a:solidFill>
              </a:rPr>
              <a:t>CommonSense</a:t>
            </a:r>
            <a:r>
              <a:rPr lang="en-US" dirty="0">
                <a:solidFill>
                  <a:srgbClr val="C00000"/>
                </a:solidFill>
              </a:rPr>
              <a:t> Reasoning (CR) and Symbolic Reasoning (SR) tasks.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0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EE8F-1E8A-4D0C-AE60-74120E39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Chain-of-Thought Prompting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3C64-D8FE-44FC-B4D4-1E0761F0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7591A-6020-41CE-AB49-0693B8F74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967527"/>
            <a:ext cx="4711147" cy="3031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B9F7E2-9924-4D3E-B405-CAE584C03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242" y="818438"/>
            <a:ext cx="6548303" cy="3107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DD243F-2AE8-46EF-9F64-D560FB18D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21" y="4226899"/>
            <a:ext cx="4505492" cy="1761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F3650C-9D18-4391-80E4-B42FCF5E1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967" y="4091219"/>
            <a:ext cx="6164852" cy="19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9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40D3-F8DE-4667-8E9D-1BF4441E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CoT</a:t>
            </a:r>
            <a:r>
              <a:rPr lang="en-IN" dirty="0"/>
              <a:t> Prompting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FFBB-C703-41A4-8C92-7B6590F5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E4C01-8E73-4F07-88E9-4450D231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21" y="1490168"/>
            <a:ext cx="9205758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83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76BE-F564-4726-A049-FE8D35B5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Intermediate Steps are Helpful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F8593-8324-4B34-83DE-CB837F9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77982C-25E9-4C62-9620-331A5AC4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8" y="1325697"/>
            <a:ext cx="10434699" cy="46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02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F859-ABA2-4AB7-9FBB-1EE36294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Intermediate Steps Vs. Final Answer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8FD2C-1F8C-4D31-B80A-46AB7060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FA064-CC5A-456F-A7E9-C5A970988EFB}"/>
              </a:ext>
            </a:extLst>
          </p:cNvPr>
          <p:cNvSpPr txBox="1"/>
          <p:nvPr/>
        </p:nvSpPr>
        <p:spPr>
          <a:xfrm>
            <a:off x="854765" y="1201843"/>
            <a:ext cx="4442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LLM decoding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D70B1-189F-4D2D-81B5-91208113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32" y="1956666"/>
            <a:ext cx="8397968" cy="5944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B24116-A2C6-445E-9B18-18F1728A43EA}"/>
              </a:ext>
            </a:extLst>
          </p:cNvPr>
          <p:cNvSpPr txBox="1"/>
          <p:nvPr/>
        </p:nvSpPr>
        <p:spPr>
          <a:xfrm>
            <a:off x="854765" y="3008165"/>
            <a:ext cx="44427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What we want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07526A-630D-4A54-8CE6-1C207A3A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832" y="3806947"/>
            <a:ext cx="5624047" cy="5791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B6F75F-4F0A-4A9C-AF0C-B796AA8E4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2" y="4601059"/>
            <a:ext cx="8626588" cy="1394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ECB17C-AB64-43F1-9360-482C1E893EC2}"/>
              </a:ext>
            </a:extLst>
          </p:cNvPr>
          <p:cNvSpPr txBox="1"/>
          <p:nvPr/>
        </p:nvSpPr>
        <p:spPr>
          <a:xfrm>
            <a:off x="2355574" y="5984825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170284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B491E-CD67-4AB4-860A-42986265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Self-Consistency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92184-A98C-4B7C-84F0-B90DEB20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D897B-9967-429F-812B-552075FE5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60" y="1088950"/>
            <a:ext cx="8535140" cy="1082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301803-7C39-4492-9107-BE999E7C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660" y="2418962"/>
            <a:ext cx="2743438" cy="388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18BD9-7E3A-4EA8-BB99-B8E86104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206" y="3055494"/>
            <a:ext cx="7635902" cy="3962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A72CD5-AB50-4F2E-A4FC-8DDC9318C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206" y="3493411"/>
            <a:ext cx="8116003" cy="586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5AF2BF-AE0A-4C20-88A5-980B864BC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000" y="4251503"/>
            <a:ext cx="7712108" cy="624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A827C-566E-438E-B581-BBDBFB338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3904" y="5259187"/>
            <a:ext cx="4381880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8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6BCAA-623F-4356-A9C2-C6D6C3DC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Self-Consistency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9C45B-D890-4668-BE09-D4F6E238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1BAFD-1701-4ACD-9CD6-1FF79641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31" y="1661975"/>
            <a:ext cx="8367485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05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C32C-B3CC-4CD1-B849-0F2B64FE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Limitations: Prompt-based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75E39-5664-48AA-850E-08650EF3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24542-49FC-4B85-863D-19F6AC50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212" y="1049194"/>
            <a:ext cx="8626588" cy="1082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D4F383-3E85-45AF-86C4-550327ACE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212" y="2440027"/>
            <a:ext cx="8123624" cy="685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8BD30-0D1E-476B-9C8F-AB38A43ADA51}"/>
              </a:ext>
            </a:extLst>
          </p:cNvPr>
          <p:cNvSpPr txBox="1"/>
          <p:nvPr/>
        </p:nvSpPr>
        <p:spPr>
          <a:xfrm>
            <a:off x="4327600" y="3075828"/>
            <a:ext cx="2683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Irrelevant Context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8CF4F5-EDAB-4E2D-97AE-A231A3801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460" y="3949102"/>
            <a:ext cx="8519898" cy="1066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82D16A-A8CA-456C-8612-42E85C146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994" y="5355267"/>
            <a:ext cx="8420830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CE86-1C33-41D8-995E-3AAB41B6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Self-Correction in LLM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530F-4683-4197-97E7-400CE7AB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DF45B-B37B-48BB-933E-D922655DBD31}"/>
              </a:ext>
            </a:extLst>
          </p:cNvPr>
          <p:cNvSpPr txBox="1"/>
          <p:nvPr/>
        </p:nvSpPr>
        <p:spPr>
          <a:xfrm>
            <a:off x="1329357" y="6357600"/>
            <a:ext cx="9027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Huang et al. </a:t>
            </a:r>
            <a:r>
              <a:rPr lang="en-IN" dirty="0">
                <a:solidFill>
                  <a:srgbClr val="FF0000"/>
                </a:solidFill>
              </a:rPr>
              <a:t>Large Language Models Cannot Self-Correct Reasoning Yet</a:t>
            </a:r>
            <a:r>
              <a:rPr lang="en-IN" dirty="0"/>
              <a:t>. ICLR 2024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D4FFEE-0BF8-485F-AC27-5C397E7F0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261" y="908685"/>
            <a:ext cx="8893311" cy="12955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5FCD1B-846C-444C-88B5-E87AC59D8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94" y="2314141"/>
            <a:ext cx="8352244" cy="4724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FFC707-C0F7-47C6-A309-F1BD88F26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013" y="2920759"/>
            <a:ext cx="7635902" cy="3962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D56A1C-D653-4039-B3C0-2E6065398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068" y="3540968"/>
            <a:ext cx="8359864" cy="8916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E070A5-2E14-455C-BA6F-67DFCCB08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5013" y="4620090"/>
            <a:ext cx="6492803" cy="4419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047BA1-AE62-4085-B065-B7FC8186FD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068" y="5364800"/>
            <a:ext cx="8062659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2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FA1C-9627-4F48-B8BE-5C4049BA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Self-Correction in LLM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4A0B2-3902-4E1C-8488-FF21CCBB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A9A610-4A91-4866-B2D3-43FC5D35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819" y="2183283"/>
            <a:ext cx="6111770" cy="304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CA8E3E-150B-4CD5-923F-CB7F7DC24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523" y="2656569"/>
            <a:ext cx="7567316" cy="327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2CBB80-DF36-40E5-89E3-9C38BCF68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523" y="3221627"/>
            <a:ext cx="8695173" cy="8230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9961E7-AAB9-40B8-83F4-D36FDB67E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523" y="4404777"/>
            <a:ext cx="6492803" cy="39627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9061DB7-EF85-438B-A4BA-A2D2354E7478}"/>
              </a:ext>
            </a:extLst>
          </p:cNvPr>
          <p:cNvGrpSpPr/>
          <p:nvPr/>
        </p:nvGrpSpPr>
        <p:grpSpPr>
          <a:xfrm>
            <a:off x="1319420" y="988542"/>
            <a:ext cx="9971432" cy="880015"/>
            <a:chOff x="1319420" y="988542"/>
            <a:chExt cx="9971432" cy="88001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1E14DF-A9F5-4A00-A641-AEC47734C6DE}"/>
                </a:ext>
              </a:extLst>
            </p:cNvPr>
            <p:cNvSpPr txBox="1"/>
            <p:nvPr/>
          </p:nvSpPr>
          <p:spPr>
            <a:xfrm>
              <a:off x="1319420" y="988542"/>
              <a:ext cx="997143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800" b="0" i="0" u="none" strike="noStrike" baseline="0" dirty="0">
                  <a:latin typeface="ArialMT"/>
                </a:rPr>
                <a:t>Terry eats 2 yogurts a day. They are currently on sale at 4 yogurts for $5.00. How</a:t>
              </a:r>
            </a:p>
            <a:p>
              <a:pPr algn="l"/>
              <a:r>
                <a:rPr lang="en-US" sz="1800" b="0" i="0" u="none" strike="noStrike" baseline="0" dirty="0">
                  <a:latin typeface="ArialMT"/>
                </a:rPr>
                <a:t>much does he spend on yogurt over 30 days?</a:t>
              </a:r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0BA9BB7-143B-48FC-8BCE-F7F8CBE9A713}"/>
                </a:ext>
              </a:extLst>
            </p:cNvPr>
            <p:cNvCxnSpPr/>
            <p:nvPr/>
          </p:nvCxnSpPr>
          <p:spPr>
            <a:xfrm>
              <a:off x="1319420" y="1868557"/>
              <a:ext cx="966331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0B29013-81C4-479A-B5BC-79E90C539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819" y="5070039"/>
            <a:ext cx="7757832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DE65-BDB3-4D2D-8A72-563578C3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Self-Correction: Performance Drop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58895-E431-4898-A68F-A79B868B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0840C-6661-4CB2-BF16-1D2347C65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39" y="1830353"/>
            <a:ext cx="10900245" cy="29205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3F78D4-618D-46E1-B651-E1A9693BFF9E}"/>
              </a:ext>
            </a:extLst>
          </p:cNvPr>
          <p:cNvSpPr/>
          <p:nvPr/>
        </p:nvSpPr>
        <p:spPr>
          <a:xfrm>
            <a:off x="6261652" y="3081130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AD77B4-0B68-4892-BE2B-3E3231CC4678}"/>
              </a:ext>
            </a:extLst>
          </p:cNvPr>
          <p:cNvSpPr/>
          <p:nvPr/>
        </p:nvSpPr>
        <p:spPr>
          <a:xfrm>
            <a:off x="8161684" y="3096815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418509-52F0-4ADB-8160-3E9F61F1BA3A}"/>
              </a:ext>
            </a:extLst>
          </p:cNvPr>
          <p:cNvSpPr/>
          <p:nvPr/>
        </p:nvSpPr>
        <p:spPr>
          <a:xfrm>
            <a:off x="10147257" y="3096815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EF1FED-3871-4CD3-AD32-87A0D0E594DC}"/>
              </a:ext>
            </a:extLst>
          </p:cNvPr>
          <p:cNvSpPr/>
          <p:nvPr/>
        </p:nvSpPr>
        <p:spPr>
          <a:xfrm>
            <a:off x="6261652" y="4161048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DDD892-98F9-42C0-9384-F65AC643AA8A}"/>
              </a:ext>
            </a:extLst>
          </p:cNvPr>
          <p:cNvSpPr/>
          <p:nvPr/>
        </p:nvSpPr>
        <p:spPr>
          <a:xfrm>
            <a:off x="8161684" y="4176733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B6D06D-89D9-442A-8D63-947FE35A3858}"/>
              </a:ext>
            </a:extLst>
          </p:cNvPr>
          <p:cNvSpPr/>
          <p:nvPr/>
        </p:nvSpPr>
        <p:spPr>
          <a:xfrm>
            <a:off x="10147257" y="4176733"/>
            <a:ext cx="715618" cy="347870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6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DDF5-4056-4B15-83BD-ABDA2F87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Self-Correction: Oracle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F7407-DAD5-43A8-99CE-4CA0DCC4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B59F4-7FB8-40B6-9903-57D64669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08" y="1710258"/>
            <a:ext cx="9979402" cy="2523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93F041-3900-4564-AD98-44F786DEAA22}"/>
              </a:ext>
            </a:extLst>
          </p:cNvPr>
          <p:cNvSpPr txBox="1"/>
          <p:nvPr/>
        </p:nvSpPr>
        <p:spPr>
          <a:xfrm>
            <a:off x="1983685" y="4715711"/>
            <a:ext cx="877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Oracle: Let LLMs self correct only when the answer is wrong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537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2AAD-2EE5-4B3E-871D-31090212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Dependence on Premise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84966-EB05-4304-A36D-85DE8920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95569-E44A-4EF4-A8C3-56E9896B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90" y="1462627"/>
            <a:ext cx="9228620" cy="1905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B44F67-8A31-4855-8BBF-1F37D9343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04" y="3603681"/>
            <a:ext cx="9144792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9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C632-A253-4257-969E-E8B3CC0F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Dependence on Premise Order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F8FF5-38E3-4C50-AB08-2559DE95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F9266F-5B44-4067-881D-A34D92E7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68" y="1119597"/>
            <a:ext cx="8961897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8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A97AE-D670-469D-9E3A-49E21119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57E56-C011-42FE-8903-1FEEBE6CA643}"/>
              </a:ext>
            </a:extLst>
          </p:cNvPr>
          <p:cNvSpPr txBox="1"/>
          <p:nvPr/>
        </p:nvSpPr>
        <p:spPr>
          <a:xfrm>
            <a:off x="4204252" y="2912167"/>
            <a:ext cx="4214295" cy="83099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defTabSz="914400">
              <a:lnSpc>
                <a:spcPct val="100000"/>
              </a:lnSpc>
              <a:spcBef>
                <a:spcPct val="0"/>
              </a:spcBef>
              <a:buNone/>
              <a:defRPr sz="4800" cap="none" spc="0" baseline="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 Formal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9903F-4957-4789-B5BC-B22F16BCB753}"/>
              </a:ext>
            </a:extLst>
          </p:cNvPr>
          <p:cNvSpPr txBox="1"/>
          <p:nvPr/>
        </p:nvSpPr>
        <p:spPr>
          <a:xfrm>
            <a:off x="1901324" y="6316562"/>
            <a:ext cx="882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Jun Wang, A Tutorial on LLM Reasoning: Relevant Methods behind </a:t>
            </a:r>
            <a:r>
              <a:rPr lang="en-US" dirty="0" err="1"/>
              <a:t>ChatGPT</a:t>
            </a:r>
            <a:r>
              <a:rPr lang="en-US" dirty="0"/>
              <a:t> o1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659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29BA-3EFB-413D-BAF1-F0678E5B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Modes of Cognitive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5D638-25EC-420D-B824-BD3C950F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6695A-8768-4B5B-AC4B-1756F0F6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1507179"/>
            <a:ext cx="5532783" cy="3279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32F053-A996-43FF-BE54-CAC3F049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75" y="1641725"/>
            <a:ext cx="5780049" cy="3145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1BCF81-7011-488A-8C77-06A70CA2902D}"/>
              </a:ext>
            </a:extLst>
          </p:cNvPr>
          <p:cNvSpPr txBox="1"/>
          <p:nvPr/>
        </p:nvSpPr>
        <p:spPr>
          <a:xfrm>
            <a:off x="931793" y="5005419"/>
            <a:ext cx="4186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Fast and instinctive, often driven by automatic processes</a:t>
            </a:r>
            <a:endParaRPr lang="en-IN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447717-2D72-4119-84F1-ECA7803E2BBA}"/>
              </a:ext>
            </a:extLst>
          </p:cNvPr>
          <p:cNvSpPr txBox="1"/>
          <p:nvPr/>
        </p:nvSpPr>
        <p:spPr>
          <a:xfrm>
            <a:off x="6843225" y="5018340"/>
            <a:ext cx="45569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Deliberate, computational, and in-depth thinking, allowing for careful reflection and thorough 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745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4C63-E028-4E8C-A93D-FCF7676A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Thinking Deep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1D8F-02DC-42A4-9A53-48E380B97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Complex problems require deep thought</a:t>
            </a:r>
          </a:p>
          <a:p>
            <a:r>
              <a:rPr lang="en-IN" dirty="0"/>
              <a:t>Deep thinking </a:t>
            </a:r>
            <a:r>
              <a:rPr lang="en-IN" dirty="0">
                <a:sym typeface="Wingdings" panose="05000000000000000000" pitchFamily="2" charset="2"/>
              </a:rPr>
              <a:t> Step-by-Step progression</a:t>
            </a:r>
          </a:p>
          <a:p>
            <a:pPr lvl="1"/>
            <a:r>
              <a:rPr lang="en-IN" dirty="0">
                <a:sym typeface="Wingdings" panose="05000000000000000000" pitchFamily="2" charset="2"/>
              </a:rPr>
              <a:t>Chain of thought reasoning</a:t>
            </a:r>
          </a:p>
          <a:p>
            <a:pPr lvl="1"/>
            <a:r>
              <a:rPr lang="en-US" dirty="0"/>
              <a:t>“describe your reasoning in steps”</a:t>
            </a:r>
          </a:p>
          <a:p>
            <a:pPr lvl="1"/>
            <a:r>
              <a:rPr lang="en-US" dirty="0"/>
              <a:t>“explain your answer step by step”</a:t>
            </a:r>
          </a:p>
          <a:p>
            <a:r>
              <a:rPr lang="en-US" dirty="0"/>
              <a:t>Does not truly embed the chain of thought ability</a:t>
            </a:r>
          </a:p>
          <a:p>
            <a:pPr lvl="1"/>
            <a:r>
              <a:rPr lang="en-US" dirty="0"/>
              <a:t>Embedding </a:t>
            </a:r>
            <a:r>
              <a:rPr lang="en-US" dirty="0" err="1"/>
              <a:t>CoT</a:t>
            </a:r>
            <a:r>
              <a:rPr lang="en-US" dirty="0"/>
              <a:t>: Native Chain-of-Thought (</a:t>
            </a:r>
            <a:r>
              <a:rPr lang="en-US" dirty="0" err="1"/>
              <a:t>NativeCoT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BB2D0-8C73-474B-BBA1-6A8EB347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9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6B1FB-63B3-4F9D-823A-CFBA5D60E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Reasoning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A635-874C-4ECE-A6A8-EDFFC1A6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2C6415-B094-4C84-85E2-1D4A9FAF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170" y="1839212"/>
            <a:ext cx="5996549" cy="22459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3D6C9-3B32-4EB1-BA68-A81AFC6C521E}"/>
              </a:ext>
            </a:extLst>
          </p:cNvPr>
          <p:cNvSpPr txBox="1"/>
          <p:nvPr/>
        </p:nvSpPr>
        <p:spPr>
          <a:xfrm>
            <a:off x="2832652" y="4055590"/>
            <a:ext cx="138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Question or Prompt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49DB0-89E0-4EB2-8C1F-0CD0329E28E5}"/>
              </a:ext>
            </a:extLst>
          </p:cNvPr>
          <p:cNvSpPr txBox="1"/>
          <p:nvPr/>
        </p:nvSpPr>
        <p:spPr>
          <a:xfrm>
            <a:off x="4993464" y="4055590"/>
            <a:ext cx="138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Reasoning 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DA7E5-7923-49D9-A3F7-5CC0EE458931}"/>
              </a:ext>
            </a:extLst>
          </p:cNvPr>
          <p:cNvSpPr txBox="1"/>
          <p:nvPr/>
        </p:nvSpPr>
        <p:spPr>
          <a:xfrm>
            <a:off x="7333180" y="4055589"/>
            <a:ext cx="138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57628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9054-F186-44FF-9A59-50FF33BB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Reasoning: Markov Decision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5F87-74D8-4D0B-B533-33478E4A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F86EA-D1D7-4470-9D5E-DB596AA27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91" y="1091372"/>
            <a:ext cx="11656947" cy="28842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156BF2-D69A-4CFC-873D-4AE766678A98}"/>
                  </a:ext>
                </a:extLst>
              </p:cNvPr>
              <p:cNvSpPr txBox="1"/>
              <p:nvPr/>
            </p:nvSpPr>
            <p:spPr>
              <a:xfrm>
                <a:off x="854766" y="4164496"/>
                <a:ext cx="4885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Current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156BF2-D69A-4CFC-873D-4AE766678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6" y="4164496"/>
                <a:ext cx="4885505" cy="461665"/>
              </a:xfrm>
              <a:prstGeom prst="rect">
                <a:avLst/>
              </a:prstGeom>
              <a:blipFill>
                <a:blip r:embed="rId3"/>
                <a:stretch>
                  <a:fillRect l="-1870" t="-9211" r="-125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F2C873-F0D3-4D60-8F8C-387BDF229E52}"/>
                  </a:ext>
                </a:extLst>
              </p:cNvPr>
              <p:cNvSpPr txBox="1"/>
              <p:nvPr/>
            </p:nvSpPr>
            <p:spPr>
              <a:xfrm>
                <a:off x="5837584" y="4178215"/>
                <a:ext cx="11569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F2C873-F0D3-4D60-8F8C-387BDF229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584" y="4178215"/>
                <a:ext cx="1156983" cy="461665"/>
              </a:xfrm>
              <a:prstGeom prst="rect">
                <a:avLst/>
              </a:prstGeom>
              <a:blipFill>
                <a:blip r:embed="rId4"/>
                <a:stretch>
                  <a:fillRect r="-2116" b="-144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71758A-7D68-4CA8-9BF5-430BA7284880}"/>
                  </a:ext>
                </a:extLst>
              </p:cNvPr>
              <p:cNvSpPr txBox="1"/>
              <p:nvPr/>
            </p:nvSpPr>
            <p:spPr>
              <a:xfrm>
                <a:off x="854765" y="4883426"/>
                <a:ext cx="51007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Intermediate step (action):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71758A-7D68-4CA8-9BF5-430BA7284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5" y="4883426"/>
                <a:ext cx="5100755" cy="461665"/>
              </a:xfrm>
              <a:prstGeom prst="rect">
                <a:avLst/>
              </a:prstGeom>
              <a:blipFill>
                <a:blip r:embed="rId5"/>
                <a:stretch>
                  <a:fillRect l="-1792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C9C23F-C4A9-4BF5-8600-810EA6E97E31}"/>
                  </a:ext>
                </a:extLst>
              </p:cNvPr>
              <p:cNvSpPr txBox="1"/>
              <p:nvPr/>
            </p:nvSpPr>
            <p:spPr>
              <a:xfrm>
                <a:off x="5955520" y="4897145"/>
                <a:ext cx="4339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State Transition: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C9C23F-C4A9-4BF5-8600-810EA6E97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520" y="4897145"/>
                <a:ext cx="4339008" cy="461665"/>
              </a:xfrm>
              <a:prstGeom prst="rect">
                <a:avLst/>
              </a:prstGeom>
              <a:blipFill>
                <a:blip r:embed="rId6"/>
                <a:stretch>
                  <a:fillRect l="-2247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9FC022-E9A5-4475-A243-D958B705748F}"/>
                  </a:ext>
                </a:extLst>
              </p:cNvPr>
              <p:cNvSpPr txBox="1"/>
              <p:nvPr/>
            </p:nvSpPr>
            <p:spPr>
              <a:xfrm>
                <a:off x="854765" y="5462128"/>
                <a:ext cx="26772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Final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9FC022-E9A5-4475-A243-D958B7057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5" y="5462128"/>
                <a:ext cx="2677271" cy="461665"/>
              </a:xfrm>
              <a:prstGeom prst="rect">
                <a:avLst/>
              </a:prstGeom>
              <a:blipFill>
                <a:blip r:embed="rId7"/>
                <a:stretch>
                  <a:fillRect l="-3417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4D814A-346C-4A84-8E2B-006357091872}"/>
                  </a:ext>
                </a:extLst>
              </p:cNvPr>
              <p:cNvSpPr txBox="1"/>
              <p:nvPr/>
            </p:nvSpPr>
            <p:spPr>
              <a:xfrm>
                <a:off x="4317296" y="5489566"/>
                <a:ext cx="36681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Final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4D814A-346C-4A84-8E2B-006357091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296" y="5489566"/>
                <a:ext cx="3668184" cy="461665"/>
              </a:xfrm>
              <a:prstGeom prst="rect">
                <a:avLst/>
              </a:prstGeom>
              <a:blipFill>
                <a:blip r:embed="rId8"/>
                <a:stretch>
                  <a:fillRect l="-2492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97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7975-1CC9-4AD1-9818-82BA31BA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Reasoning: Markov Decision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2F071-254D-40AA-8CBF-F648517B80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Policy: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𝐿𝐿𝑀</m:t>
                        </m:r>
                      </m:sub>
                    </m:sSub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r>
                  <a:rPr lang="en-IN" dirty="0"/>
                  <a:t>Reward:</a:t>
                </a:r>
              </a:p>
              <a:p>
                <a:pPr lvl="1"/>
                <a:r>
                  <a:rPr lang="en-IN" dirty="0"/>
                  <a:t>Intermediate Reward: </a:t>
                </a:r>
              </a:p>
              <a:p>
                <a:pPr lvl="2"/>
                <a:r>
                  <a:rPr lang="en-IN" dirty="0"/>
                  <a:t>+</a:t>
                </a:r>
                <a:r>
                  <a:rPr lang="en-IN" dirty="0" err="1"/>
                  <a:t>Ve</a:t>
                </a:r>
                <a:r>
                  <a:rPr lang="en-IN" dirty="0"/>
                  <a:t> for </a:t>
                </a:r>
                <a:r>
                  <a:rPr lang="en-US" dirty="0"/>
                  <a:t>correct or meaningful reasoning steps</a:t>
                </a:r>
              </a:p>
              <a:p>
                <a:pPr lvl="2"/>
                <a:r>
                  <a:rPr lang="en-US" dirty="0"/>
                  <a:t>-</a:t>
                </a:r>
                <a:r>
                  <a:rPr lang="en-US" dirty="0" err="1"/>
                  <a:t>Ve</a:t>
                </a:r>
                <a:r>
                  <a:rPr lang="en-US" dirty="0"/>
                  <a:t> for Incorrect or irrelevant steps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Final Reward:</a:t>
                </a:r>
              </a:p>
              <a:p>
                <a:pPr lvl="2"/>
                <a:r>
                  <a:rPr lang="en-IN" dirty="0"/>
                  <a:t>Largest reward for correct final answer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2F071-254D-40AA-8CBF-F648517B8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ED731-1A46-485E-9358-E37FC4AD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3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3884-80DC-4C65-A34F-2BACCDEA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 Generation and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3C024-AEE4-4DA3-9EEC-4FA4A933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2001C0-1805-4532-85AF-11870BC1311B}"/>
                  </a:ext>
                </a:extLst>
              </p:cNvPr>
              <p:cNvSpPr txBox="1"/>
              <p:nvPr/>
            </p:nvSpPr>
            <p:spPr>
              <a:xfrm>
                <a:off x="5322403" y="1561644"/>
                <a:ext cx="39196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2001C0-1805-4532-85AF-11870BC13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403" y="1561644"/>
                <a:ext cx="39196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1F1E7-F1D3-49DA-85AB-727447CCBE67}"/>
                  </a:ext>
                </a:extLst>
              </p:cNvPr>
              <p:cNvSpPr txBox="1"/>
              <p:nvPr/>
            </p:nvSpPr>
            <p:spPr>
              <a:xfrm>
                <a:off x="3872454" y="2936557"/>
                <a:ext cx="3291863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B1F1E7-F1D3-49DA-85AB-727447CCB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454" y="2936557"/>
                <a:ext cx="329186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04FB2C-189B-46B7-8765-697E8AE31EA4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518386" y="2054087"/>
            <a:ext cx="1" cy="88247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9543F5-ECB2-465C-8162-3F35CBB221C3}"/>
                  </a:ext>
                </a:extLst>
              </p:cNvPr>
              <p:cNvSpPr txBox="1"/>
              <p:nvPr/>
            </p:nvSpPr>
            <p:spPr>
              <a:xfrm>
                <a:off x="3872454" y="4311470"/>
                <a:ext cx="3167919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9543F5-ECB2-465C-8162-3F35CBB22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454" y="4311470"/>
                <a:ext cx="316791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0AE1E4-D4AA-427E-9D1A-4362EF478D9A}"/>
              </a:ext>
            </a:extLst>
          </p:cNvPr>
          <p:cNvCxnSpPr/>
          <p:nvPr/>
        </p:nvCxnSpPr>
        <p:spPr>
          <a:xfrm flipH="1">
            <a:off x="5518385" y="3447369"/>
            <a:ext cx="1" cy="88247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11B598F-4706-435D-90AB-97FDB2FABF95}"/>
              </a:ext>
            </a:extLst>
          </p:cNvPr>
          <p:cNvSpPr txBox="1"/>
          <p:nvPr/>
        </p:nvSpPr>
        <p:spPr>
          <a:xfrm>
            <a:off x="7617344" y="3009012"/>
            <a:ext cx="2365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Intermediate steps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6ABFC-6F66-494A-861C-E1E2EB495796}"/>
              </a:ext>
            </a:extLst>
          </p:cNvPr>
          <p:cNvSpPr txBox="1"/>
          <p:nvPr/>
        </p:nvSpPr>
        <p:spPr>
          <a:xfrm>
            <a:off x="7617344" y="4383925"/>
            <a:ext cx="24654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Token for each step</a:t>
            </a:r>
          </a:p>
        </p:txBody>
      </p:sp>
    </p:spTree>
    <p:extLst>
      <p:ext uri="{BB962C8B-B14F-4D97-AF65-F5344CB8AC3E}">
        <p14:creationId xmlns:p14="http://schemas.microsoft.com/office/powerpoint/2010/main" val="3149361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EDC8-A798-46E1-9FA5-85725AD2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BFD4-7C10-4BA5-8C0A-E840E3FB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22970-056F-480B-A056-6438A3EF5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61" y="1249344"/>
            <a:ext cx="7786109" cy="501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77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BCDA-0403-4FA8-BAA4-D0996154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Reasoning Step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41F7F-883C-428D-8FC7-10EAD3C0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9D8BBF-A194-4899-843B-A452237A800F}"/>
                  </a:ext>
                </a:extLst>
              </p:cNvPr>
              <p:cNvSpPr txBox="1"/>
              <p:nvPr/>
            </p:nvSpPr>
            <p:spPr>
              <a:xfrm>
                <a:off x="1813888" y="2203565"/>
                <a:ext cx="441531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9D8BBF-A194-4899-843B-A452237A8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888" y="2203565"/>
                <a:ext cx="44153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F013C2-C83D-457C-8B73-85DC08CE16F0}"/>
                  </a:ext>
                </a:extLst>
              </p:cNvPr>
              <p:cNvSpPr txBox="1"/>
              <p:nvPr/>
            </p:nvSpPr>
            <p:spPr>
              <a:xfrm>
                <a:off x="3059595" y="2203565"/>
                <a:ext cx="606513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F013C2-C83D-457C-8B73-85DC08CE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595" y="2203565"/>
                <a:ext cx="60651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CF48EC-0DE8-47FC-B6E3-062727265D10}"/>
                  </a:ext>
                </a:extLst>
              </p:cNvPr>
              <p:cNvSpPr txBox="1"/>
              <p:nvPr/>
            </p:nvSpPr>
            <p:spPr>
              <a:xfrm>
                <a:off x="4475136" y="2203565"/>
                <a:ext cx="617220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CF48EC-0DE8-47FC-B6E3-062727265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136" y="2203565"/>
                <a:ext cx="61722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A81835-3164-4AFD-ABB3-A2E1EDD87428}"/>
                  </a:ext>
                </a:extLst>
              </p:cNvPr>
              <p:cNvSpPr txBox="1"/>
              <p:nvPr/>
            </p:nvSpPr>
            <p:spPr>
              <a:xfrm>
                <a:off x="8235436" y="2203565"/>
                <a:ext cx="647036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A81835-3164-4AFD-ABB3-A2E1EDD87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436" y="2203565"/>
                <a:ext cx="64703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E48A28-927E-4CEC-98E3-D590E9FBAD7D}"/>
                  </a:ext>
                </a:extLst>
              </p:cNvPr>
              <p:cNvSpPr txBox="1"/>
              <p:nvPr/>
            </p:nvSpPr>
            <p:spPr>
              <a:xfrm>
                <a:off x="9689861" y="2203565"/>
                <a:ext cx="411651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E48A28-927E-4CEC-98E3-D590E9FBA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861" y="2203565"/>
                <a:ext cx="41165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3D7AAC-4C2D-4E74-B9F7-BB71FA2B898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255419" y="2480564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3B1C3A-3C64-4EA8-BC5F-7DE69712755B}"/>
              </a:ext>
            </a:extLst>
          </p:cNvPr>
          <p:cNvCxnSpPr/>
          <p:nvPr/>
        </p:nvCxnSpPr>
        <p:spPr>
          <a:xfrm>
            <a:off x="3670960" y="2483780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C95C35-B3F3-46A0-9920-7275C4251F20}"/>
              </a:ext>
            </a:extLst>
          </p:cNvPr>
          <p:cNvCxnSpPr/>
          <p:nvPr/>
        </p:nvCxnSpPr>
        <p:spPr>
          <a:xfrm>
            <a:off x="5092356" y="2480564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E1973F-59F1-44E8-8779-D003E4E5CCCF}"/>
              </a:ext>
            </a:extLst>
          </p:cNvPr>
          <p:cNvCxnSpPr/>
          <p:nvPr/>
        </p:nvCxnSpPr>
        <p:spPr>
          <a:xfrm>
            <a:off x="7431260" y="2480564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BDA645-F7AE-40BA-B2D9-442EFF254499}"/>
              </a:ext>
            </a:extLst>
          </p:cNvPr>
          <p:cNvCxnSpPr/>
          <p:nvPr/>
        </p:nvCxnSpPr>
        <p:spPr>
          <a:xfrm>
            <a:off x="8882472" y="2480564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5DEFB3-FEAB-4DF5-A558-0E3AED303044}"/>
              </a:ext>
            </a:extLst>
          </p:cNvPr>
          <p:cNvCxnSpPr/>
          <p:nvPr/>
        </p:nvCxnSpPr>
        <p:spPr>
          <a:xfrm>
            <a:off x="6261756" y="2503658"/>
            <a:ext cx="804176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47796F-7F60-4E39-863A-CFE3FB730E4C}"/>
              </a:ext>
            </a:extLst>
          </p:cNvPr>
          <p:cNvSpPr txBox="1"/>
          <p:nvPr/>
        </p:nvSpPr>
        <p:spPr>
          <a:xfrm>
            <a:off x="2870751" y="2849896"/>
            <a:ext cx="972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Correct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C9781D-9C74-45B5-BBEF-F77CC0FE9800}"/>
              </a:ext>
            </a:extLst>
          </p:cNvPr>
          <p:cNvSpPr txBox="1"/>
          <p:nvPr/>
        </p:nvSpPr>
        <p:spPr>
          <a:xfrm>
            <a:off x="4217850" y="2849896"/>
            <a:ext cx="1203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Incorrect/</a:t>
            </a:r>
          </a:p>
          <a:p>
            <a:r>
              <a:rPr lang="en-IN" dirty="0">
                <a:solidFill>
                  <a:srgbClr val="0070C0"/>
                </a:solidFill>
              </a:rPr>
              <a:t>Irrelevant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(0)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0AB52A-97C5-4048-83DD-ACC2DAA4928E}"/>
              </a:ext>
            </a:extLst>
          </p:cNvPr>
          <p:cNvSpPr txBox="1"/>
          <p:nvPr/>
        </p:nvSpPr>
        <p:spPr>
          <a:xfrm>
            <a:off x="8104797" y="2849896"/>
            <a:ext cx="972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Correct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(1)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1F40F-A3F5-493D-A53A-9A38F4B79910}"/>
              </a:ext>
            </a:extLst>
          </p:cNvPr>
          <p:cNvSpPr txBox="1"/>
          <p:nvPr/>
        </p:nvSpPr>
        <p:spPr>
          <a:xfrm>
            <a:off x="3746072" y="4146603"/>
            <a:ext cx="4668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Manual collection </a:t>
            </a:r>
            <a:r>
              <a:rPr lang="en-IN" sz="2400" dirty="0">
                <a:sym typeface="Wingdings" panose="05000000000000000000" pitchFamily="2" charset="2"/>
              </a:rPr>
              <a:t> very costly 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1BEC2-2A6E-4B89-BD44-5C8955B4A9E6}"/>
              </a:ext>
            </a:extLst>
          </p:cNvPr>
          <p:cNvSpPr txBox="1"/>
          <p:nvPr/>
        </p:nvSpPr>
        <p:spPr>
          <a:xfrm>
            <a:off x="4489115" y="4796979"/>
            <a:ext cx="3121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Self-Taught Reasoner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D9BD71CB-D917-4201-AC6E-C54DBE09E261}"/>
              </a:ext>
            </a:extLst>
          </p:cNvPr>
          <p:cNvSpPr/>
          <p:nvPr/>
        </p:nvSpPr>
        <p:spPr>
          <a:xfrm rot="5400000">
            <a:off x="5665699" y="-903134"/>
            <a:ext cx="461666" cy="5516873"/>
          </a:xfrm>
          <a:prstGeom prst="leftBrac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92287A-95FF-4C40-A939-BCEB8E59D616}"/>
                  </a:ext>
                </a:extLst>
              </p:cNvPr>
              <p:cNvSpPr txBox="1"/>
              <p:nvPr/>
            </p:nvSpPr>
            <p:spPr>
              <a:xfrm>
                <a:off x="5510168" y="1034561"/>
                <a:ext cx="78130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92287A-95FF-4C40-A939-BCEB8E59D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168" y="1034561"/>
                <a:ext cx="78130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79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 animBg="1"/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7D0C-FA92-455A-B509-98307E7D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Reasoning Step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42A4A-5F6E-4A6E-A69B-0D94C9DA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3558E2-DC77-40B2-A71A-155E093B5DE7}"/>
                  </a:ext>
                </a:extLst>
              </p:cNvPr>
              <p:cNvSpPr txBox="1"/>
              <p:nvPr/>
            </p:nvSpPr>
            <p:spPr>
              <a:xfrm>
                <a:off x="2117272" y="2263199"/>
                <a:ext cx="2576795" cy="55399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𝐿𝐿𝑀</m:t>
                          </m:r>
                        </m:sub>
                      </m:sSub>
                      <m:d>
                        <m:d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3558E2-DC77-40B2-A71A-155E093B5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272" y="2263199"/>
                <a:ext cx="257679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A4495-FA02-4608-81CC-8A477BB5F478}"/>
                  </a:ext>
                </a:extLst>
              </p:cNvPr>
              <p:cNvSpPr txBox="1"/>
              <p:nvPr/>
            </p:nvSpPr>
            <p:spPr>
              <a:xfrm>
                <a:off x="2951026" y="1169895"/>
                <a:ext cx="909288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0A4495-FA02-4608-81CC-8A477BB5F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026" y="1169895"/>
                <a:ext cx="90928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F9889D-4904-427B-B599-AF3C8C4EAE72}"/>
              </a:ext>
            </a:extLst>
          </p:cNvPr>
          <p:cNvCxnSpPr>
            <a:cxnSpLocks/>
          </p:cNvCxnSpPr>
          <p:nvPr/>
        </p:nvCxnSpPr>
        <p:spPr>
          <a:xfrm>
            <a:off x="3405669" y="1721781"/>
            <a:ext cx="1" cy="52664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04590B-C997-431B-9D00-4621A8BA0334}"/>
              </a:ext>
            </a:extLst>
          </p:cNvPr>
          <p:cNvCxnSpPr>
            <a:cxnSpLocks/>
          </p:cNvCxnSpPr>
          <p:nvPr/>
        </p:nvCxnSpPr>
        <p:spPr>
          <a:xfrm>
            <a:off x="3405668" y="2807609"/>
            <a:ext cx="1" cy="52664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2E08B9-1C44-41AE-B210-9CC416628A3D}"/>
                  </a:ext>
                </a:extLst>
              </p:cNvPr>
              <p:cNvSpPr txBox="1"/>
              <p:nvPr/>
            </p:nvSpPr>
            <p:spPr>
              <a:xfrm>
                <a:off x="3010660" y="3324665"/>
                <a:ext cx="782971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2E08B9-1C44-41AE-B210-9CC41662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660" y="3324665"/>
                <a:ext cx="78297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4B0284-A157-43CD-8255-3EE392102FEA}"/>
                  </a:ext>
                </a:extLst>
              </p:cNvPr>
              <p:cNvSpPr txBox="1"/>
              <p:nvPr/>
            </p:nvSpPr>
            <p:spPr>
              <a:xfrm>
                <a:off x="1934845" y="4443183"/>
                <a:ext cx="2948115" cy="55399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𝐿𝐿𝑀</m:t>
                          </m:r>
                        </m:sub>
                      </m:sSub>
                      <m:d>
                        <m:dPr>
                          <m:ctrlPr>
                            <a:rPr lang="en-I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e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, {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sz="36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4B0284-A157-43CD-8255-3EE392102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845" y="4443183"/>
                <a:ext cx="2948115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9C78A9-E597-46BC-84F5-EEBDD966936E}"/>
              </a:ext>
            </a:extLst>
          </p:cNvPr>
          <p:cNvCxnSpPr>
            <a:cxnSpLocks/>
          </p:cNvCxnSpPr>
          <p:nvPr/>
        </p:nvCxnSpPr>
        <p:spPr>
          <a:xfrm>
            <a:off x="3402143" y="3888511"/>
            <a:ext cx="1" cy="52664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5AEBF-7571-4577-B497-F70D85FC5C75}"/>
              </a:ext>
            </a:extLst>
          </p:cNvPr>
          <p:cNvCxnSpPr>
            <a:cxnSpLocks/>
          </p:cNvCxnSpPr>
          <p:nvPr/>
        </p:nvCxnSpPr>
        <p:spPr>
          <a:xfrm>
            <a:off x="3402143" y="4986713"/>
            <a:ext cx="1" cy="52664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4D5F74-AE27-4AED-8F78-2C4C96D4A2FA}"/>
                  </a:ext>
                </a:extLst>
              </p:cNvPr>
              <p:cNvSpPr txBox="1"/>
              <p:nvPr/>
            </p:nvSpPr>
            <p:spPr>
              <a:xfrm>
                <a:off x="3186445" y="5520435"/>
                <a:ext cx="411651" cy="553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4D5F74-AE27-4AED-8F78-2C4C96D4A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445" y="5520435"/>
                <a:ext cx="41165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1DC9494-9465-41AD-B5AB-792D1A93FD3F}"/>
              </a:ext>
            </a:extLst>
          </p:cNvPr>
          <p:cNvGrpSpPr/>
          <p:nvPr/>
        </p:nvGrpSpPr>
        <p:grpSpPr>
          <a:xfrm>
            <a:off x="3598096" y="5320060"/>
            <a:ext cx="1980602" cy="954747"/>
            <a:chOff x="3598096" y="5320060"/>
            <a:chExt cx="1980602" cy="954747"/>
          </a:xfrm>
        </p:grpSpPr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FC53C7F2-A5F9-4B49-9347-2E6DD792BD1F}"/>
                </a:ext>
              </a:extLst>
            </p:cNvPr>
            <p:cNvSpPr/>
            <p:nvPr/>
          </p:nvSpPr>
          <p:spPr>
            <a:xfrm>
              <a:off x="4187221" y="5320060"/>
              <a:ext cx="1391477" cy="954747"/>
            </a:xfrm>
            <a:prstGeom prst="diamond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86215B4-4D22-488F-948D-CCDA615BB347}"/>
                    </a:ext>
                  </a:extLst>
                </p:cNvPr>
                <p:cNvSpPr txBox="1"/>
                <p:nvPr/>
              </p:nvSpPr>
              <p:spPr>
                <a:xfrm>
                  <a:off x="4333478" y="5573011"/>
                  <a:ext cx="111316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IN" sz="2400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86215B4-4D22-488F-948D-CCDA615BB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3478" y="5573011"/>
                  <a:ext cx="1113166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A5E1364-EECD-40F4-A962-2FBD52CCD771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3598096" y="5794592"/>
              <a:ext cx="590209" cy="2842"/>
            </a:xfrm>
            <a:prstGeom prst="straightConnector1">
              <a:avLst/>
            </a:prstGeom>
            <a:ln w="412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DC3F04-9E0B-42E0-AF16-E4CACB0AC7F2}"/>
              </a:ext>
            </a:extLst>
          </p:cNvPr>
          <p:cNvCxnSpPr>
            <a:cxnSpLocks/>
          </p:cNvCxnSpPr>
          <p:nvPr/>
        </p:nvCxnSpPr>
        <p:spPr>
          <a:xfrm>
            <a:off x="5568759" y="5794592"/>
            <a:ext cx="795016" cy="0"/>
          </a:xfrm>
          <a:prstGeom prst="straightConnector1">
            <a:avLst/>
          </a:prstGeom>
          <a:ln w="412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2096D8-5061-4F00-B334-152A10E916C3}"/>
              </a:ext>
            </a:extLst>
          </p:cNvPr>
          <p:cNvSpPr txBox="1"/>
          <p:nvPr/>
        </p:nvSpPr>
        <p:spPr>
          <a:xfrm>
            <a:off x="6284262" y="5553820"/>
            <a:ext cx="2986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Steps are CORRECT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6BEBD6-1F97-44C6-A3CF-B00517E0B0E5}"/>
              </a:ext>
            </a:extLst>
          </p:cNvPr>
          <p:cNvGrpSpPr/>
          <p:nvPr/>
        </p:nvGrpSpPr>
        <p:grpSpPr>
          <a:xfrm>
            <a:off x="7707282" y="2170671"/>
            <a:ext cx="2963760" cy="2121163"/>
            <a:chOff x="7707282" y="2170671"/>
            <a:chExt cx="2963760" cy="21211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EFCD7E-90FF-4CD9-8D27-532A4A0E6133}"/>
                    </a:ext>
                  </a:extLst>
                </p:cNvPr>
                <p:cNvSpPr txBox="1"/>
                <p:nvPr/>
              </p:nvSpPr>
              <p:spPr>
                <a:xfrm>
                  <a:off x="7707282" y="3737836"/>
                  <a:ext cx="2948115" cy="55399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𝐿𝐿𝑀</m:t>
                            </m:r>
                          </m:sub>
                        </m:sSub>
                        <m:d>
                          <m:dPr>
                            <m:ctrlP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, {</m:t>
                            </m:r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IN" sz="3600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oMath>
                    </m:oMathPara>
                  </a14:m>
                  <a:endParaRPr lang="en-IN" sz="3600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EEFCD7E-90FF-4CD9-8D27-532A4A0E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7282" y="3737836"/>
                  <a:ext cx="2948115" cy="5539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D7F8F4B-E0BE-4DEB-86ED-3B0865AB7EBD}"/>
                </a:ext>
              </a:extLst>
            </p:cNvPr>
            <p:cNvSpPr/>
            <p:nvPr/>
          </p:nvSpPr>
          <p:spPr>
            <a:xfrm>
              <a:off x="8530879" y="2644486"/>
              <a:ext cx="1510744" cy="1112837"/>
            </a:xfrm>
            <a:custGeom>
              <a:avLst/>
              <a:gdLst>
                <a:gd name="connsiteX0" fmla="*/ 520170 w 2332450"/>
                <a:gd name="connsiteY0" fmla="*/ 1452069 h 1452069"/>
                <a:gd name="connsiteX1" fmla="*/ 13275 w 2332450"/>
                <a:gd name="connsiteY1" fmla="*/ 905417 h 1452069"/>
                <a:gd name="connsiteX2" fmla="*/ 231936 w 2332450"/>
                <a:gd name="connsiteY2" fmla="*/ 169921 h 1452069"/>
                <a:gd name="connsiteX3" fmla="*/ 1106579 w 2332450"/>
                <a:gd name="connsiteY3" fmla="*/ 956 h 1452069"/>
                <a:gd name="connsiteX4" fmla="*/ 2001101 w 2332450"/>
                <a:gd name="connsiteY4" fmla="*/ 209678 h 1452069"/>
                <a:gd name="connsiteX5" fmla="*/ 2329092 w 2332450"/>
                <a:gd name="connsiteY5" fmla="*/ 835843 h 1452069"/>
                <a:gd name="connsiteX6" fmla="*/ 1832136 w 2332450"/>
                <a:gd name="connsiteY6" fmla="*/ 1422252 h 14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32450" h="1452069">
                  <a:moveTo>
                    <a:pt x="520170" y="1452069"/>
                  </a:moveTo>
                  <a:cubicBezTo>
                    <a:pt x="290742" y="1285588"/>
                    <a:pt x="61314" y="1119108"/>
                    <a:pt x="13275" y="905417"/>
                  </a:cubicBezTo>
                  <a:cubicBezTo>
                    <a:pt x="-34764" y="691726"/>
                    <a:pt x="49719" y="320664"/>
                    <a:pt x="231936" y="169921"/>
                  </a:cubicBezTo>
                  <a:cubicBezTo>
                    <a:pt x="414153" y="19178"/>
                    <a:pt x="811718" y="-5670"/>
                    <a:pt x="1106579" y="956"/>
                  </a:cubicBezTo>
                  <a:cubicBezTo>
                    <a:pt x="1401440" y="7582"/>
                    <a:pt x="1797349" y="70530"/>
                    <a:pt x="2001101" y="209678"/>
                  </a:cubicBezTo>
                  <a:cubicBezTo>
                    <a:pt x="2204853" y="348826"/>
                    <a:pt x="2357253" y="633747"/>
                    <a:pt x="2329092" y="835843"/>
                  </a:cubicBezTo>
                  <a:cubicBezTo>
                    <a:pt x="2300931" y="1037939"/>
                    <a:pt x="2066533" y="1230095"/>
                    <a:pt x="1832136" y="1422252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B8E363-0B54-4E9E-BE8A-285702541C94}"/>
                    </a:ext>
                  </a:extLst>
                </p:cNvPr>
                <p:cNvSpPr txBox="1"/>
                <p:nvPr/>
              </p:nvSpPr>
              <p:spPr>
                <a:xfrm>
                  <a:off x="7707282" y="2170671"/>
                  <a:ext cx="296376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N" sz="2400" dirty="0"/>
                    <a:t>Feedback </a:t>
                  </a:r>
                  <a14:m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IN" sz="2400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B8E363-0B54-4E9E-BE8A-285702541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7282" y="2170671"/>
                  <a:ext cx="296376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3086" t="-9211" r="-823" b="-3026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5552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4598-128F-4EE5-B504-C756A3C9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Self-Reinforced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B895-7B04-466F-8E94-B8B8DA82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A4ED2-DEB3-4E81-9423-7319DD634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61" y="1249344"/>
            <a:ext cx="7786109" cy="501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39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7F2E-38E7-498C-AD5B-4BBAD460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Reward Model (PRM)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DF05D-6952-409B-8276-9561AF57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F44B85-33BE-4EA4-922E-2DEDBAE767D3}"/>
              </a:ext>
            </a:extLst>
          </p:cNvPr>
          <p:cNvSpPr/>
          <p:nvPr/>
        </p:nvSpPr>
        <p:spPr>
          <a:xfrm>
            <a:off x="4065105" y="1586224"/>
            <a:ext cx="2186609" cy="92433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57475A-82C5-4B2F-BDC8-2F3BF30E257C}"/>
              </a:ext>
            </a:extLst>
          </p:cNvPr>
          <p:cNvCxnSpPr/>
          <p:nvPr/>
        </p:nvCxnSpPr>
        <p:spPr>
          <a:xfrm>
            <a:off x="2753140" y="1750222"/>
            <a:ext cx="13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FB7D50-AEF5-4491-A64B-84C381A6B491}"/>
              </a:ext>
            </a:extLst>
          </p:cNvPr>
          <p:cNvCxnSpPr/>
          <p:nvPr/>
        </p:nvCxnSpPr>
        <p:spPr>
          <a:xfrm>
            <a:off x="2753140" y="2330002"/>
            <a:ext cx="13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1DB23-4291-4A09-979D-63D74467019B}"/>
                  </a:ext>
                </a:extLst>
              </p:cNvPr>
              <p:cNvSpPr txBox="1"/>
              <p:nvPr/>
            </p:nvSpPr>
            <p:spPr>
              <a:xfrm>
                <a:off x="2359764" y="1519675"/>
                <a:ext cx="383438" cy="4308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1DB23-4291-4A09-979D-63D744670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764" y="1519675"/>
                <a:ext cx="38343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0C9336-B80E-43A0-987F-E9601EBC98B8}"/>
                  </a:ext>
                </a:extLst>
              </p:cNvPr>
              <p:cNvSpPr txBox="1"/>
              <p:nvPr/>
            </p:nvSpPr>
            <p:spPr>
              <a:xfrm>
                <a:off x="2300131" y="2108710"/>
                <a:ext cx="450187" cy="4308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0C9336-B80E-43A0-987F-E9601EBC9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131" y="2108710"/>
                <a:ext cx="45018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6DD879-521A-40CD-9A25-C3FBE0F94E8B}"/>
              </a:ext>
            </a:extLst>
          </p:cNvPr>
          <p:cNvCxnSpPr/>
          <p:nvPr/>
        </p:nvCxnSpPr>
        <p:spPr>
          <a:xfrm>
            <a:off x="6251714" y="2061647"/>
            <a:ext cx="13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D363D0-772A-4945-8131-F51EC44B5D03}"/>
                  </a:ext>
                </a:extLst>
              </p:cNvPr>
              <p:cNvSpPr txBox="1"/>
              <p:nvPr/>
            </p:nvSpPr>
            <p:spPr>
              <a:xfrm>
                <a:off x="7553740" y="1809856"/>
                <a:ext cx="419153" cy="43088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D363D0-772A-4945-8131-F51EC44B5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740" y="1809856"/>
                <a:ext cx="41915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5E159E9-745F-450E-8BB7-1CFBE1865072}"/>
              </a:ext>
            </a:extLst>
          </p:cNvPr>
          <p:cNvSpPr txBox="1"/>
          <p:nvPr/>
        </p:nvSpPr>
        <p:spPr>
          <a:xfrm>
            <a:off x="8173879" y="1735118"/>
            <a:ext cx="1480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Correct or Incorrect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50D39-EEEE-471E-AB96-FE998C363ECB}"/>
              </a:ext>
            </a:extLst>
          </p:cNvPr>
          <p:cNvSpPr txBox="1"/>
          <p:nvPr/>
        </p:nvSpPr>
        <p:spPr>
          <a:xfrm>
            <a:off x="2002363" y="3090342"/>
            <a:ext cx="92148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How appropriate or effective the generated reasoning step or token is in progressing towards the final answer?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50FC80-9BEC-42E1-A47E-78481D87FF90}"/>
              </a:ext>
            </a:extLst>
          </p:cNvPr>
          <p:cNvSpPr txBox="1"/>
          <p:nvPr/>
        </p:nvSpPr>
        <p:spPr>
          <a:xfrm>
            <a:off x="2002362" y="5338402"/>
            <a:ext cx="92148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**Outcome Reward Model (ORM) </a:t>
            </a:r>
            <a:r>
              <a:rPr lang="en-US" sz="2800" dirty="0">
                <a:sym typeface="Wingdings" panose="05000000000000000000" pitchFamily="2" charset="2"/>
              </a:rPr>
              <a:t> value depends only on the final outcome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032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6058-7B64-4C38-95F3-48993FB9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PRM Loss: </a:t>
            </a:r>
            <a:r>
              <a:rPr lang="en-US" sz="4800" dirty="0"/>
              <a:t>Classification Method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8E1DE-396D-4CC8-9995-D7A723A6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A424B-3F2C-4067-AF16-F7C2C25F8E52}"/>
              </a:ext>
            </a:extLst>
          </p:cNvPr>
          <p:cNvSpPr txBox="1"/>
          <p:nvPr/>
        </p:nvSpPr>
        <p:spPr>
          <a:xfrm>
            <a:off x="2339144" y="3846444"/>
            <a:ext cx="8842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Just models instant reward; not how it will affect the other subsequent reasoning steps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0A464-0AE6-4CEB-9C9E-E860CB92E988}"/>
              </a:ext>
            </a:extLst>
          </p:cNvPr>
          <p:cNvSpPr txBox="1"/>
          <p:nvPr/>
        </p:nvSpPr>
        <p:spPr>
          <a:xfrm>
            <a:off x="2339143" y="4911607"/>
            <a:ext cx="7643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Whether the reasoning step or answer is correct at that point in the process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899D64-88FB-4304-9DAC-0FE619B47B1A}"/>
                  </a:ext>
                </a:extLst>
              </p:cNvPr>
              <p:cNvSpPr txBox="1"/>
              <p:nvPr/>
            </p:nvSpPr>
            <p:spPr>
              <a:xfrm>
                <a:off x="2519570" y="1896475"/>
                <a:ext cx="7680564" cy="1384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𝑃𝑅𝑀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3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I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I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I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I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I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899D64-88FB-4304-9DAC-0FE619B4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570" y="1896475"/>
                <a:ext cx="7680564" cy="1384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98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5B65-55AE-4FA0-BDEF-5936FC4B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PRM Loss: Value Iteration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072C6-9E83-4D47-8EB9-D05E86E6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17DC6-AE35-4C23-8C22-661A12B6449C}"/>
              </a:ext>
            </a:extLst>
          </p:cNvPr>
          <p:cNvSpPr txBox="1"/>
          <p:nvPr/>
        </p:nvSpPr>
        <p:spPr>
          <a:xfrm>
            <a:off x="1901821" y="1123189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Current reasoning step should have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effect on future steps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C822B-83A2-4451-A3F2-F121EC1C1541}"/>
              </a:ext>
            </a:extLst>
          </p:cNvPr>
          <p:cNvSpPr txBox="1"/>
          <p:nvPr/>
        </p:nvSpPr>
        <p:spPr>
          <a:xfrm>
            <a:off x="1901821" y="163809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Current value of a state should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capture cumulative reward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CB86D8-9396-4898-96D9-9997CC51BB87}"/>
                  </a:ext>
                </a:extLst>
              </p:cNvPr>
              <p:cNvSpPr txBox="1"/>
              <p:nvPr/>
            </p:nvSpPr>
            <p:spPr>
              <a:xfrm>
                <a:off x="1901821" y="2345106"/>
                <a:ext cx="84249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/>
                </a:lvl1pPr>
              </a:lstStyle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: </a:t>
                </a:r>
                <a:r>
                  <a:rPr lang="en-IN" dirty="0"/>
                  <a:t>Expected cumulative reward starting </a:t>
                </a:r>
                <a:br>
                  <a:rPr lang="en-IN" dirty="0"/>
                </a:br>
                <a:r>
                  <a:rPr lang="en-IN" dirty="0"/>
                  <a:t>                                       from the state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CB86D8-9396-4898-96D9-9997CC51B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821" y="2345106"/>
                <a:ext cx="8424936" cy="830997"/>
              </a:xfrm>
              <a:prstGeom prst="rect">
                <a:avLst/>
              </a:prstGeom>
              <a:blipFill>
                <a:blip r:embed="rId2"/>
                <a:stretch>
                  <a:fillRect l="-1158"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F40856E-261B-4BC8-8FA3-BBD41D895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794" y="3681898"/>
            <a:ext cx="4433270" cy="6068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924C65-79D4-4D16-9EF4-2A27CE3C4FB3}"/>
              </a:ext>
            </a:extLst>
          </p:cNvPr>
          <p:cNvSpPr txBox="1"/>
          <p:nvPr/>
        </p:nvSpPr>
        <p:spPr>
          <a:xfrm>
            <a:off x="1901821" y="3278730"/>
            <a:ext cx="4194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Estimate by looking ahead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4728A-FBAC-44B2-9DB8-A3FF054EBF1D}"/>
              </a:ext>
            </a:extLst>
          </p:cNvPr>
          <p:cNvSpPr txBox="1"/>
          <p:nvPr/>
        </p:nvSpPr>
        <p:spPr>
          <a:xfrm>
            <a:off x="6943956" y="3750258"/>
            <a:ext cx="2280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Bellman Target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26D88-955B-44F6-9B72-D981D02ED710}"/>
              </a:ext>
            </a:extLst>
          </p:cNvPr>
          <p:cNvSpPr txBox="1"/>
          <p:nvPr/>
        </p:nvSpPr>
        <p:spPr>
          <a:xfrm>
            <a:off x="1901820" y="4534999"/>
            <a:ext cx="10104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Loss: squared error between the current value and the Bellman target</a:t>
            </a:r>
            <a:endParaRPr lang="en-IN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23C009-77EA-487B-857A-4CACA5F35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75" y="5099291"/>
            <a:ext cx="6824976" cy="107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8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11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A184-28A0-4D6B-BA85-33C4231A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Policy: Policy 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8B09-EBEC-4E04-980C-A91BDACF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CA808-D6F9-4578-99D9-9D3D2695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74" y="1066594"/>
            <a:ext cx="9927078" cy="1358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66FF3-D8BE-4BB7-A775-CCF25EDB94C0}"/>
              </a:ext>
            </a:extLst>
          </p:cNvPr>
          <p:cNvSpPr txBox="1"/>
          <p:nvPr/>
        </p:nvSpPr>
        <p:spPr>
          <a:xfrm>
            <a:off x="8597348" y="2059838"/>
            <a:ext cx="2988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Remember PPO?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D7663-D3EC-46D4-8538-968529784D6C}"/>
                  </a:ext>
                </a:extLst>
              </p:cNvPr>
              <p:cNvSpPr txBox="1"/>
              <p:nvPr/>
            </p:nvSpPr>
            <p:spPr>
              <a:xfrm>
                <a:off x="2867442" y="2583058"/>
                <a:ext cx="39196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1D7663-D3EC-46D4-8538-968529784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442" y="2583058"/>
                <a:ext cx="39196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2B133A-406F-4A6A-B682-CCDF0C0B823F}"/>
                  </a:ext>
                </a:extLst>
              </p:cNvPr>
              <p:cNvSpPr txBox="1"/>
              <p:nvPr/>
            </p:nvSpPr>
            <p:spPr>
              <a:xfrm>
                <a:off x="1775297" y="3957971"/>
                <a:ext cx="2549544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2B133A-406F-4A6A-B682-CCDF0C0B8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297" y="3957971"/>
                <a:ext cx="254954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B16B44-318A-4645-B837-3160B6A15516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3050069" y="3075501"/>
            <a:ext cx="13357" cy="88247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13AF2D-76F7-4E23-9928-D97034612E6E}"/>
                  </a:ext>
                </a:extLst>
              </p:cNvPr>
              <p:cNvSpPr txBox="1"/>
              <p:nvPr/>
            </p:nvSpPr>
            <p:spPr>
              <a:xfrm>
                <a:off x="1626211" y="5332884"/>
                <a:ext cx="2843086" cy="5403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IN" sz="3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13AF2D-76F7-4E23-9928-D97034612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211" y="5332884"/>
                <a:ext cx="2843086" cy="5403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D21E5B-7C38-4CAD-9D7F-94F49467B10E}"/>
              </a:ext>
            </a:extLst>
          </p:cNvPr>
          <p:cNvCxnSpPr/>
          <p:nvPr/>
        </p:nvCxnSpPr>
        <p:spPr>
          <a:xfrm flipH="1">
            <a:off x="3053484" y="4468783"/>
            <a:ext cx="1" cy="88247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266159-3958-49E2-9176-659D9761D111}"/>
              </a:ext>
            </a:extLst>
          </p:cNvPr>
          <p:cNvSpPr txBox="1"/>
          <p:nvPr/>
        </p:nvSpPr>
        <p:spPr>
          <a:xfrm>
            <a:off x="5118652" y="3765779"/>
            <a:ext cx="6171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Group Relative Policy Optimization (GRPO)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F21A55-1B72-437B-A48E-250A6C688202}"/>
                  </a:ext>
                </a:extLst>
              </p:cNvPr>
              <p:cNvSpPr txBox="1"/>
              <p:nvPr/>
            </p:nvSpPr>
            <p:spPr>
              <a:xfrm>
                <a:off x="5118652" y="4605955"/>
                <a:ext cx="65532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400" dirty="0"/>
                  <a:t> on the group of reasoning steps.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F21A55-1B72-437B-A48E-250A6C688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652" y="4605955"/>
                <a:ext cx="6553204" cy="461665"/>
              </a:xfrm>
              <a:prstGeom prst="rect">
                <a:avLst/>
              </a:prstGeom>
              <a:blipFill>
                <a:blip r:embed="rId6"/>
                <a:stretch>
                  <a:fillRect l="-1488" t="-9333" r="-465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46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0" grpId="0" animBg="1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8D81-895C-4B55-ACA0-1260F03A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Policy Iteration: GRPO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679C-1A3A-47F7-9E9E-85848CE5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C0B3F-B8D5-4D21-BD8A-FB46B9F0C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21" y="1646368"/>
            <a:ext cx="11408129" cy="1120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30AF4C-5297-4D44-B57A-EE1BEA6C9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098" y="3011674"/>
            <a:ext cx="2293819" cy="101354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903F883-A9B8-4927-8BDC-150D0DD05B94}"/>
              </a:ext>
            </a:extLst>
          </p:cNvPr>
          <p:cNvSpPr/>
          <p:nvPr/>
        </p:nvSpPr>
        <p:spPr>
          <a:xfrm>
            <a:off x="2335696" y="2484783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416DDF-E3F7-4DA5-B998-2241004D836E}"/>
              </a:ext>
            </a:extLst>
          </p:cNvPr>
          <p:cNvSpPr/>
          <p:nvPr/>
        </p:nvSpPr>
        <p:spPr>
          <a:xfrm>
            <a:off x="3611218" y="2507973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225B3E-7236-4276-AA56-E738312334BB}"/>
              </a:ext>
            </a:extLst>
          </p:cNvPr>
          <p:cNvSpPr/>
          <p:nvPr/>
        </p:nvSpPr>
        <p:spPr>
          <a:xfrm>
            <a:off x="5483088" y="2696816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A1A496-0424-43A1-91D5-3F1B1A0EA5B3}"/>
              </a:ext>
            </a:extLst>
          </p:cNvPr>
          <p:cNvSpPr/>
          <p:nvPr/>
        </p:nvSpPr>
        <p:spPr>
          <a:xfrm>
            <a:off x="6408190" y="2697029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5DCDBB-A470-43F6-809F-80BF940F7F1B}"/>
              </a:ext>
            </a:extLst>
          </p:cNvPr>
          <p:cNvSpPr/>
          <p:nvPr/>
        </p:nvSpPr>
        <p:spPr>
          <a:xfrm>
            <a:off x="7508118" y="2388918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91F258-F853-4371-80EB-5BC0DB879DCC}"/>
              </a:ext>
            </a:extLst>
          </p:cNvPr>
          <p:cNvSpPr/>
          <p:nvPr/>
        </p:nvSpPr>
        <p:spPr>
          <a:xfrm>
            <a:off x="11202925" y="2388918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800CBD-22EB-45BB-AC89-095DBF359496}"/>
              </a:ext>
            </a:extLst>
          </p:cNvPr>
          <p:cNvSpPr/>
          <p:nvPr/>
        </p:nvSpPr>
        <p:spPr>
          <a:xfrm>
            <a:off x="9347620" y="3702944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D0794F-8287-41D6-A988-0E4A39D43980}"/>
              </a:ext>
            </a:extLst>
          </p:cNvPr>
          <p:cNvSpPr/>
          <p:nvPr/>
        </p:nvSpPr>
        <p:spPr>
          <a:xfrm>
            <a:off x="2200666" y="3420889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90514-8ABE-420E-B67A-3A5456AD0DD1}"/>
              </a:ext>
            </a:extLst>
          </p:cNvPr>
          <p:cNvSpPr txBox="1"/>
          <p:nvPr/>
        </p:nvSpPr>
        <p:spPr>
          <a:xfrm>
            <a:off x="2644616" y="3426603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Sampling a question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5297FB-A487-4FC4-B2E5-0C805B04911F}"/>
              </a:ext>
            </a:extLst>
          </p:cNvPr>
          <p:cNvSpPr/>
          <p:nvPr/>
        </p:nvSpPr>
        <p:spPr>
          <a:xfrm>
            <a:off x="2203976" y="3969820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3CCAB9-7F11-4A6F-BFA4-6C6D237D5231}"/>
              </a:ext>
            </a:extLst>
          </p:cNvPr>
          <p:cNvSpPr txBox="1"/>
          <p:nvPr/>
        </p:nvSpPr>
        <p:spPr>
          <a:xfrm>
            <a:off x="2647926" y="3975534"/>
            <a:ext cx="295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Sampling a group of steps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75A630-6DBE-4996-A5DA-0B8BF26D064E}"/>
              </a:ext>
            </a:extLst>
          </p:cNvPr>
          <p:cNvSpPr/>
          <p:nvPr/>
        </p:nvSpPr>
        <p:spPr>
          <a:xfrm>
            <a:off x="2247046" y="4541477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A3AD0B-8386-4929-AD87-7BA45BC72AC8}"/>
              </a:ext>
            </a:extLst>
          </p:cNvPr>
          <p:cNvSpPr/>
          <p:nvPr/>
        </p:nvSpPr>
        <p:spPr>
          <a:xfrm>
            <a:off x="1683829" y="4541477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7CC99-86D3-46E7-A5E8-4FA5FFC2B084}"/>
              </a:ext>
            </a:extLst>
          </p:cNvPr>
          <p:cNvSpPr txBox="1"/>
          <p:nvPr/>
        </p:nvSpPr>
        <p:spPr>
          <a:xfrm>
            <a:off x="2664495" y="4537019"/>
            <a:ext cx="238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Average (advantage)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3B9645-9479-49E1-97A2-CF68F13CF7A0}"/>
              </a:ext>
            </a:extLst>
          </p:cNvPr>
          <p:cNvSpPr/>
          <p:nvPr/>
        </p:nvSpPr>
        <p:spPr>
          <a:xfrm>
            <a:off x="2256991" y="5055246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3FC0A6D-F7FE-4532-896D-AE50BD4C8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509" y="4944909"/>
            <a:ext cx="2667231" cy="533446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76BC5AE9-EB39-4867-971D-2A4FB471FA01}"/>
              </a:ext>
            </a:extLst>
          </p:cNvPr>
          <p:cNvSpPr/>
          <p:nvPr/>
        </p:nvSpPr>
        <p:spPr>
          <a:xfrm>
            <a:off x="2266929" y="5611024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ABC996-9934-47AD-B216-FFB0F9F7EB4C}"/>
                  </a:ext>
                </a:extLst>
              </p:cNvPr>
              <p:cNvSpPr txBox="1"/>
              <p:nvPr/>
            </p:nvSpPr>
            <p:spPr>
              <a:xfrm>
                <a:off x="2664495" y="5611024"/>
                <a:ext cx="47021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Average of generating token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 under step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ABC996-9934-47AD-B216-FFB0F9F7E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495" y="5611024"/>
                <a:ext cx="4702185" cy="369332"/>
              </a:xfrm>
              <a:prstGeom prst="rect">
                <a:avLst/>
              </a:prstGeom>
              <a:blipFill>
                <a:blip r:embed="rId6"/>
                <a:stretch>
                  <a:fillRect l="-1038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6ECB3CA1-E473-4C3B-9C04-F780799FDF33}"/>
              </a:ext>
            </a:extLst>
          </p:cNvPr>
          <p:cNvSpPr/>
          <p:nvPr/>
        </p:nvSpPr>
        <p:spPr>
          <a:xfrm>
            <a:off x="2266923" y="6175601"/>
            <a:ext cx="377687" cy="377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001190-184C-433B-9DEC-858D30249382}"/>
              </a:ext>
            </a:extLst>
          </p:cNvPr>
          <p:cNvSpPr txBox="1"/>
          <p:nvPr/>
        </p:nvSpPr>
        <p:spPr>
          <a:xfrm>
            <a:off x="2624733" y="6177394"/>
            <a:ext cx="480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Keeping the aligned model close to domain</a:t>
            </a:r>
          </a:p>
        </p:txBody>
      </p:sp>
    </p:spTree>
    <p:extLst>
      <p:ext uri="{BB962C8B-B14F-4D97-AF65-F5344CB8AC3E}">
        <p14:creationId xmlns:p14="http://schemas.microsoft.com/office/powerpoint/2010/main" val="1133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2" grpId="0" animBg="1"/>
      <p:bldP spid="23" grpId="0"/>
      <p:bldP spid="24" grpId="0" animBg="1"/>
      <p:bldP spid="27" grpId="0" animBg="1"/>
      <p:bldP spid="28" grpId="0"/>
      <p:bldP spid="29" grpId="0" animBg="1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082E-E765-4BE3-8E0D-AA087602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9903-8260-45AF-88D2-DB47423B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CFDC3-39A4-458B-8021-D50E81F88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464" y="1236925"/>
            <a:ext cx="10045870" cy="11128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61E780-48CA-4041-9A64-874850CBC697}"/>
              </a:ext>
            </a:extLst>
          </p:cNvPr>
          <p:cNvSpPr txBox="1"/>
          <p:nvPr/>
        </p:nvSpPr>
        <p:spPr>
          <a:xfrm>
            <a:off x="1149463" y="2308669"/>
            <a:ext cx="87598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Rewards are </a:t>
            </a:r>
            <a:r>
              <a:rPr lang="en-US" sz="2400" dirty="0" err="1"/>
              <a:t>normalised</a:t>
            </a:r>
            <a:r>
              <a:rPr lang="en-US" sz="2400" dirty="0"/>
              <a:t> using the rewards across all outputs in the group for a specific question</a:t>
            </a:r>
            <a:endParaRPr lang="en-I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0A28FB-24C8-4F92-BC3E-6EE4279E60F3}"/>
                  </a:ext>
                </a:extLst>
              </p:cNvPr>
              <p:cNvSpPr txBox="1"/>
              <p:nvPr/>
            </p:nvSpPr>
            <p:spPr>
              <a:xfrm>
                <a:off x="1149463" y="3309977"/>
                <a:ext cx="84119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400"/>
                </a:lvl1pPr>
              </a:lstStyle>
              <a:p>
                <a:r>
                  <a:rPr lang="en-US" dirty="0"/>
                  <a:t>Let the </a:t>
                </a:r>
                <a:r>
                  <a:rPr lang="en-US" dirty="0" err="1"/>
                  <a:t>normalised</a:t>
                </a:r>
                <a:r>
                  <a:rPr lang="en-US" dirty="0"/>
                  <a:t> reward for token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of reasoning step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0A28FB-24C8-4F92-BC3E-6EE4279E6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463" y="3309977"/>
                <a:ext cx="8411980" cy="461665"/>
              </a:xfrm>
              <a:prstGeom prst="rect">
                <a:avLst/>
              </a:prstGeom>
              <a:blipFill>
                <a:blip r:embed="rId3"/>
                <a:stretch>
                  <a:fillRect l="-1160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FF993DE-CDCC-49C3-B172-7E1B274DD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240" y="3749745"/>
            <a:ext cx="3090116" cy="10411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D4FD75-D72F-4951-9B29-CDA3696536C2}"/>
                  </a:ext>
                </a:extLst>
              </p:cNvPr>
              <p:cNvSpPr txBox="1"/>
              <p:nvPr/>
            </p:nvSpPr>
            <p:spPr>
              <a:xfrm>
                <a:off x="1028699" y="4747440"/>
                <a:ext cx="9973918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400"/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r>
                          <a:rPr lang="en-IN"/>
                          <m:t>𝐴</m:t>
                        </m:r>
                      </m:e>
                      <m:sub>
                        <m:r>
                          <a:rPr lang="en-IN"/>
                          <m:t>𝑖</m:t>
                        </m:r>
                        <m:r>
                          <a:rPr lang="en-IN"/>
                          <m:t>,</m:t>
                        </m:r>
                        <m:r>
                          <a:rPr lang="en-IN"/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sum of </a:t>
                </a:r>
                <a:r>
                  <a:rPr lang="en-US" dirty="0" err="1"/>
                  <a:t>normalised</a:t>
                </a:r>
                <a:r>
                  <a:rPr lang="en-US" dirty="0"/>
                  <a:t> rewards from token </a:t>
                </a:r>
                <a14:m>
                  <m:oMath xmlns:m="http://schemas.openxmlformats.org/officeDocument/2006/math">
                    <m:r>
                      <a:rPr lang="en-IN"/>
                      <m:t>𝑡</m:t>
                    </m:r>
                  </m:oMath>
                </a14:m>
                <a:r>
                  <a:rPr lang="en-US" dirty="0"/>
                  <a:t> to the final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/>
                        </m:ctrlPr>
                      </m:sSubPr>
                      <m:e>
                        <m:r>
                          <a:rPr lang="en-IN"/>
                          <m:t>𝐾</m:t>
                        </m:r>
                      </m:e>
                      <m:sub>
                        <m:r>
                          <a:rPr lang="en-IN"/>
                          <m:t>𝑖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D4FD75-D72F-4951-9B29-CDA369653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99" y="4747440"/>
                <a:ext cx="9973918" cy="477888"/>
              </a:xfrm>
              <a:prstGeom prst="rect">
                <a:avLst/>
              </a:prstGeom>
              <a:blipFill>
                <a:blip r:embed="rId5"/>
                <a:stretch>
                  <a:fillRect l="-183" t="-8974" b="-26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55119211-5315-47FF-A884-C4F6D3FCB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829" y="5380131"/>
            <a:ext cx="2003806" cy="118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82141</TotalTime>
  <Words>1159</Words>
  <Application>Microsoft Office PowerPoint</Application>
  <PresentationFormat>Widescreen</PresentationFormat>
  <Paragraphs>229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ArialMT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LLM Reasoning</vt:lpstr>
      <vt:lpstr>What is the Expectation from AI?</vt:lpstr>
      <vt:lpstr>What is the Expectation from AI?</vt:lpstr>
      <vt:lpstr>Symbolic Reasoning</vt:lpstr>
      <vt:lpstr>Symbolic Reasoning</vt:lpstr>
      <vt:lpstr>Add Reasoning Steps</vt:lpstr>
      <vt:lpstr>NL Reasoning (NLR) Variations</vt:lpstr>
      <vt:lpstr>Intermediate Steps are Important</vt:lpstr>
      <vt:lpstr>&lt;Problem, Intermediate Steps, Answer&gt;</vt:lpstr>
      <vt:lpstr>Show Your Work: Scratchpads</vt:lpstr>
      <vt:lpstr>Is Fine-Tuning Enough?</vt:lpstr>
      <vt:lpstr>Is Few-Shot Standard Prompting Enough?</vt:lpstr>
      <vt:lpstr>Chain-of-Thought Prompting</vt:lpstr>
      <vt:lpstr>CoT Prompting</vt:lpstr>
      <vt:lpstr>Intermediate Steps are Helpful</vt:lpstr>
      <vt:lpstr>Intermediate Steps Vs. Final Answer</vt:lpstr>
      <vt:lpstr>Self-Consistency</vt:lpstr>
      <vt:lpstr>Self-Consistency</vt:lpstr>
      <vt:lpstr>Limitations: Prompt-based Reasoning</vt:lpstr>
      <vt:lpstr>Self-Correction in LLM</vt:lpstr>
      <vt:lpstr>Self-Correction in LLM</vt:lpstr>
      <vt:lpstr>Self-Correction: Performance Drop</vt:lpstr>
      <vt:lpstr>Self-Correction: Oracle</vt:lpstr>
      <vt:lpstr>Dependence on Premise Order</vt:lpstr>
      <vt:lpstr>Dependence on Premise Order</vt:lpstr>
      <vt:lpstr>PowerPoint Presentation</vt:lpstr>
      <vt:lpstr>Two Modes of Cognitive Processing</vt:lpstr>
      <vt:lpstr>Thinking Deep</vt:lpstr>
      <vt:lpstr>LLM Reasoning Process</vt:lpstr>
      <vt:lpstr>LLM Reasoning: Markov Decision Process</vt:lpstr>
      <vt:lpstr>LLM Reasoning: Markov Decision Process</vt:lpstr>
      <vt:lpstr>Token Generation and Reasoning</vt:lpstr>
      <vt:lpstr>The Workflow</vt:lpstr>
      <vt:lpstr>Reasoning Step Data</vt:lpstr>
      <vt:lpstr>Reasoning Step Data</vt:lpstr>
      <vt:lpstr>Self-Reinforced Training</vt:lpstr>
      <vt:lpstr>Process Reward Model (PRM)</vt:lpstr>
      <vt:lpstr>PRM Loss: Classification Method</vt:lpstr>
      <vt:lpstr>PRM Loss: Value Iteration </vt:lpstr>
      <vt:lpstr>Training Policy: Policy Iteration</vt:lpstr>
      <vt:lpstr>Policy Iteration: GRPO</vt:lpstr>
      <vt:lpstr>Advantage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1157</cp:revision>
  <dcterms:created xsi:type="dcterms:W3CDTF">2021-07-28T12:05:26Z</dcterms:created>
  <dcterms:modified xsi:type="dcterms:W3CDTF">2025-11-03T01:25:56Z</dcterms:modified>
</cp:coreProperties>
</file>