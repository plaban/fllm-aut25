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30"/>
  </p:notesMasterIdLst>
  <p:sldIdLst>
    <p:sldId id="258" r:id="rId2"/>
    <p:sldId id="401" r:id="rId3"/>
    <p:sldId id="403" r:id="rId4"/>
    <p:sldId id="404" r:id="rId5"/>
    <p:sldId id="416" r:id="rId6"/>
    <p:sldId id="417" r:id="rId7"/>
    <p:sldId id="259" r:id="rId8"/>
    <p:sldId id="418" r:id="rId9"/>
    <p:sldId id="419" r:id="rId10"/>
    <p:sldId id="422" r:id="rId11"/>
    <p:sldId id="421" r:id="rId12"/>
    <p:sldId id="423" r:id="rId13"/>
    <p:sldId id="426" r:id="rId14"/>
    <p:sldId id="425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8" r:id="rId26"/>
    <p:sldId id="439" r:id="rId27"/>
    <p:sldId id="440" r:id="rId28"/>
    <p:sldId id="43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273E75-30A8-491A-8FEF-FF03B370EBEA}">
          <p14:sldIdLst>
            <p14:sldId id="258"/>
            <p14:sldId id="401"/>
            <p14:sldId id="403"/>
            <p14:sldId id="404"/>
            <p14:sldId id="416"/>
            <p14:sldId id="417"/>
            <p14:sldId id="259"/>
            <p14:sldId id="418"/>
            <p14:sldId id="419"/>
            <p14:sldId id="422"/>
            <p14:sldId id="421"/>
            <p14:sldId id="423"/>
            <p14:sldId id="426"/>
            <p14:sldId id="425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8"/>
            <p14:sldId id="439"/>
            <p14:sldId id="440"/>
            <p14:sldId id="4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111"/>
    <a:srgbClr val="158D82"/>
    <a:srgbClr val="009900"/>
    <a:srgbClr val="8DD783"/>
    <a:srgbClr val="EA9B26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3684B-A4BC-40E1-95BF-E6FD95234C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6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D2D9-F7AD-4090-8323-69FDB659688A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6A91-04C7-45D4-9087-121C19C353FF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6ECD-DB2B-4198-8745-6CEA2F3C0822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F276-F6D2-4C3B-83D9-A8E9277B1FF0}" type="datetime1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44810-0FCB-4241-A651-4B8D99F21832}" type="datetime1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8D27-2A9C-4196-B09C-838D8BF30909}" type="datetime1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5E76-D563-42EE-9948-2365439E33CD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82BC2-0DF5-492E-9C7C-8D63BA3AC45F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FBA-9CA5-497C-A599-8887284A64DF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20096-4C40-41C9-B943-16BE4B47DC99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1F2C999-D4D9-45B8-A4A0-E7CFE0933EC5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hyperlink" Target="https://arxiv.org/pdf/2004.0372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everdark.github.io/k9/notebooks/ml/natural_language_understanding/subword_units/subword_units.nb.html#12_probablistic_subword_segmentation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804.10959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 Tokenizers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6D84-F30B-4E48-B062-7081C669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Tokens: Many Words are 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4D75-FB30-4D7F-8F2E-79AA8EE9E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a fixed vocab of tens of thousands of words, built from the training set.</a:t>
            </a:r>
          </a:p>
          <a:p>
            <a:r>
              <a:rPr lang="en-US" dirty="0"/>
              <a:t>All novel words seen at test time are mapped to a single </a:t>
            </a:r>
            <a:r>
              <a:rPr lang="en-US" dirty="0">
                <a:solidFill>
                  <a:srgbClr val="FF0000"/>
                </a:solidFill>
              </a:rPr>
              <a:t>[UNK]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E0E8-AF07-4C4D-BED0-85F69241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E81DC4-CA61-4175-844E-8E1B9412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360" y="3687765"/>
            <a:ext cx="8009314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8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8A71-8E91-422D-95B1-F0B4A34F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Tokens: Sub-Word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90D9-F0EA-4CB6-A648-A1B1F81E8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dominant modern paradigm is to learn a </a:t>
            </a:r>
            <a:r>
              <a:rPr lang="en-US" dirty="0">
                <a:solidFill>
                  <a:srgbClr val="C00000"/>
                </a:solidFill>
              </a:rPr>
              <a:t>vocabulary of parts of words </a:t>
            </a:r>
            <a:r>
              <a:rPr lang="en-US" dirty="0"/>
              <a:t>(</a:t>
            </a:r>
            <a:r>
              <a:rPr lang="en-US" dirty="0" err="1"/>
              <a:t>subword</a:t>
            </a:r>
            <a:r>
              <a:rPr lang="en-US" dirty="0"/>
              <a:t> tokens)</a:t>
            </a:r>
          </a:p>
          <a:p>
            <a:r>
              <a:rPr lang="en-US" dirty="0"/>
              <a:t>At training and testing time, each </a:t>
            </a:r>
            <a:r>
              <a:rPr lang="en-US" dirty="0">
                <a:solidFill>
                  <a:srgbClr val="C00000"/>
                </a:solidFill>
              </a:rPr>
              <a:t>word is split </a:t>
            </a:r>
            <a:r>
              <a:rPr lang="en-US" dirty="0"/>
              <a:t>into a sequence of known </a:t>
            </a:r>
            <a:r>
              <a:rPr lang="en-US" dirty="0" err="1"/>
              <a:t>subwords</a:t>
            </a:r>
            <a:endParaRPr lang="en-US" dirty="0"/>
          </a:p>
          <a:p>
            <a:pPr lvl="1"/>
            <a:r>
              <a:rPr lang="en-IN" dirty="0"/>
              <a:t>Byte-pair encoding</a:t>
            </a:r>
          </a:p>
          <a:p>
            <a:r>
              <a:rPr lang="en-US" dirty="0"/>
              <a:t>Common words end up being a part of the </a:t>
            </a:r>
            <a:r>
              <a:rPr lang="en-US" dirty="0" err="1"/>
              <a:t>subword</a:t>
            </a:r>
            <a:r>
              <a:rPr lang="en-US" dirty="0"/>
              <a:t> vocabulary</a:t>
            </a:r>
            <a:endParaRPr lang="en-IN" dirty="0"/>
          </a:p>
          <a:p>
            <a:r>
              <a:rPr lang="en-US" dirty="0"/>
              <a:t>Rarer words are split into (sometimes intuitive, sometimes not) components.</a:t>
            </a:r>
          </a:p>
          <a:p>
            <a:r>
              <a:rPr lang="en-US" dirty="0"/>
              <a:t>In the worst case, words are split into as many </a:t>
            </a:r>
            <a:r>
              <a:rPr lang="en-US" dirty="0" err="1"/>
              <a:t>subwords</a:t>
            </a:r>
            <a:r>
              <a:rPr lang="en-US" dirty="0"/>
              <a:t> as they have characters.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7420-4F33-4FFE-B68D-22366751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14B6-0AF7-4A33-BA1F-ADF14EDC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Tokens: Sub-Word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99C7D-7F44-49E3-8859-77783851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DBDDAC-3688-4BD9-8E9C-9E808DCAB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66" y="2087231"/>
            <a:ext cx="10093674" cy="291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3CDF-91D1-4B23-A9CE-276ECD33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B291C-8749-4AD1-86FB-804F7E776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Commonly used tokenizers</a:t>
            </a:r>
          </a:p>
          <a:p>
            <a:pPr lvl="1"/>
            <a:r>
              <a:rPr lang="en-IN" dirty="0"/>
              <a:t>Byte Pair Encoding (BPE) tokenizer</a:t>
            </a:r>
          </a:p>
          <a:p>
            <a:pPr lvl="1"/>
            <a:r>
              <a:rPr lang="en-IN" dirty="0" err="1"/>
              <a:t>Wordpiece</a:t>
            </a:r>
            <a:r>
              <a:rPr lang="en-IN" dirty="0"/>
              <a:t> Tokenizer</a:t>
            </a:r>
          </a:p>
          <a:p>
            <a:pPr lvl="1"/>
            <a:r>
              <a:rPr lang="en-IN" dirty="0" err="1"/>
              <a:t>SentencePiece</a:t>
            </a:r>
            <a:r>
              <a:rPr lang="en-IN" dirty="0"/>
              <a:t> Tokenizer</a:t>
            </a:r>
          </a:p>
          <a:p>
            <a:r>
              <a:rPr lang="en-IN" dirty="0"/>
              <a:t>General steps</a:t>
            </a:r>
          </a:p>
          <a:p>
            <a:pPr lvl="1"/>
            <a:r>
              <a:rPr lang="en-IN" dirty="0"/>
              <a:t>Step 1: Use a corpora to train the tokenizer (i.e., segmentation rules)</a:t>
            </a:r>
          </a:p>
          <a:p>
            <a:pPr lvl="1"/>
            <a:r>
              <a:rPr lang="en-IN" dirty="0"/>
              <a:t>Step 2: Use the learned segmentation rules to tokenize any test input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860DF-662F-441E-BBA1-70FCA56B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3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C243-EA3A-405E-89C3-3E201C39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Pair Encoding (BPE)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DDA7-20F4-4DAF-9F64-EDB67965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The C Users Journal : Free Download, Borrow, and Streaming : Internet  Archive">
            <a:extLst>
              <a:ext uri="{FF2B5EF4-FFF2-40B4-BE49-F238E27FC236}">
                <a16:creationId xmlns:a16="http://schemas.microsoft.com/office/drawing/2014/main" id="{5E892691-4F52-48CE-8DE3-D4F32D28A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80" y="1451662"/>
            <a:ext cx="3137329" cy="409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AB3B3-6B52-4834-8C15-AED851D08E49}"/>
              </a:ext>
            </a:extLst>
          </p:cNvPr>
          <p:cNvSpPr txBox="1"/>
          <p:nvPr/>
        </p:nvSpPr>
        <p:spPr>
          <a:xfrm>
            <a:off x="387627" y="5721264"/>
            <a:ext cx="420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new algorithm for data compression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172C8-0661-435E-A709-8282A4D8D1C6}"/>
              </a:ext>
            </a:extLst>
          </p:cNvPr>
          <p:cNvSpPr txBox="1"/>
          <p:nvPr/>
        </p:nvSpPr>
        <p:spPr>
          <a:xfrm>
            <a:off x="5716412" y="1266996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Philip Gage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D824E-0906-4F70-9C10-0C70B8B9B965}"/>
              </a:ext>
            </a:extLst>
          </p:cNvPr>
          <p:cNvSpPr txBox="1"/>
          <p:nvPr/>
        </p:nvSpPr>
        <p:spPr>
          <a:xfrm>
            <a:off x="5451368" y="1818498"/>
            <a:ext cx="2081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aaabdaaabac</a:t>
            </a:r>
            <a:endParaRPr lang="en-IN" sz="2400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947417C6-7779-44B3-A68A-4CEAC586B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91123"/>
              </p:ext>
            </p:extLst>
          </p:nvPr>
        </p:nvGraphicFramePr>
        <p:xfrm>
          <a:off x="9034669" y="1636328"/>
          <a:ext cx="270828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141">
                  <a:extLst>
                    <a:ext uri="{9D8B030D-6E8A-4147-A177-3AD203B41FA5}">
                      <a16:colId xmlns:a16="http://schemas.microsoft.com/office/drawing/2014/main" val="2146095153"/>
                    </a:ext>
                  </a:extLst>
                </a:gridCol>
                <a:gridCol w="1354141">
                  <a:extLst>
                    <a:ext uri="{9D8B030D-6E8A-4147-A177-3AD203B41FA5}">
                      <a16:colId xmlns:a16="http://schemas.microsoft.com/office/drawing/2014/main" val="2961087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Represents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6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4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677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2580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F884680-A56E-4383-AC0D-76CF4A40869B}"/>
              </a:ext>
            </a:extLst>
          </p:cNvPr>
          <p:cNvSpPr txBox="1"/>
          <p:nvPr/>
        </p:nvSpPr>
        <p:spPr>
          <a:xfrm>
            <a:off x="9524581" y="1178925"/>
            <a:ext cx="1463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Vocabulary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5E5DE2-3570-458A-8B89-D68399F0CC71}"/>
              </a:ext>
            </a:extLst>
          </p:cNvPr>
          <p:cNvSpPr/>
          <p:nvPr/>
        </p:nvSpPr>
        <p:spPr>
          <a:xfrm>
            <a:off x="5544402" y="1977887"/>
            <a:ext cx="329624" cy="21866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F3A80B-BAB0-4351-85D2-206FA4D92DA6}"/>
              </a:ext>
            </a:extLst>
          </p:cNvPr>
          <p:cNvSpPr/>
          <p:nvPr/>
        </p:nvSpPr>
        <p:spPr>
          <a:xfrm>
            <a:off x="6421894" y="1959877"/>
            <a:ext cx="329624" cy="21866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AA9A3F-13AF-4D53-8B5A-F72EB2CD371E}"/>
              </a:ext>
            </a:extLst>
          </p:cNvPr>
          <p:cNvCxnSpPr>
            <a:cxnSpLocks/>
          </p:cNvCxnSpPr>
          <p:nvPr/>
        </p:nvCxnSpPr>
        <p:spPr>
          <a:xfrm flipH="1">
            <a:off x="6487796" y="2249662"/>
            <a:ext cx="4082" cy="423272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511486D3-4F6C-43FC-89C7-433F9A146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195863"/>
              </p:ext>
            </p:extLst>
          </p:nvPr>
        </p:nvGraphicFramePr>
        <p:xfrm>
          <a:off x="9034669" y="3489701"/>
          <a:ext cx="27082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141">
                  <a:extLst>
                    <a:ext uri="{9D8B030D-6E8A-4147-A177-3AD203B41FA5}">
                      <a16:colId xmlns:a16="http://schemas.microsoft.com/office/drawing/2014/main" val="2146095153"/>
                    </a:ext>
                  </a:extLst>
                </a:gridCol>
                <a:gridCol w="1354141">
                  <a:extLst>
                    <a:ext uri="{9D8B030D-6E8A-4147-A177-3AD203B41FA5}">
                      <a16:colId xmlns:a16="http://schemas.microsoft.com/office/drawing/2014/main" val="2961087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6346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D3376B1-4925-4E44-A880-B12C56F9C7B9}"/>
              </a:ext>
            </a:extLst>
          </p:cNvPr>
          <p:cNvSpPr txBox="1"/>
          <p:nvPr/>
        </p:nvSpPr>
        <p:spPr>
          <a:xfrm>
            <a:off x="5642666" y="2681922"/>
            <a:ext cx="1765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ZabdZabac</a:t>
            </a:r>
            <a:endParaRPr lang="en-IN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025218-93A4-4181-A5F7-4DA1E404E6D6}"/>
              </a:ext>
            </a:extLst>
          </p:cNvPr>
          <p:cNvSpPr/>
          <p:nvPr/>
        </p:nvSpPr>
        <p:spPr>
          <a:xfrm>
            <a:off x="6633345" y="2748332"/>
            <a:ext cx="329624" cy="27633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7BD818-5325-43F9-9A5F-7693F838E410}"/>
              </a:ext>
            </a:extLst>
          </p:cNvPr>
          <p:cNvSpPr/>
          <p:nvPr/>
        </p:nvSpPr>
        <p:spPr>
          <a:xfrm>
            <a:off x="5898105" y="2758271"/>
            <a:ext cx="329624" cy="27633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E53ED6-016F-44B9-9C31-A9AA4914E0AE}"/>
              </a:ext>
            </a:extLst>
          </p:cNvPr>
          <p:cNvSpPr txBox="1"/>
          <p:nvPr/>
        </p:nvSpPr>
        <p:spPr>
          <a:xfrm>
            <a:off x="5852538" y="3486332"/>
            <a:ext cx="1368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ZYdZYac</a:t>
            </a:r>
            <a:endParaRPr lang="en-IN" sz="2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FB4CF3-0079-4AF8-BA82-56EC16B466B8}"/>
              </a:ext>
            </a:extLst>
          </p:cNvPr>
          <p:cNvCxnSpPr>
            <a:cxnSpLocks/>
          </p:cNvCxnSpPr>
          <p:nvPr/>
        </p:nvCxnSpPr>
        <p:spPr>
          <a:xfrm flipH="1">
            <a:off x="6525504" y="3143587"/>
            <a:ext cx="4082" cy="423272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77852AD3-953B-4077-9BC3-39B8A0967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027713"/>
              </p:ext>
            </p:extLst>
          </p:nvPr>
        </p:nvGraphicFramePr>
        <p:xfrm>
          <a:off x="9034669" y="3856412"/>
          <a:ext cx="27082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141">
                  <a:extLst>
                    <a:ext uri="{9D8B030D-6E8A-4147-A177-3AD203B41FA5}">
                      <a16:colId xmlns:a16="http://schemas.microsoft.com/office/drawing/2014/main" val="2146095153"/>
                    </a:ext>
                  </a:extLst>
                </a:gridCol>
                <a:gridCol w="1354141">
                  <a:extLst>
                    <a:ext uri="{9D8B030D-6E8A-4147-A177-3AD203B41FA5}">
                      <a16:colId xmlns:a16="http://schemas.microsoft.com/office/drawing/2014/main" val="2961087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63463"/>
                  </a:ext>
                </a:extLst>
              </a:tr>
            </a:tbl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647452-CB8B-4AF7-84CD-FA9F1E5DAFAB}"/>
              </a:ext>
            </a:extLst>
          </p:cNvPr>
          <p:cNvSpPr/>
          <p:nvPr/>
        </p:nvSpPr>
        <p:spPr>
          <a:xfrm>
            <a:off x="6475698" y="3561259"/>
            <a:ext cx="329624" cy="27633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93ADD43-3E55-4AE7-93DA-94E5432A59A0}"/>
              </a:ext>
            </a:extLst>
          </p:cNvPr>
          <p:cNvSpPr/>
          <p:nvPr/>
        </p:nvSpPr>
        <p:spPr>
          <a:xfrm>
            <a:off x="5939238" y="3571198"/>
            <a:ext cx="329624" cy="27633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FBACA0-51F5-4DCB-9B50-F4B4F3961D51}"/>
              </a:ext>
            </a:extLst>
          </p:cNvPr>
          <p:cNvSpPr txBox="1"/>
          <p:nvPr/>
        </p:nvSpPr>
        <p:spPr>
          <a:xfrm>
            <a:off x="5941989" y="4245871"/>
            <a:ext cx="1096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XdXac</a:t>
            </a:r>
            <a:endParaRPr lang="en-IN" sz="24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2E1180-8BFF-402B-9980-5C035BBCD4BA}"/>
              </a:ext>
            </a:extLst>
          </p:cNvPr>
          <p:cNvCxnSpPr>
            <a:cxnSpLocks/>
          </p:cNvCxnSpPr>
          <p:nvPr/>
        </p:nvCxnSpPr>
        <p:spPr>
          <a:xfrm flipH="1">
            <a:off x="6525504" y="3903126"/>
            <a:ext cx="4082" cy="423272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21B6E4A-120E-4098-B604-BB6055EFB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98192"/>
              </p:ext>
            </p:extLst>
          </p:nvPr>
        </p:nvGraphicFramePr>
        <p:xfrm>
          <a:off x="9032146" y="4226425"/>
          <a:ext cx="27082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141">
                  <a:extLst>
                    <a:ext uri="{9D8B030D-6E8A-4147-A177-3AD203B41FA5}">
                      <a16:colId xmlns:a16="http://schemas.microsoft.com/office/drawing/2014/main" val="2146095153"/>
                    </a:ext>
                  </a:extLst>
                </a:gridCol>
                <a:gridCol w="1354141">
                  <a:extLst>
                    <a:ext uri="{9D8B030D-6E8A-4147-A177-3AD203B41FA5}">
                      <a16:colId xmlns:a16="http://schemas.microsoft.com/office/drawing/2014/main" val="2961087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ZY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6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3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0" grpId="0" animBg="1"/>
      <p:bldP spid="13" grpId="0" animBg="1"/>
      <p:bldP spid="18" grpId="0"/>
      <p:bldP spid="21" grpId="0" animBg="1"/>
      <p:bldP spid="22" grpId="0" animBg="1"/>
      <p:bldP spid="23" grpId="0"/>
      <p:bldP spid="26" grpId="0" animBg="1"/>
      <p:bldP spid="27" grpId="0" animBg="1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632F-D999-4DC7-9DBB-BF60F235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Byte Pair Encoding (BPE):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23233-1F1B-409F-B03F-87F5EBBE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8AC8F-2893-4A57-A00D-1785AA0934D2}"/>
              </a:ext>
            </a:extLst>
          </p:cNvPr>
          <p:cNvSpPr txBox="1"/>
          <p:nvPr/>
        </p:nvSpPr>
        <p:spPr>
          <a:xfrm>
            <a:off x="4691270" y="1033669"/>
            <a:ext cx="1941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Tokenization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5AEA3-8D4B-4C29-9D8F-41D24785B559}"/>
              </a:ext>
            </a:extLst>
          </p:cNvPr>
          <p:cNvSpPr txBox="1"/>
          <p:nvPr/>
        </p:nvSpPr>
        <p:spPr>
          <a:xfrm>
            <a:off x="854766" y="1603512"/>
            <a:ext cx="5324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Pat </a:t>
            </a:r>
            <a:r>
              <a:rPr lang="en-IN" sz="2000" dirty="0" err="1">
                <a:solidFill>
                  <a:srgbClr val="0070C0"/>
                </a:solidFill>
              </a:rPr>
              <a:t>pat</a:t>
            </a:r>
            <a:r>
              <a:rPr lang="en-IN" sz="2000" dirty="0">
                <a:solidFill>
                  <a:srgbClr val="0070C0"/>
                </a:solidFill>
              </a:rPr>
              <a:t> cat sat on mat cat sat on mat with pat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D13C3-BBBC-4D01-B3AB-D69C403C5FB1}"/>
              </a:ext>
            </a:extLst>
          </p:cNvPr>
          <p:cNvSpPr txBox="1"/>
          <p:nvPr/>
        </p:nvSpPr>
        <p:spPr>
          <a:xfrm>
            <a:off x="854765" y="1988689"/>
            <a:ext cx="8453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Convert text to lowercase. Replace whitespace with a special symbol ␣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467EE-F414-46AB-A185-DA219087AC06}"/>
              </a:ext>
            </a:extLst>
          </p:cNvPr>
          <p:cNvSpPr txBox="1"/>
          <p:nvPr/>
        </p:nvSpPr>
        <p:spPr>
          <a:xfrm>
            <a:off x="1120637" y="2464853"/>
            <a:ext cx="1007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[pat␣], [pat␣], [cat␣], [sat␣], [on␣], [mat␣], [cat␣], [sat␣], [on␣], [mat␣], [with␣], [pat␣]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50924-F8BF-4FA6-AD91-88379A9F7B43}"/>
              </a:ext>
            </a:extLst>
          </p:cNvPr>
          <p:cNvSpPr txBox="1"/>
          <p:nvPr/>
        </p:nvSpPr>
        <p:spPr>
          <a:xfrm>
            <a:off x="854765" y="3088220"/>
            <a:ext cx="9859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Tokenize at every character boundary. Build vocabulary with each unique character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1C88EB-06AB-4971-A016-F64ED4FF082F}"/>
              </a:ext>
            </a:extLst>
          </p:cNvPr>
          <p:cNvSpPr txBox="1"/>
          <p:nvPr/>
        </p:nvSpPr>
        <p:spPr>
          <a:xfrm>
            <a:off x="1408870" y="3928688"/>
            <a:ext cx="81310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[['p', 'a', 't', '␣'], ['p', 'a', 't', '␣'], ['c', 'a', 't', '␣'], ['s', 'a', 't', '␣'],</a:t>
            </a:r>
          </a:p>
          <a:p>
            <a:r>
              <a:rPr lang="en-IN" sz="2000" dirty="0"/>
              <a:t> ['o', 'n', '␣'], ['m', 'a', 't', '␣'], ['c', 'a', 't', '␣'], ['s', 'a', 't', '␣'], </a:t>
            </a:r>
          </a:p>
          <a:p>
            <a:r>
              <a:rPr lang="en-IN" sz="2000" dirty="0"/>
              <a:t> ['o', 'n', '␣'], ['m', 'a', 't', '␣'], ['w', '</a:t>
            </a:r>
            <a:r>
              <a:rPr lang="en-IN" sz="2000" dirty="0" err="1"/>
              <a:t>i</a:t>
            </a:r>
            <a:r>
              <a:rPr lang="en-IN" sz="2000" dirty="0"/>
              <a:t>', 't', 'h', '␣'], ['p', 'a', 't', '␣']]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062FE1-434F-4CDE-826A-DB3ECA29496E}"/>
              </a:ext>
            </a:extLst>
          </p:cNvPr>
          <p:cNvSpPr txBox="1"/>
          <p:nvPr/>
        </p:nvSpPr>
        <p:spPr>
          <a:xfrm>
            <a:off x="854765" y="3498456"/>
            <a:ext cx="2510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INITIAL TOKENS: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0ABD2A-D7B1-4B88-8728-FA8A81788660}"/>
              </a:ext>
            </a:extLst>
          </p:cNvPr>
          <p:cNvSpPr txBox="1"/>
          <p:nvPr/>
        </p:nvSpPr>
        <p:spPr>
          <a:xfrm>
            <a:off x="854765" y="5113961"/>
            <a:ext cx="2397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INITIAL VOCAB: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20B55B-0655-47D0-9024-F81BB7A89AC3}"/>
              </a:ext>
            </a:extLst>
          </p:cNvPr>
          <p:cNvSpPr txBox="1"/>
          <p:nvPr/>
        </p:nvSpPr>
        <p:spPr>
          <a:xfrm>
            <a:off x="1319419" y="5503053"/>
            <a:ext cx="4859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['a', 'c', 'h', '</a:t>
            </a:r>
            <a:r>
              <a:rPr lang="en-IN" dirty="0" err="1"/>
              <a:t>i</a:t>
            </a:r>
            <a:r>
              <a:rPr lang="en-IN" dirty="0"/>
              <a:t>', 'm', 'n', 'o', 'p', 's', 't', 'w', '␣']</a:t>
            </a:r>
          </a:p>
        </p:txBody>
      </p:sp>
    </p:spTree>
    <p:extLst>
      <p:ext uri="{BB962C8B-B14F-4D97-AF65-F5344CB8AC3E}">
        <p14:creationId xmlns:p14="http://schemas.microsoft.com/office/powerpoint/2010/main" val="407124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A79E-2B11-42AB-8EB5-F4BF8F13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Pair Encoding (BPE)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A3280-0B5C-426A-9B38-AD51C142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20">
            <a:extLst>
              <a:ext uri="{FF2B5EF4-FFF2-40B4-BE49-F238E27FC236}">
                <a16:creationId xmlns:a16="http://schemas.microsoft.com/office/drawing/2014/main" id="{00192F12-167F-42A5-92C8-DFD6A7BE3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42821"/>
              </p:ext>
            </p:extLst>
          </p:nvPr>
        </p:nvGraphicFramePr>
        <p:xfrm>
          <a:off x="7786756" y="1087416"/>
          <a:ext cx="2609574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7548">
                  <a:extLst>
                    <a:ext uri="{9D8B030D-6E8A-4147-A177-3AD203B41FA5}">
                      <a16:colId xmlns:a16="http://schemas.microsoft.com/office/drawing/2014/main" val="2606537423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val="1993236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187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8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74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4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249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57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13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80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5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394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5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499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1434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F208CA-FB4F-43FF-9D80-1E6565C429F0}"/>
              </a:ext>
            </a:extLst>
          </p:cNvPr>
          <p:cNvSpPr txBox="1"/>
          <p:nvPr/>
        </p:nvSpPr>
        <p:spPr>
          <a:xfrm>
            <a:off x="535432" y="193801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INITIAL TOKENS: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7E832-7459-4C9A-990E-7BA020E2EB03}"/>
              </a:ext>
            </a:extLst>
          </p:cNvPr>
          <p:cNvSpPr txBox="1"/>
          <p:nvPr/>
        </p:nvSpPr>
        <p:spPr>
          <a:xfrm>
            <a:off x="535432" y="339326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INITIAL VOCAB: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8BEF1-2290-4161-8BBA-9C2D6E90A5A9}"/>
              </a:ext>
            </a:extLst>
          </p:cNvPr>
          <p:cNvSpPr txBox="1"/>
          <p:nvPr/>
        </p:nvSpPr>
        <p:spPr>
          <a:xfrm>
            <a:off x="1000086" y="378235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['a', 'c', 'h', '</a:t>
            </a:r>
            <a:r>
              <a:rPr lang="en-IN" dirty="0" err="1"/>
              <a:t>i</a:t>
            </a:r>
            <a:r>
              <a:rPr lang="en-IN" dirty="0"/>
              <a:t>', 'm', 'n', 'o', 'p', 's', 't', 'w', '␣']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89222-16B9-44A6-BCAA-A00BAF72FC45}"/>
              </a:ext>
            </a:extLst>
          </p:cNvPr>
          <p:cNvSpPr txBox="1"/>
          <p:nvPr/>
        </p:nvSpPr>
        <p:spPr>
          <a:xfrm>
            <a:off x="711850" y="2388639"/>
            <a:ext cx="7074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[['p', 'a', 't', '␣'], ['p', 'a', 't', '␣'], ['c', 'a', 't', '␣'], ['s', 'a', 't', '␣'],</a:t>
            </a:r>
          </a:p>
          <a:p>
            <a:r>
              <a:rPr lang="en-IN" dirty="0"/>
              <a:t> ['o', 'n', '␣'], ['m', 'a', 't', '␣'], ['c', 'a', 't', '␣'], ['s', 'a', 't', '␣'], </a:t>
            </a:r>
          </a:p>
          <a:p>
            <a:r>
              <a:rPr lang="en-IN" dirty="0"/>
              <a:t> ['o', 'n', '␣'], ['m', 'a', 't', '␣'], ['w', '</a:t>
            </a:r>
            <a:r>
              <a:rPr lang="en-IN" dirty="0" err="1"/>
              <a:t>i</a:t>
            </a:r>
            <a:r>
              <a:rPr lang="en-IN" dirty="0"/>
              <a:t>', 't', 'h', '␣'], ['p', 'a', 't', '␣']]</a:t>
            </a:r>
          </a:p>
        </p:txBody>
      </p:sp>
    </p:spTree>
    <p:extLst>
      <p:ext uri="{BB962C8B-B14F-4D97-AF65-F5344CB8AC3E}">
        <p14:creationId xmlns:p14="http://schemas.microsoft.com/office/powerpoint/2010/main" val="365251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F12E-2C3B-4DE4-BBEA-3E7915E4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Byte Pair Encoding (BPE):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2B0A5-6F84-41AA-AFBB-57953663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4B822-A8C8-4E13-A204-30549139F2D7}"/>
              </a:ext>
            </a:extLst>
          </p:cNvPr>
          <p:cNvSpPr txBox="1"/>
          <p:nvPr/>
        </p:nvSpPr>
        <p:spPr>
          <a:xfrm>
            <a:off x="4134678" y="1033669"/>
            <a:ext cx="2629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Merge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3E6D1-DEED-4616-825D-D104812F310A}"/>
              </a:ext>
            </a:extLst>
          </p:cNvPr>
          <p:cNvSpPr txBox="1"/>
          <p:nvPr/>
        </p:nvSpPr>
        <p:spPr>
          <a:xfrm>
            <a:off x="666716" y="1620318"/>
            <a:ext cx="7244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TOKENS: [[p, a, t, ␣], [p, a, t, ␣], [c, a, t, ␣], [s, a, t, ␣], [o, n, ␣], </a:t>
            </a:r>
          </a:p>
          <a:p>
            <a:r>
              <a:rPr lang="en-IN" dirty="0"/>
              <a:t>                   [m, a, t, ␣], [c, a, t, ␣], [s, a, t, ␣], [o, n, ␣], </a:t>
            </a:r>
          </a:p>
          <a:p>
            <a:r>
              <a:rPr lang="en-IN" dirty="0"/>
              <a:t>                   [m, a, t, ␣], [w, </a:t>
            </a:r>
            <a:r>
              <a:rPr lang="en-IN" dirty="0" err="1"/>
              <a:t>i</a:t>
            </a:r>
            <a:r>
              <a:rPr lang="en-IN" dirty="0"/>
              <a:t>, t, h, ␣], [p, a, t, ␣]]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96DC2-E88B-4F12-A367-B23060960666}"/>
              </a:ext>
            </a:extLst>
          </p:cNvPr>
          <p:cNvSpPr txBox="1"/>
          <p:nvPr/>
        </p:nvSpPr>
        <p:spPr>
          <a:xfrm>
            <a:off x="666716" y="2480502"/>
            <a:ext cx="424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VOCAB: [a, c, h, </a:t>
            </a:r>
            <a:r>
              <a:rPr lang="en-IN" dirty="0" err="1"/>
              <a:t>i</a:t>
            </a:r>
            <a:r>
              <a:rPr lang="en-IN" dirty="0"/>
              <a:t>, m, n, o, p, s, t, w, ␣]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F4FC2-0B87-4661-A1B6-E9118CF93F10}"/>
              </a:ext>
            </a:extLst>
          </p:cNvPr>
          <p:cNvSpPr txBox="1"/>
          <p:nvPr/>
        </p:nvSpPr>
        <p:spPr>
          <a:xfrm>
            <a:off x="666716" y="2972995"/>
            <a:ext cx="6906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PAIRS: (</a:t>
            </a:r>
            <a:r>
              <a:rPr lang="en-IN" dirty="0" err="1"/>
              <a:t>p,a</a:t>
            </a:r>
            <a:r>
              <a:rPr lang="en-IN" dirty="0"/>
              <a:t>)=3 | (</a:t>
            </a:r>
            <a:r>
              <a:rPr lang="en-IN" dirty="0" err="1"/>
              <a:t>a,t</a:t>
            </a:r>
            <a:r>
              <a:rPr lang="en-IN" dirty="0"/>
              <a:t>)=9 | (t,␣)=9 | (</a:t>
            </a:r>
            <a:r>
              <a:rPr lang="en-IN" dirty="0" err="1"/>
              <a:t>c,a</a:t>
            </a:r>
            <a:r>
              <a:rPr lang="en-IN" dirty="0"/>
              <a:t>)=2 | (</a:t>
            </a:r>
            <a:r>
              <a:rPr lang="en-IN" dirty="0" err="1"/>
              <a:t>s,a</a:t>
            </a:r>
            <a:r>
              <a:rPr lang="en-IN" dirty="0"/>
              <a:t>)=2 | (</a:t>
            </a:r>
            <a:r>
              <a:rPr lang="en-IN" dirty="0" err="1"/>
              <a:t>o,n</a:t>
            </a:r>
            <a:r>
              <a:rPr lang="en-IN" dirty="0"/>
              <a:t>)=2 | (n,␣)=2 | (</a:t>
            </a:r>
            <a:r>
              <a:rPr lang="en-IN" dirty="0" err="1"/>
              <a:t>m,a</a:t>
            </a:r>
            <a:r>
              <a:rPr lang="en-IN" dirty="0"/>
              <a:t>)=2 | (</a:t>
            </a:r>
            <a:r>
              <a:rPr lang="en-IN" dirty="0" err="1"/>
              <a:t>w,i</a:t>
            </a:r>
            <a:r>
              <a:rPr lang="en-IN" dirty="0"/>
              <a:t>)=1 | (</a:t>
            </a:r>
            <a:r>
              <a:rPr lang="en-IN" dirty="0" err="1"/>
              <a:t>i,t</a:t>
            </a:r>
            <a:r>
              <a:rPr lang="en-IN" dirty="0"/>
              <a:t>)=1 | (</a:t>
            </a:r>
            <a:r>
              <a:rPr lang="en-IN" dirty="0" err="1"/>
              <a:t>t,h</a:t>
            </a:r>
            <a:r>
              <a:rPr lang="en-IN" dirty="0"/>
              <a:t>)=1 | (h,␣)=1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149AA-8338-41C0-BCE3-5FABFB5A0CB4}"/>
              </a:ext>
            </a:extLst>
          </p:cNvPr>
          <p:cNvSpPr txBox="1"/>
          <p:nvPr/>
        </p:nvSpPr>
        <p:spPr>
          <a:xfrm>
            <a:off x="666716" y="3742484"/>
            <a:ext cx="7016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SORTED: (</a:t>
            </a:r>
            <a:r>
              <a:rPr lang="en-IN" dirty="0" err="1"/>
              <a:t>a,t</a:t>
            </a:r>
            <a:r>
              <a:rPr lang="en-IN" dirty="0"/>
              <a:t>)=9 | (t,␣)=9 | (</a:t>
            </a:r>
            <a:r>
              <a:rPr lang="en-IN" dirty="0" err="1"/>
              <a:t>p,a</a:t>
            </a:r>
            <a:r>
              <a:rPr lang="en-IN" dirty="0"/>
              <a:t>)=3 | (</a:t>
            </a:r>
            <a:r>
              <a:rPr lang="en-IN" dirty="0" err="1"/>
              <a:t>c,a</a:t>
            </a:r>
            <a:r>
              <a:rPr lang="en-IN" dirty="0"/>
              <a:t>)=2 | (</a:t>
            </a:r>
            <a:r>
              <a:rPr lang="en-IN" dirty="0" err="1"/>
              <a:t>s,a</a:t>
            </a:r>
            <a:r>
              <a:rPr lang="en-IN" dirty="0"/>
              <a:t>)=2 | (</a:t>
            </a:r>
            <a:r>
              <a:rPr lang="en-IN" dirty="0" err="1"/>
              <a:t>o,n</a:t>
            </a:r>
            <a:r>
              <a:rPr lang="en-IN" dirty="0"/>
              <a:t>)=2 |    </a:t>
            </a:r>
            <a:br>
              <a:rPr lang="en-IN" dirty="0"/>
            </a:br>
            <a:r>
              <a:rPr lang="en-IN" dirty="0"/>
              <a:t>                  (n,␣)=2 | (</a:t>
            </a:r>
            <a:r>
              <a:rPr lang="en-IN" dirty="0" err="1"/>
              <a:t>m,a</a:t>
            </a:r>
            <a:r>
              <a:rPr lang="en-IN" dirty="0"/>
              <a:t>)=2 | (</a:t>
            </a:r>
            <a:r>
              <a:rPr lang="en-IN" dirty="0" err="1"/>
              <a:t>w,i</a:t>
            </a:r>
            <a:r>
              <a:rPr lang="en-IN" dirty="0"/>
              <a:t>)=1 | (</a:t>
            </a:r>
            <a:r>
              <a:rPr lang="en-IN" dirty="0" err="1"/>
              <a:t>i,t</a:t>
            </a:r>
            <a:r>
              <a:rPr lang="en-IN" dirty="0"/>
              <a:t>)=1 | (</a:t>
            </a:r>
            <a:r>
              <a:rPr lang="en-IN" dirty="0" err="1"/>
              <a:t>t,h</a:t>
            </a:r>
            <a:r>
              <a:rPr lang="en-IN" dirty="0"/>
              <a:t>)=1 | (h,␣)=1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E5CD4B-AD2A-4E61-AA32-59BFE93D97EE}"/>
              </a:ext>
            </a:extLst>
          </p:cNvPr>
          <p:cNvSpPr txBox="1"/>
          <p:nvPr/>
        </p:nvSpPr>
        <p:spPr>
          <a:xfrm>
            <a:off x="666716" y="4463071"/>
            <a:ext cx="2155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MERGE: (</a:t>
            </a:r>
            <a:r>
              <a:rPr lang="en-IN" dirty="0" err="1"/>
              <a:t>a,t</a:t>
            </a:r>
            <a:r>
              <a:rPr lang="en-IN" dirty="0"/>
              <a:t>) → 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5D43C-5C32-4D43-A658-B1CD6F4E599F}"/>
              </a:ext>
            </a:extLst>
          </p:cNvPr>
          <p:cNvSpPr txBox="1"/>
          <p:nvPr/>
        </p:nvSpPr>
        <p:spPr>
          <a:xfrm>
            <a:off x="666716" y="4874464"/>
            <a:ext cx="6676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UPDATED TOKS: [[p, at, ␣], [p, at, ␣], [c, at, ␣], [s, at, ␣], </a:t>
            </a:r>
          </a:p>
          <a:p>
            <a:r>
              <a:rPr lang="en-IN" dirty="0">
                <a:solidFill>
                  <a:srgbClr val="0070C0"/>
                </a:solidFill>
              </a:rPr>
              <a:t>                                 [o, n, ␣], [m, at, ␣], [c, at, ␣], [s, at, ␣], </a:t>
            </a:r>
          </a:p>
          <a:p>
            <a:r>
              <a:rPr lang="en-IN" dirty="0">
                <a:solidFill>
                  <a:srgbClr val="0070C0"/>
                </a:solidFill>
              </a:rPr>
              <a:t>                                 [o, n, ␣], [m, at, ␣], [w, </a:t>
            </a:r>
            <a:r>
              <a:rPr lang="en-IN" dirty="0" err="1">
                <a:solidFill>
                  <a:srgbClr val="0070C0"/>
                </a:solidFill>
              </a:rPr>
              <a:t>i</a:t>
            </a:r>
            <a:r>
              <a:rPr lang="en-IN" dirty="0">
                <a:solidFill>
                  <a:srgbClr val="0070C0"/>
                </a:solidFill>
              </a:rPr>
              <a:t>, t, h, ␣], [p, at, ␣]]</a:t>
            </a:r>
          </a:p>
        </p:txBody>
      </p:sp>
      <p:graphicFrame>
        <p:nvGraphicFramePr>
          <p:cNvPr id="18" name="Table 20">
            <a:extLst>
              <a:ext uri="{FF2B5EF4-FFF2-40B4-BE49-F238E27FC236}">
                <a16:creationId xmlns:a16="http://schemas.microsoft.com/office/drawing/2014/main" id="{CFC42CCA-7FCB-457D-8615-7554851A9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44506"/>
              </p:ext>
            </p:extLst>
          </p:nvPr>
        </p:nvGraphicFramePr>
        <p:xfrm>
          <a:off x="8368748" y="1222682"/>
          <a:ext cx="1868555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5678">
                  <a:extLst>
                    <a:ext uri="{9D8B030D-6E8A-4147-A177-3AD203B41FA5}">
                      <a16:colId xmlns:a16="http://schemas.microsoft.com/office/drawing/2014/main" val="2606537423"/>
                    </a:ext>
                  </a:extLst>
                </a:gridCol>
                <a:gridCol w="1162877">
                  <a:extLst>
                    <a:ext uri="{9D8B030D-6E8A-4147-A177-3AD203B41FA5}">
                      <a16:colId xmlns:a16="http://schemas.microsoft.com/office/drawing/2014/main" val="1993236031"/>
                    </a:ext>
                  </a:extLst>
                </a:gridCol>
              </a:tblGrid>
              <a:tr h="271385">
                <a:tc>
                  <a:txBody>
                    <a:bodyPr/>
                    <a:lstStyle/>
                    <a:p>
                      <a:r>
                        <a:rPr lang="en-IN" sz="1200" dirty="0"/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187281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8983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74216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42419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/>
                        <a:t>i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249721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57726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13156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800237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54936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394123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5932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49909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143497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65735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065E985-8C0B-4478-A7DD-63EC61313621}"/>
              </a:ext>
            </a:extLst>
          </p:cNvPr>
          <p:cNvSpPr txBox="1"/>
          <p:nvPr/>
        </p:nvSpPr>
        <p:spPr>
          <a:xfrm>
            <a:off x="639850" y="1225890"/>
            <a:ext cx="1363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Merge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08106-9540-460E-8762-3A95A2E8A5FD}"/>
              </a:ext>
            </a:extLst>
          </p:cNvPr>
          <p:cNvSpPr txBox="1"/>
          <p:nvPr/>
        </p:nvSpPr>
        <p:spPr>
          <a:xfrm>
            <a:off x="639849" y="5889262"/>
            <a:ext cx="6124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UPDATED VOCAB: [a, c, c, h, </a:t>
            </a:r>
            <a:r>
              <a:rPr lang="en-IN" dirty="0" err="1">
                <a:solidFill>
                  <a:srgbClr val="00B050"/>
                </a:solidFill>
              </a:rPr>
              <a:t>i</a:t>
            </a:r>
            <a:r>
              <a:rPr lang="en-IN" dirty="0">
                <a:solidFill>
                  <a:srgbClr val="00B050"/>
                </a:solidFill>
              </a:rPr>
              <a:t>, m, n, o, p, s, t, w, ␣, at]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CF377-3876-47A9-BDF6-3F5FCED81976}"/>
              </a:ext>
            </a:extLst>
          </p:cNvPr>
          <p:cNvSpPr txBox="1"/>
          <p:nvPr/>
        </p:nvSpPr>
        <p:spPr>
          <a:xfrm>
            <a:off x="666716" y="6376366"/>
            <a:ext cx="3066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MERGE RULES: [(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a,t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) → at]</a:t>
            </a:r>
          </a:p>
        </p:txBody>
      </p:sp>
    </p:spTree>
    <p:extLst>
      <p:ext uri="{BB962C8B-B14F-4D97-AF65-F5344CB8AC3E}">
        <p14:creationId xmlns:p14="http://schemas.microsoft.com/office/powerpoint/2010/main" val="212012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16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1F29-45C3-4C26-ACE2-13EC1BDC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Pair Encoding (BPE):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39F5E-EE04-4FA5-9185-45F03253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C4E37-B26E-4162-81A3-AE6D58F97C22}"/>
              </a:ext>
            </a:extLst>
          </p:cNvPr>
          <p:cNvSpPr txBox="1"/>
          <p:nvPr/>
        </p:nvSpPr>
        <p:spPr>
          <a:xfrm>
            <a:off x="719363" y="1183626"/>
            <a:ext cx="1363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Merge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CBBA8-CAC4-42F3-8FE4-33C1E2039F78}"/>
              </a:ext>
            </a:extLst>
          </p:cNvPr>
          <p:cNvSpPr txBox="1"/>
          <p:nvPr/>
        </p:nvSpPr>
        <p:spPr>
          <a:xfrm>
            <a:off x="979004" y="1704056"/>
            <a:ext cx="102969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PAIRS: (p, at)=3 | (at, ␣)=9 | (c, at)=2 | (s, at)=2 | (o, n)=2 | (n, ␣)=2 | (m, at)=2 | (w, </a:t>
            </a:r>
            <a:r>
              <a:rPr lang="en-IN" dirty="0" err="1"/>
              <a:t>i</a:t>
            </a:r>
            <a:r>
              <a:rPr lang="en-IN" dirty="0"/>
              <a:t>)=1 | </a:t>
            </a:r>
          </a:p>
          <a:p>
            <a:r>
              <a:rPr lang="en-IN" dirty="0"/>
              <a:t>             (</a:t>
            </a:r>
            <a:r>
              <a:rPr lang="en-IN" dirty="0" err="1"/>
              <a:t>i</a:t>
            </a:r>
            <a:r>
              <a:rPr lang="en-IN" dirty="0"/>
              <a:t>, t)=1 | (t, h)=1 | (h, ␣)=1</a:t>
            </a:r>
          </a:p>
          <a:p>
            <a:endParaRPr lang="en-IN" dirty="0"/>
          </a:p>
          <a:p>
            <a:r>
              <a:rPr lang="en-IN" dirty="0"/>
              <a:t>SORTED: (at, ␣)=9 | (p, at)=3 | (c, at)=2 | (s, at)=2 | (o, n)=2 | (n, ␣)=2 | (m, at)=2 | </a:t>
            </a:r>
          </a:p>
          <a:p>
            <a:r>
              <a:rPr lang="en-IN" dirty="0"/>
              <a:t>                  (w, </a:t>
            </a:r>
            <a:r>
              <a:rPr lang="en-IN" dirty="0" err="1"/>
              <a:t>i</a:t>
            </a:r>
            <a:r>
              <a:rPr lang="en-IN" dirty="0"/>
              <a:t>)=1 | (</a:t>
            </a:r>
            <a:r>
              <a:rPr lang="en-IN" dirty="0" err="1"/>
              <a:t>i</a:t>
            </a:r>
            <a:r>
              <a:rPr lang="en-IN" dirty="0"/>
              <a:t>, t)=1 | (t, h)=1 | (h, ␣)=1</a:t>
            </a:r>
          </a:p>
          <a:p>
            <a:endParaRPr lang="en-IN" dirty="0"/>
          </a:p>
          <a:p>
            <a:r>
              <a:rPr lang="en-IN" dirty="0"/>
              <a:t>MERGE: (at, ␣) → at␣</a:t>
            </a:r>
          </a:p>
          <a:p>
            <a:endParaRPr lang="en-IN" dirty="0"/>
          </a:p>
          <a:p>
            <a:r>
              <a:rPr lang="en-IN" dirty="0">
                <a:solidFill>
                  <a:srgbClr val="0070C0"/>
                </a:solidFill>
              </a:rPr>
              <a:t>UPDATED TOKS: [[p, at␣], [p, at␣], [c, at␣], [s, at␣], [o, n, ␣], [m, at␣], [c, at␣], [s, at␣], </a:t>
            </a:r>
          </a:p>
          <a:p>
            <a:r>
              <a:rPr lang="en-IN" dirty="0">
                <a:solidFill>
                  <a:srgbClr val="0070C0"/>
                </a:solidFill>
              </a:rPr>
              <a:t>                                 [o, n, ␣], [m, at␣], [w, </a:t>
            </a:r>
            <a:r>
              <a:rPr lang="en-IN" dirty="0" err="1">
                <a:solidFill>
                  <a:srgbClr val="0070C0"/>
                </a:solidFill>
              </a:rPr>
              <a:t>i</a:t>
            </a:r>
            <a:r>
              <a:rPr lang="en-IN" dirty="0">
                <a:solidFill>
                  <a:srgbClr val="0070C0"/>
                </a:solidFill>
              </a:rPr>
              <a:t>, t, h, ␣], [p, at␣]]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UPDATED VOCAB: [a, at, at␣, c, h, </a:t>
            </a:r>
            <a:r>
              <a:rPr lang="en-IN" dirty="0" err="1">
                <a:solidFill>
                  <a:srgbClr val="00B050"/>
                </a:solidFill>
              </a:rPr>
              <a:t>i</a:t>
            </a:r>
            <a:r>
              <a:rPr lang="en-IN" dirty="0">
                <a:solidFill>
                  <a:srgbClr val="00B050"/>
                </a:solidFill>
              </a:rPr>
              <a:t>, m, n, o, p, s, t, w, ␣]</a:t>
            </a:r>
          </a:p>
          <a:p>
            <a:endParaRPr lang="en-IN" dirty="0"/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MERGE RULES: [(a, t) → at, (at, ␣) → at␣]</a:t>
            </a:r>
          </a:p>
        </p:txBody>
      </p:sp>
    </p:spTree>
    <p:extLst>
      <p:ext uri="{BB962C8B-B14F-4D97-AF65-F5344CB8AC3E}">
        <p14:creationId xmlns:p14="http://schemas.microsoft.com/office/powerpoint/2010/main" val="198016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87BC-C6F7-470B-A471-CA59CAE1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Pair Encoding (BPE):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05A15-A6F2-431B-B5DB-530711A8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D4409-508F-42A1-B581-448E4CEE3252}"/>
              </a:ext>
            </a:extLst>
          </p:cNvPr>
          <p:cNvSpPr txBox="1"/>
          <p:nvPr/>
        </p:nvSpPr>
        <p:spPr>
          <a:xfrm>
            <a:off x="823291" y="1647983"/>
            <a:ext cx="105454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PAIRS: (p, at␣)=3 | (c, at␣)=2 | (s, at␣)=2 | (o, n)=2 | (n, ␣)=2 | (m, at␣)=2 | (w, </a:t>
            </a:r>
            <a:r>
              <a:rPr lang="en-IN" dirty="0" err="1"/>
              <a:t>i</a:t>
            </a:r>
            <a:r>
              <a:rPr lang="en-IN" dirty="0"/>
              <a:t>)=1 | (</a:t>
            </a:r>
            <a:r>
              <a:rPr lang="en-IN" dirty="0" err="1"/>
              <a:t>i</a:t>
            </a:r>
            <a:r>
              <a:rPr lang="en-IN" dirty="0"/>
              <a:t>, t)=1 | </a:t>
            </a:r>
            <a:br>
              <a:rPr lang="en-IN" dirty="0"/>
            </a:br>
            <a:r>
              <a:rPr lang="en-IN" dirty="0"/>
              <a:t>             (t, h)=1 | (h, ␣)=1</a:t>
            </a:r>
          </a:p>
          <a:p>
            <a:endParaRPr lang="en-IN" dirty="0"/>
          </a:p>
          <a:p>
            <a:r>
              <a:rPr lang="en-IN" dirty="0"/>
              <a:t>SORTED: (p, at␣)=3 | (c, at␣)=2 | (s, at␣)=2 | (o, n)=2 | (n, ␣)=2 | (m, at␣)=2 | (w, </a:t>
            </a:r>
            <a:r>
              <a:rPr lang="en-IN" dirty="0" err="1"/>
              <a:t>i</a:t>
            </a:r>
            <a:r>
              <a:rPr lang="en-IN" dirty="0"/>
              <a:t>)=1 | (</a:t>
            </a:r>
            <a:r>
              <a:rPr lang="en-IN" dirty="0" err="1"/>
              <a:t>i</a:t>
            </a:r>
            <a:r>
              <a:rPr lang="en-IN" dirty="0"/>
              <a:t>, t)=1 | </a:t>
            </a:r>
          </a:p>
          <a:p>
            <a:r>
              <a:rPr lang="en-IN" dirty="0"/>
              <a:t>                  (t, h)=1 | (h, ␣)=1</a:t>
            </a:r>
          </a:p>
          <a:p>
            <a:endParaRPr lang="en-IN" dirty="0"/>
          </a:p>
          <a:p>
            <a:r>
              <a:rPr lang="en-IN" dirty="0"/>
              <a:t>MERGE: (p, at␣) → pat␣</a:t>
            </a:r>
          </a:p>
          <a:p>
            <a:endParaRPr lang="en-IN" dirty="0"/>
          </a:p>
          <a:p>
            <a:r>
              <a:rPr lang="en-IN" dirty="0">
                <a:solidFill>
                  <a:srgbClr val="0070C0"/>
                </a:solidFill>
              </a:rPr>
              <a:t>UPDATED TOKS: [[pat␣], [c, at␣], [s, at␣], [o, n, ␣], [m, at␣], [c, at␣], [s, at␣], [o, n, ␣], </a:t>
            </a:r>
          </a:p>
          <a:p>
            <a:r>
              <a:rPr lang="en-IN" dirty="0">
                <a:solidFill>
                  <a:srgbClr val="0070C0"/>
                </a:solidFill>
              </a:rPr>
              <a:t>                                 [m, at␣], [w, </a:t>
            </a:r>
            <a:r>
              <a:rPr lang="en-IN" dirty="0" err="1">
                <a:solidFill>
                  <a:srgbClr val="0070C0"/>
                </a:solidFill>
              </a:rPr>
              <a:t>i</a:t>
            </a:r>
            <a:r>
              <a:rPr lang="en-IN" dirty="0">
                <a:solidFill>
                  <a:srgbClr val="0070C0"/>
                </a:solidFill>
              </a:rPr>
              <a:t>, t, h, ␣], [pat␣]]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UPDATED VOCAB: [a, at, at␣, c, h, </a:t>
            </a:r>
            <a:r>
              <a:rPr lang="en-IN" dirty="0" err="1">
                <a:solidFill>
                  <a:srgbClr val="00B050"/>
                </a:solidFill>
              </a:rPr>
              <a:t>i</a:t>
            </a:r>
            <a:r>
              <a:rPr lang="en-IN" dirty="0">
                <a:solidFill>
                  <a:srgbClr val="00B050"/>
                </a:solidFill>
              </a:rPr>
              <a:t>, m, n, o, p, pat␣, s, t, w, ␣]</a:t>
            </a:r>
          </a:p>
          <a:p>
            <a:endParaRPr lang="en-IN" dirty="0"/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MERGE RULES: [(a, t) → at, (at, ␣) → at␣, (p, at␣) → pat␣]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DBD05-B587-4E79-8278-DFCA1EB1F81D}"/>
              </a:ext>
            </a:extLst>
          </p:cNvPr>
          <p:cNvSpPr txBox="1"/>
          <p:nvPr/>
        </p:nvSpPr>
        <p:spPr>
          <a:xfrm>
            <a:off x="719363" y="1183626"/>
            <a:ext cx="1363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Merge 3</a:t>
            </a:r>
          </a:p>
        </p:txBody>
      </p:sp>
    </p:spTree>
    <p:extLst>
      <p:ext uri="{BB962C8B-B14F-4D97-AF65-F5344CB8AC3E}">
        <p14:creationId xmlns:p14="http://schemas.microsoft.com/office/powerpoint/2010/main" val="321943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54C0-190D-4D04-A820-BF9B6383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Pair Encoding (BPE):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1CC2-5A3F-477C-AEA2-F60F58806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356EC-EFCF-40EA-996E-5FB0F2703423}"/>
              </a:ext>
            </a:extLst>
          </p:cNvPr>
          <p:cNvSpPr txBox="1"/>
          <p:nvPr/>
        </p:nvSpPr>
        <p:spPr>
          <a:xfrm>
            <a:off x="719363" y="1183626"/>
            <a:ext cx="154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Merge 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F4E7F-D51B-442B-A886-BFDA11A90E3C}"/>
              </a:ext>
            </a:extLst>
          </p:cNvPr>
          <p:cNvSpPr txBox="1"/>
          <p:nvPr/>
        </p:nvSpPr>
        <p:spPr>
          <a:xfrm>
            <a:off x="719363" y="1920232"/>
            <a:ext cx="6097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PAIRS: (with, ␣)=1  </a:t>
            </a:r>
          </a:p>
          <a:p>
            <a:r>
              <a:rPr lang="en-IN" dirty="0"/>
              <a:t>SORTED: (with, ␣)=1</a:t>
            </a:r>
          </a:p>
          <a:p>
            <a:endParaRPr lang="en-IN" dirty="0"/>
          </a:p>
          <a:p>
            <a:r>
              <a:rPr lang="en-IN" dirty="0"/>
              <a:t>MERGE: (with, ␣) → with␣</a:t>
            </a:r>
          </a:p>
          <a:p>
            <a:endParaRPr lang="en-IN" dirty="0"/>
          </a:p>
          <a:p>
            <a:r>
              <a:rPr lang="en-IN" dirty="0">
                <a:solidFill>
                  <a:srgbClr val="0070C0"/>
                </a:solidFill>
              </a:rPr>
              <a:t>UPDATED TOKS: </a:t>
            </a:r>
          </a:p>
          <a:p>
            <a:r>
              <a:rPr lang="en-IN" dirty="0">
                <a:solidFill>
                  <a:srgbClr val="0070C0"/>
                </a:solidFill>
              </a:rPr>
              <a:t>[[pat␣], [pat␣], [cat␣], [sat␣], [on␣], [mat␣], [cat␣], [sat␣], [on␣], [mat␣], [with␣], [pat␣]]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UPDATED VOCAB: </a:t>
            </a:r>
          </a:p>
          <a:p>
            <a:r>
              <a:rPr lang="en-IN" dirty="0">
                <a:solidFill>
                  <a:srgbClr val="00B050"/>
                </a:solidFill>
              </a:rPr>
              <a:t>[a, at, at␣, c, cat␣, h, </a:t>
            </a:r>
            <a:r>
              <a:rPr lang="en-IN" dirty="0" err="1">
                <a:solidFill>
                  <a:srgbClr val="00B050"/>
                </a:solidFill>
              </a:rPr>
              <a:t>i</a:t>
            </a:r>
            <a:r>
              <a:rPr lang="en-IN" dirty="0">
                <a:solidFill>
                  <a:srgbClr val="00B050"/>
                </a:solidFill>
              </a:rPr>
              <a:t>, m, mat␣, n, o, on, on␣, p, pat␣, s, sat␣, t, w, </a:t>
            </a:r>
            <a:r>
              <a:rPr lang="en-IN" dirty="0" err="1">
                <a:solidFill>
                  <a:srgbClr val="00B050"/>
                </a:solidFill>
              </a:rPr>
              <a:t>wi</a:t>
            </a:r>
            <a:r>
              <a:rPr lang="en-IN" dirty="0">
                <a:solidFill>
                  <a:srgbClr val="00B050"/>
                </a:solidFill>
              </a:rPr>
              <a:t>, wit, with, with␣, ␣]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9355B-2658-4F33-9019-4291B3E1D1CA}"/>
              </a:ext>
            </a:extLst>
          </p:cNvPr>
          <p:cNvSpPr txBox="1"/>
          <p:nvPr/>
        </p:nvSpPr>
        <p:spPr>
          <a:xfrm>
            <a:off x="8100787" y="1582340"/>
            <a:ext cx="33718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MERGE RULES: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[(a, t) → at,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(at, ␣) → at␣,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(p, at␣) → pat␣,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(c, at␣) → cat␣,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(s, at␣) → sat␣,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(o, n) → on,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(on, ␣) → on␣,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(m, at␣) → mat␣,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(w,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) →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wi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wi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, t) → wit,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(wit, h) → with,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(with, ␣) → with␣]</a:t>
            </a:r>
          </a:p>
        </p:txBody>
      </p:sp>
    </p:spTree>
    <p:extLst>
      <p:ext uri="{BB962C8B-B14F-4D97-AF65-F5344CB8AC3E}">
        <p14:creationId xmlns:p14="http://schemas.microsoft.com/office/powerpoint/2010/main" val="66231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E9BD-D59C-4456-9009-8CBD0BCD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Pair Encoding (BPE):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28CAC-6AF5-457E-9698-F2A6FD72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19E57-A90D-47DB-A9C5-762D948358F6}"/>
              </a:ext>
            </a:extLst>
          </p:cNvPr>
          <p:cNvSpPr txBox="1"/>
          <p:nvPr/>
        </p:nvSpPr>
        <p:spPr>
          <a:xfrm>
            <a:off x="854764" y="1092788"/>
            <a:ext cx="10614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UPDATED VOCAB: </a:t>
            </a:r>
          </a:p>
          <a:p>
            <a:r>
              <a:rPr lang="en-IN" dirty="0"/>
              <a:t>[a, at, at␣, c, cat␣, h, </a:t>
            </a:r>
            <a:r>
              <a:rPr lang="en-IN" dirty="0" err="1"/>
              <a:t>i</a:t>
            </a:r>
            <a:r>
              <a:rPr lang="en-IN" dirty="0"/>
              <a:t>, m, mat␣, n, o, on, on␣, p, pat␣, s, sat␣, t, w, </a:t>
            </a:r>
            <a:r>
              <a:rPr lang="en-IN" dirty="0" err="1"/>
              <a:t>wi</a:t>
            </a:r>
            <a:r>
              <a:rPr lang="en-IN" dirty="0"/>
              <a:t>, wit, with, with␣, ␣]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70018-1427-421F-B105-EE53F4FB291D}"/>
              </a:ext>
            </a:extLst>
          </p:cNvPr>
          <p:cNvSpPr txBox="1"/>
          <p:nvPr/>
        </p:nvSpPr>
        <p:spPr>
          <a:xfrm>
            <a:off x="854764" y="1923223"/>
            <a:ext cx="33718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MERGE RULES: </a:t>
            </a:r>
          </a:p>
          <a:p>
            <a:r>
              <a:rPr lang="en-IN" dirty="0"/>
              <a:t>[(a, t) → at], </a:t>
            </a:r>
          </a:p>
          <a:p>
            <a:r>
              <a:rPr lang="en-IN" dirty="0"/>
              <a:t>[(at, ␣) → at␣], </a:t>
            </a:r>
          </a:p>
          <a:p>
            <a:r>
              <a:rPr lang="en-IN" dirty="0"/>
              <a:t>[(p, at␣) → pat␣], </a:t>
            </a:r>
          </a:p>
          <a:p>
            <a:r>
              <a:rPr lang="en-IN" dirty="0"/>
              <a:t>[(c, at␣) → cat␣], </a:t>
            </a:r>
          </a:p>
          <a:p>
            <a:r>
              <a:rPr lang="en-IN" dirty="0"/>
              <a:t>[(s, at␣) → sat␣], </a:t>
            </a:r>
          </a:p>
          <a:p>
            <a:r>
              <a:rPr lang="en-IN" dirty="0"/>
              <a:t>[(o, n) → on], </a:t>
            </a:r>
          </a:p>
          <a:p>
            <a:r>
              <a:rPr lang="en-IN" dirty="0"/>
              <a:t>[(on, ␣) → on␣], </a:t>
            </a:r>
          </a:p>
          <a:p>
            <a:r>
              <a:rPr lang="en-IN" dirty="0"/>
              <a:t>[(m, at␣) → mat␣], </a:t>
            </a:r>
          </a:p>
          <a:p>
            <a:r>
              <a:rPr lang="en-IN" dirty="0"/>
              <a:t>[(w, </a:t>
            </a:r>
            <a:r>
              <a:rPr lang="en-IN" dirty="0" err="1"/>
              <a:t>i</a:t>
            </a:r>
            <a:r>
              <a:rPr lang="en-IN" dirty="0"/>
              <a:t>) → </a:t>
            </a:r>
            <a:r>
              <a:rPr lang="en-IN" dirty="0" err="1"/>
              <a:t>wi</a:t>
            </a:r>
            <a:r>
              <a:rPr lang="en-IN" dirty="0"/>
              <a:t>], </a:t>
            </a:r>
          </a:p>
          <a:p>
            <a:r>
              <a:rPr lang="en-IN" dirty="0"/>
              <a:t>[(</a:t>
            </a:r>
            <a:r>
              <a:rPr lang="en-IN" dirty="0" err="1"/>
              <a:t>wi</a:t>
            </a:r>
            <a:r>
              <a:rPr lang="en-IN" dirty="0"/>
              <a:t>, t) → wit], </a:t>
            </a:r>
          </a:p>
          <a:p>
            <a:r>
              <a:rPr lang="en-IN" dirty="0"/>
              <a:t>[(wit, h) → with], </a:t>
            </a:r>
          </a:p>
          <a:p>
            <a:r>
              <a:rPr lang="en-IN" dirty="0"/>
              <a:t>[(with, ␣) → with␣]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8D706-C4B2-4676-895E-8C5570BF236A}"/>
              </a:ext>
            </a:extLst>
          </p:cNvPr>
          <p:cNvSpPr txBox="1"/>
          <p:nvPr/>
        </p:nvSpPr>
        <p:spPr>
          <a:xfrm>
            <a:off x="3396697" y="1930235"/>
            <a:ext cx="28848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C00000"/>
                </a:solidFill>
              </a:rPr>
              <a:t>WORD: pat␣  </a:t>
            </a:r>
          </a:p>
          <a:p>
            <a:r>
              <a:rPr lang="en-IN" dirty="0"/>
              <a:t>TOKENS: [p, a, t, ␣]  </a:t>
            </a:r>
          </a:p>
          <a:p>
            <a:r>
              <a:rPr lang="en-IN" dirty="0"/>
              <a:t>PAIRS: (p, a) | (a, t) | (t, ␣)</a:t>
            </a:r>
          </a:p>
          <a:p>
            <a:endParaRPr lang="en-IN" dirty="0"/>
          </a:p>
          <a:p>
            <a:r>
              <a:rPr lang="en-IN" dirty="0"/>
              <a:t>MERGE 1: [p, at, ␣]  </a:t>
            </a:r>
          </a:p>
          <a:p>
            <a:r>
              <a:rPr lang="en-IN" dirty="0"/>
              <a:t>PAIRS: (p, at) | (at, ␣)</a:t>
            </a:r>
          </a:p>
          <a:p>
            <a:endParaRPr lang="en-IN" dirty="0"/>
          </a:p>
          <a:p>
            <a:r>
              <a:rPr lang="en-IN" dirty="0"/>
              <a:t>MERGE 2: [p, at␣]  </a:t>
            </a:r>
          </a:p>
          <a:p>
            <a:r>
              <a:rPr lang="en-IN" dirty="0"/>
              <a:t>PAIRS: (p, at␣)</a:t>
            </a:r>
          </a:p>
          <a:p>
            <a:endParaRPr lang="en-IN" dirty="0"/>
          </a:p>
          <a:p>
            <a:r>
              <a:rPr lang="en-IN" dirty="0"/>
              <a:t>MERGE 3: pat␣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7EA81-AA73-405A-9442-61B7625AFFF6}"/>
              </a:ext>
            </a:extLst>
          </p:cNvPr>
          <p:cNvSpPr txBox="1"/>
          <p:nvPr/>
        </p:nvSpPr>
        <p:spPr>
          <a:xfrm>
            <a:off x="6162259" y="1976499"/>
            <a:ext cx="28848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C00000"/>
                </a:solidFill>
              </a:rPr>
              <a:t>WORD: patio␣  </a:t>
            </a:r>
          </a:p>
          <a:p>
            <a:r>
              <a:rPr lang="en-IN" dirty="0"/>
              <a:t>TOKENS: [p, a, t, </a:t>
            </a:r>
            <a:r>
              <a:rPr lang="en-IN" dirty="0" err="1"/>
              <a:t>i</a:t>
            </a:r>
            <a:r>
              <a:rPr lang="en-IN" dirty="0"/>
              <a:t>, o, ␣]  </a:t>
            </a:r>
          </a:p>
          <a:p>
            <a:r>
              <a:rPr lang="en-IN" dirty="0"/>
              <a:t>PAIRS: (p, a) | (a, t) | </a:t>
            </a:r>
          </a:p>
          <a:p>
            <a:r>
              <a:rPr lang="en-IN" dirty="0"/>
              <a:t>             (t, </a:t>
            </a:r>
            <a:r>
              <a:rPr lang="en-IN" dirty="0" err="1"/>
              <a:t>i</a:t>
            </a:r>
            <a:r>
              <a:rPr lang="en-IN" dirty="0"/>
              <a:t>) | (</a:t>
            </a:r>
            <a:r>
              <a:rPr lang="en-IN" dirty="0" err="1"/>
              <a:t>i,o</a:t>
            </a:r>
            <a:r>
              <a:rPr lang="en-IN" dirty="0"/>
              <a:t>) | (o, ␣)</a:t>
            </a:r>
          </a:p>
          <a:p>
            <a:endParaRPr lang="en-IN" dirty="0"/>
          </a:p>
          <a:p>
            <a:r>
              <a:rPr lang="en-IN" dirty="0"/>
              <a:t>MERGE 1: [p, at, </a:t>
            </a:r>
            <a:r>
              <a:rPr lang="en-IN" dirty="0" err="1"/>
              <a:t>i</a:t>
            </a:r>
            <a:r>
              <a:rPr lang="en-IN" dirty="0"/>
              <a:t>, o, ␣]  </a:t>
            </a:r>
          </a:p>
          <a:p>
            <a:r>
              <a:rPr lang="en-IN" dirty="0"/>
              <a:t>PAIRS: (p, at) | (at, </a:t>
            </a:r>
            <a:r>
              <a:rPr lang="en-IN" dirty="0" err="1"/>
              <a:t>i</a:t>
            </a:r>
            <a:r>
              <a:rPr lang="en-IN" dirty="0"/>
              <a:t>) | (</a:t>
            </a:r>
            <a:r>
              <a:rPr lang="en-IN" dirty="0" err="1"/>
              <a:t>i,o</a:t>
            </a:r>
            <a:r>
              <a:rPr lang="en-IN" dirty="0"/>
              <a:t>) |</a:t>
            </a:r>
          </a:p>
          <a:p>
            <a:r>
              <a:rPr lang="en-IN" dirty="0"/>
              <a:t>             (o, ␣)</a:t>
            </a:r>
          </a:p>
          <a:p>
            <a:r>
              <a:rPr lang="en-IN" dirty="0"/>
              <a:t>TOK: [p, at, </a:t>
            </a:r>
            <a:r>
              <a:rPr lang="en-IN" dirty="0" err="1"/>
              <a:t>i</a:t>
            </a:r>
            <a:r>
              <a:rPr lang="en-IN" dirty="0"/>
              <a:t>, o, ␣]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05B8A-1A4E-4E87-975B-B7DC2014AF6C}"/>
              </a:ext>
            </a:extLst>
          </p:cNvPr>
          <p:cNvSpPr txBox="1"/>
          <p:nvPr/>
        </p:nvSpPr>
        <p:spPr>
          <a:xfrm>
            <a:off x="9047092" y="1972917"/>
            <a:ext cx="28848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C00000"/>
                </a:solidFill>
              </a:rPr>
              <a:t>WORD: </a:t>
            </a:r>
            <a:r>
              <a:rPr lang="en-IN" b="1" u="sng" dirty="0" err="1">
                <a:solidFill>
                  <a:srgbClr val="C00000"/>
                </a:solidFill>
              </a:rPr>
              <a:t>paty</a:t>
            </a:r>
            <a:r>
              <a:rPr lang="en-IN" b="1" u="sng" dirty="0">
                <a:solidFill>
                  <a:srgbClr val="C00000"/>
                </a:solidFill>
              </a:rPr>
              <a:t>␣  </a:t>
            </a:r>
          </a:p>
          <a:p>
            <a:r>
              <a:rPr lang="en-IN" dirty="0"/>
              <a:t>TOKENS: [p, a, t, y, ␣]  </a:t>
            </a:r>
          </a:p>
          <a:p>
            <a:r>
              <a:rPr lang="en-IN" dirty="0"/>
              <a:t>PAIRS: (p, a) | (a, t) | </a:t>
            </a:r>
          </a:p>
          <a:p>
            <a:r>
              <a:rPr lang="en-IN" dirty="0"/>
              <a:t>             (t, y) | (y, ␣)</a:t>
            </a:r>
          </a:p>
          <a:p>
            <a:endParaRPr lang="en-IN" dirty="0"/>
          </a:p>
          <a:p>
            <a:r>
              <a:rPr lang="en-IN" dirty="0"/>
              <a:t>MERGE 1: [p, at, y, ␣]  </a:t>
            </a:r>
          </a:p>
          <a:p>
            <a:r>
              <a:rPr lang="en-IN" dirty="0"/>
              <a:t>PAIRS: (p, at) | (at, y) |</a:t>
            </a:r>
          </a:p>
          <a:p>
            <a:r>
              <a:rPr lang="en-IN" dirty="0"/>
              <a:t>             (y, ␣)</a:t>
            </a:r>
          </a:p>
          <a:p>
            <a:endParaRPr lang="en-IN" dirty="0"/>
          </a:p>
          <a:p>
            <a:r>
              <a:rPr lang="en-IN" dirty="0"/>
              <a:t>TOK: [p, at, y, ␣] </a:t>
            </a:r>
          </a:p>
          <a:p>
            <a:r>
              <a:rPr lang="en-IN" dirty="0"/>
              <a:t>TOK: [p, at, </a:t>
            </a:r>
            <a:r>
              <a:rPr lang="en-IN" dirty="0">
                <a:solidFill>
                  <a:srgbClr val="FF0000"/>
                </a:solidFill>
              </a:rPr>
              <a:t>[UNK]</a:t>
            </a:r>
            <a:r>
              <a:rPr lang="en-IN" dirty="0"/>
              <a:t>, ␣]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6723D-106B-41C2-9BD8-79D5DF32D15E}"/>
              </a:ext>
            </a:extLst>
          </p:cNvPr>
          <p:cNvSpPr txBox="1"/>
          <p:nvPr/>
        </p:nvSpPr>
        <p:spPr>
          <a:xfrm>
            <a:off x="3396697" y="5580546"/>
            <a:ext cx="335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Why do we need ‘␣’ ?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7CA889-0810-4CC4-A3FD-512D870D4A2A}"/>
              </a:ext>
            </a:extLst>
          </p:cNvPr>
          <p:cNvSpPr txBox="1"/>
          <p:nvPr/>
        </p:nvSpPr>
        <p:spPr>
          <a:xfrm>
            <a:off x="6751697" y="5569407"/>
            <a:ext cx="2756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solidFill>
                  <a:srgbClr val="158D82"/>
                </a:solidFill>
              </a:rPr>
              <a:t>est</a:t>
            </a:r>
            <a:r>
              <a:rPr lang="en-IN" sz="2400" dirty="0" err="1">
                <a:solidFill>
                  <a:srgbClr val="C00000"/>
                </a:solidFill>
              </a:rPr>
              <a:t>onia</a:t>
            </a:r>
            <a:r>
              <a:rPr lang="en-IN" sz="2400" dirty="0">
                <a:solidFill>
                  <a:srgbClr val="C00000"/>
                </a:solidFill>
              </a:rPr>
              <a:t> vs. high</a:t>
            </a:r>
            <a:r>
              <a:rPr lang="en-IN" sz="2400" dirty="0">
                <a:solidFill>
                  <a:srgbClr val="158D82"/>
                </a:solidFill>
              </a:rPr>
              <a:t>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DB63B8-06CC-4198-B845-72867D385026}"/>
              </a:ext>
            </a:extLst>
          </p:cNvPr>
          <p:cNvSpPr txBox="1"/>
          <p:nvPr/>
        </p:nvSpPr>
        <p:spPr>
          <a:xfrm>
            <a:off x="3406376" y="6091536"/>
            <a:ext cx="4193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How do we get rid of [UNK]?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77581E-1857-4D57-A61F-2D2C88D3506A}"/>
              </a:ext>
            </a:extLst>
          </p:cNvPr>
          <p:cNvSpPr txBox="1"/>
          <p:nvPr/>
        </p:nvSpPr>
        <p:spPr>
          <a:xfrm>
            <a:off x="7537929" y="6071713"/>
            <a:ext cx="3282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</a:rPr>
              <a:t>Byte-Level BPE (BBPE)</a:t>
            </a:r>
          </a:p>
        </p:txBody>
      </p:sp>
    </p:spTree>
    <p:extLst>
      <p:ext uri="{BB962C8B-B14F-4D97-AF65-F5344CB8AC3E}">
        <p14:creationId xmlns:p14="http://schemas.microsoft.com/office/powerpoint/2010/main" val="113490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E659-38AF-4BE7-8FFD-989DC44E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WordPiece</a:t>
            </a:r>
            <a:r>
              <a:rPr lang="en-IN" dirty="0"/>
              <a:t> Tokenizer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451E9-04BF-4FA3-B534-9B9CB186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20">
            <a:extLst>
              <a:ext uri="{FF2B5EF4-FFF2-40B4-BE49-F238E27FC236}">
                <a16:creationId xmlns:a16="http://schemas.microsoft.com/office/drawing/2014/main" id="{05505A17-4D04-4476-B461-5E31048E2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26107"/>
              </p:ext>
            </p:extLst>
          </p:nvPr>
        </p:nvGraphicFramePr>
        <p:xfrm>
          <a:off x="8296690" y="1393234"/>
          <a:ext cx="1868555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5678">
                  <a:extLst>
                    <a:ext uri="{9D8B030D-6E8A-4147-A177-3AD203B41FA5}">
                      <a16:colId xmlns:a16="http://schemas.microsoft.com/office/drawing/2014/main" val="2606537423"/>
                    </a:ext>
                  </a:extLst>
                </a:gridCol>
                <a:gridCol w="1162877">
                  <a:extLst>
                    <a:ext uri="{9D8B030D-6E8A-4147-A177-3AD203B41FA5}">
                      <a16:colId xmlns:a16="http://schemas.microsoft.com/office/drawing/2014/main" val="1993236031"/>
                    </a:ext>
                  </a:extLst>
                </a:gridCol>
              </a:tblGrid>
              <a:tr h="271385">
                <a:tc>
                  <a:txBody>
                    <a:bodyPr/>
                    <a:lstStyle/>
                    <a:p>
                      <a:r>
                        <a:rPr lang="en-IN" sz="1200" dirty="0"/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187281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8983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74216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42419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/>
                        <a:t>i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249721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57726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13156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800237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54936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394123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5932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499092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143497"/>
                  </a:ext>
                </a:extLst>
              </a:tr>
              <a:tr h="2713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6573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87785C-E14B-431B-B848-628937368D45}"/>
              </a:ext>
            </a:extLst>
          </p:cNvPr>
          <p:cNvSpPr txBox="1"/>
          <p:nvPr/>
        </p:nvSpPr>
        <p:spPr>
          <a:xfrm>
            <a:off x="915708" y="2771457"/>
            <a:ext cx="6906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PAIRS: (</a:t>
            </a:r>
            <a:r>
              <a:rPr lang="en-IN" dirty="0" err="1"/>
              <a:t>p,a</a:t>
            </a:r>
            <a:r>
              <a:rPr lang="en-IN" dirty="0"/>
              <a:t>)=3 | (</a:t>
            </a:r>
            <a:r>
              <a:rPr lang="en-IN" dirty="0" err="1"/>
              <a:t>a,t</a:t>
            </a:r>
            <a:r>
              <a:rPr lang="en-IN" dirty="0"/>
              <a:t>)=9 | (t,␣)=9 | (</a:t>
            </a:r>
            <a:r>
              <a:rPr lang="en-IN" dirty="0" err="1"/>
              <a:t>c,a</a:t>
            </a:r>
            <a:r>
              <a:rPr lang="en-IN" dirty="0"/>
              <a:t>)=2 | (</a:t>
            </a:r>
            <a:r>
              <a:rPr lang="en-IN" dirty="0" err="1"/>
              <a:t>s,a</a:t>
            </a:r>
            <a:r>
              <a:rPr lang="en-IN" dirty="0"/>
              <a:t>)=2 | (</a:t>
            </a:r>
            <a:r>
              <a:rPr lang="en-IN" dirty="0" err="1"/>
              <a:t>o,n</a:t>
            </a:r>
            <a:r>
              <a:rPr lang="en-IN" dirty="0"/>
              <a:t>)=2 | (n,␣)=2 | (</a:t>
            </a:r>
            <a:r>
              <a:rPr lang="en-IN" dirty="0" err="1"/>
              <a:t>m,a</a:t>
            </a:r>
            <a:r>
              <a:rPr lang="en-IN" dirty="0"/>
              <a:t>)=2 | (</a:t>
            </a:r>
            <a:r>
              <a:rPr lang="en-IN" dirty="0" err="1"/>
              <a:t>w,i</a:t>
            </a:r>
            <a:r>
              <a:rPr lang="en-IN" dirty="0"/>
              <a:t>)=1 | (</a:t>
            </a:r>
            <a:r>
              <a:rPr lang="en-IN" dirty="0" err="1"/>
              <a:t>i,t</a:t>
            </a:r>
            <a:r>
              <a:rPr lang="en-IN" dirty="0"/>
              <a:t>)=1 | (</a:t>
            </a:r>
            <a:r>
              <a:rPr lang="en-IN" dirty="0" err="1"/>
              <a:t>t,h</a:t>
            </a:r>
            <a:r>
              <a:rPr lang="en-IN" dirty="0"/>
              <a:t>)=1 | (h,␣)=1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4D97F-F419-4EFE-8F65-FA24D365DDAF}"/>
              </a:ext>
            </a:extLst>
          </p:cNvPr>
          <p:cNvSpPr txBox="1"/>
          <p:nvPr/>
        </p:nvSpPr>
        <p:spPr>
          <a:xfrm>
            <a:off x="854766" y="1023902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Similar algorithm as BPE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A0CC5-4502-4A2F-8B69-E208A6F1FF51}"/>
              </a:ext>
            </a:extLst>
          </p:cNvPr>
          <p:cNvSpPr txBox="1"/>
          <p:nvPr/>
        </p:nvSpPr>
        <p:spPr>
          <a:xfrm>
            <a:off x="854765" y="1393234"/>
            <a:ext cx="482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Scoring a pair during merge step is different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A0A935-3264-4DB3-A9A0-BE00AF5739E0}"/>
                  </a:ext>
                </a:extLst>
              </p:cNvPr>
              <p:cNvSpPr txBox="1"/>
              <p:nvPr/>
            </p:nvSpPr>
            <p:spPr>
              <a:xfrm>
                <a:off x="1700258" y="2038658"/>
                <a:ext cx="3291414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A0A935-3264-4DB3-A9A0-BE00AF573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258" y="2038658"/>
                <a:ext cx="3291414" cy="576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BD52AA-97D7-4275-8338-35223B8E5163}"/>
                  </a:ext>
                </a:extLst>
              </p:cNvPr>
              <p:cNvSpPr txBox="1"/>
              <p:nvPr/>
            </p:nvSpPr>
            <p:spPr>
              <a:xfrm>
                <a:off x="915708" y="3548766"/>
                <a:ext cx="4578946" cy="5934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3∗9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BD52AA-97D7-4275-8338-35223B8E5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08" y="3548766"/>
                <a:ext cx="4578946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BB3805-4044-42EF-A880-19D83BDB6B03}"/>
                  </a:ext>
                </a:extLst>
              </p:cNvPr>
              <p:cNvSpPr txBox="1"/>
              <p:nvPr/>
            </p:nvSpPr>
            <p:spPr>
              <a:xfrm>
                <a:off x="854765" y="4358263"/>
                <a:ext cx="4639090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9∗10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BB3805-4044-42EF-A880-19D83BDB6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5" y="4358263"/>
                <a:ext cx="4639090" cy="576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1FA66F-A79C-4AA1-AF17-B2E09919BDF4}"/>
                  </a:ext>
                </a:extLst>
              </p:cNvPr>
              <p:cNvSpPr txBox="1"/>
              <p:nvPr/>
            </p:nvSpPr>
            <p:spPr>
              <a:xfrm>
                <a:off x="765314" y="5151089"/>
                <a:ext cx="4777782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(9)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9∗10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1FA66F-A79C-4AA1-AF17-B2E09919B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14" y="5151089"/>
                <a:ext cx="4777782" cy="576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89DE4E-74DF-4E70-AC37-BD9B57459BDB}"/>
                  </a:ext>
                </a:extLst>
              </p:cNvPr>
              <p:cNvSpPr txBox="1"/>
              <p:nvPr/>
            </p:nvSpPr>
            <p:spPr>
              <a:xfrm>
                <a:off x="785419" y="5875499"/>
                <a:ext cx="4609339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158D82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IN" b="0" i="1" smtClean="0">
                          <a:solidFill>
                            <a:srgbClr val="158D8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𝑤𝑖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d>
                            <m:dPr>
                              <m:ctrlPr>
                                <a:rPr lang="en-IN" b="0" i="1" smtClean="0">
                                  <a:solidFill>
                                    <a:srgbClr val="158D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158D8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solidFill>
                            <a:srgbClr val="158D8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solidFill>
                                <a:srgbClr val="158D82"/>
                              </a:solidFill>
                              <a:latin typeface="Cambria Math" panose="02040503050406030204" pitchFamily="18" charset="0"/>
                            </a:rPr>
                            <m:t>1∗1</m:t>
                          </m:r>
                        </m:den>
                      </m:f>
                      <m:r>
                        <a:rPr lang="en-IN" b="0" i="1" smtClean="0">
                          <a:solidFill>
                            <a:srgbClr val="158D8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>
                  <a:solidFill>
                    <a:srgbClr val="158D82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89DE4E-74DF-4E70-AC37-BD9B57459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19" y="5875499"/>
                <a:ext cx="4609339" cy="576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6B3B539-9B65-4567-91A8-5DE1AE5C9EB4}"/>
              </a:ext>
            </a:extLst>
          </p:cNvPr>
          <p:cNvSpPr txBox="1"/>
          <p:nvPr/>
        </p:nvSpPr>
        <p:spPr>
          <a:xfrm>
            <a:off x="6127475" y="5690833"/>
            <a:ext cx="6206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Hugging </a:t>
            </a:r>
            <a:r>
              <a:rPr lang="en-IN" dirty="0">
                <a:sym typeface="Wingdings" panose="05000000000000000000" pitchFamily="2" charset="2"/>
              </a:rPr>
              <a:t> ['</a:t>
            </a:r>
            <a:r>
              <a:rPr lang="en-IN" dirty="0" err="1">
                <a:sym typeface="Wingdings" panose="05000000000000000000" pitchFamily="2" charset="2"/>
              </a:rPr>
              <a:t>Hugg</a:t>
            </a:r>
            <a:r>
              <a:rPr lang="en-IN" dirty="0">
                <a:sym typeface="Wingdings" panose="05000000000000000000" pitchFamily="2" charset="2"/>
              </a:rPr>
              <a:t>', '##</a:t>
            </a:r>
            <a:r>
              <a:rPr lang="en-IN" dirty="0" err="1">
                <a:sym typeface="Wingdings" panose="05000000000000000000" pitchFamily="2" charset="2"/>
              </a:rPr>
              <a:t>i</a:t>
            </a:r>
            <a:r>
              <a:rPr lang="en-IN" dirty="0">
                <a:sym typeface="Wingdings" panose="05000000000000000000" pitchFamily="2" charset="2"/>
              </a:rPr>
              <a:t>', '##n', '##g']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67F3B-9E44-410E-BF0A-9FF1706ED7FD}"/>
              </a:ext>
            </a:extLst>
          </p:cNvPr>
          <p:cNvSpPr txBox="1"/>
          <p:nvPr/>
        </p:nvSpPr>
        <p:spPr>
          <a:xfrm>
            <a:off x="3345966" y="6450509"/>
            <a:ext cx="6811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https://huggingface.co/learn/llm-course/en/chapter6/6?fw=pt</a:t>
            </a:r>
          </a:p>
        </p:txBody>
      </p:sp>
    </p:spTree>
    <p:extLst>
      <p:ext uri="{BB962C8B-B14F-4D97-AF65-F5344CB8AC3E}">
        <p14:creationId xmlns:p14="http://schemas.microsoft.com/office/powerpoint/2010/main" val="471605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C6BA-50AB-468A-8CBC-5813CB92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SentencePiece</a:t>
            </a:r>
            <a:r>
              <a:rPr lang="en-IN" dirty="0"/>
              <a:t> Tokenizer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4D937-4D13-4D34-91B9-25967BB7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A9C67-AEE7-4BD3-B9EC-60A7CCA510DA}"/>
              </a:ext>
            </a:extLst>
          </p:cNvPr>
          <p:cNvSpPr txBox="1"/>
          <p:nvPr/>
        </p:nvSpPr>
        <p:spPr>
          <a:xfrm>
            <a:off x="2591627" y="6357600"/>
            <a:ext cx="7635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Bostrom and Durrett, </a:t>
            </a:r>
            <a:r>
              <a:rPr lang="en-US" sz="1200" dirty="0">
                <a:hlinkClick r:id="rId2"/>
              </a:rPr>
              <a:t>Byte Pair Encoding is Suboptimal for Language Model Pretraining</a:t>
            </a:r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04DF83-1695-41F8-9ED9-981F831EE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66" y="1422668"/>
            <a:ext cx="3913227" cy="3765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7B28DF-45A2-428A-8CC1-A97BB0902CBF}"/>
              </a:ext>
            </a:extLst>
          </p:cNvPr>
          <p:cNvSpPr txBox="1"/>
          <p:nvPr/>
        </p:nvSpPr>
        <p:spPr>
          <a:xfrm>
            <a:off x="5367130" y="1530626"/>
            <a:ext cx="62539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BPE and </a:t>
            </a:r>
            <a:r>
              <a:rPr lang="en-IN" dirty="0" err="1"/>
              <a:t>WordPiece</a:t>
            </a:r>
            <a:r>
              <a:rPr lang="en-IN" dirty="0"/>
              <a:t> tokenizers follow greedy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Suboptimal</a:t>
            </a:r>
            <a:r>
              <a:rPr lang="en-IN" dirty="0"/>
              <a:t> tokenization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Quite often </a:t>
            </a:r>
            <a:r>
              <a:rPr lang="en-IN" dirty="0">
                <a:solidFill>
                  <a:srgbClr val="FF0000"/>
                </a:solidFill>
              </a:rPr>
              <a:t>meaningless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A60FB6-DA84-435A-949A-56564A24B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798" y="2512958"/>
            <a:ext cx="2591025" cy="8230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CC9A23-D438-4AFA-81B5-84E85E5F4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865" y="2604406"/>
            <a:ext cx="2644369" cy="7315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FA7FAF-13CB-490C-AA3A-4A65C54DF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8216" y="3560024"/>
            <a:ext cx="3429297" cy="8077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3D868D-18E3-491F-858A-28078213AA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2370" y="4566004"/>
            <a:ext cx="2872989" cy="6477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A2BB81-CFB5-405C-B9DF-E50C881EE815}"/>
              </a:ext>
            </a:extLst>
          </p:cNvPr>
          <p:cNvSpPr txBox="1"/>
          <p:nvPr/>
        </p:nvSpPr>
        <p:spPr>
          <a:xfrm>
            <a:off x="5657798" y="5434270"/>
            <a:ext cx="66039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The problem: BPE or </a:t>
            </a:r>
            <a:r>
              <a:rPr lang="en-IN" dirty="0" err="1">
                <a:solidFill>
                  <a:srgbClr val="FF0000"/>
                </a:solidFill>
              </a:rPr>
              <a:t>WordPiece</a:t>
            </a:r>
            <a:r>
              <a:rPr lang="en-IN" dirty="0">
                <a:solidFill>
                  <a:srgbClr val="FF0000"/>
                </a:solidFill>
              </a:rPr>
              <a:t> do not judge to what extent </a:t>
            </a:r>
          </a:p>
          <a:p>
            <a:r>
              <a:rPr lang="en-IN" dirty="0">
                <a:solidFill>
                  <a:srgbClr val="FF0000"/>
                </a:solidFill>
              </a:rPr>
              <a:t>                          the new vocabulary represents the training </a:t>
            </a:r>
          </a:p>
          <a:p>
            <a:r>
              <a:rPr lang="en-IN" dirty="0">
                <a:solidFill>
                  <a:srgbClr val="FF0000"/>
                </a:solidFill>
              </a:rPr>
              <a:t>                          corpora</a:t>
            </a:r>
          </a:p>
        </p:txBody>
      </p:sp>
    </p:spTree>
    <p:extLst>
      <p:ext uri="{BB962C8B-B14F-4D97-AF65-F5344CB8AC3E}">
        <p14:creationId xmlns:p14="http://schemas.microsoft.com/office/powerpoint/2010/main" val="422599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A59A-21D7-4A89-AEA7-E5D33F56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SentencePiece</a:t>
            </a:r>
            <a:r>
              <a:rPr lang="en-IN" dirty="0"/>
              <a:t> Tokenizer: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9756-AA0D-4C65-8F57-8865FD7E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CA43F-7DD6-4EC3-9834-C7E69806B16D}"/>
              </a:ext>
            </a:extLst>
          </p:cNvPr>
          <p:cNvSpPr/>
          <p:nvPr/>
        </p:nvSpPr>
        <p:spPr>
          <a:xfrm>
            <a:off x="1461053" y="148093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B5AB4-D6EF-4BE1-A651-F91B0C71F402}"/>
              </a:ext>
            </a:extLst>
          </p:cNvPr>
          <p:cNvSpPr/>
          <p:nvPr/>
        </p:nvSpPr>
        <p:spPr>
          <a:xfrm>
            <a:off x="1832111" y="148424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98546E-304E-444F-9667-0DF76C75E0E9}"/>
              </a:ext>
            </a:extLst>
          </p:cNvPr>
          <p:cNvSpPr/>
          <p:nvPr/>
        </p:nvSpPr>
        <p:spPr>
          <a:xfrm>
            <a:off x="2232986" y="147762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E6321-D9B6-4F4D-A2B1-B97EC2CB6391}"/>
              </a:ext>
            </a:extLst>
          </p:cNvPr>
          <p:cNvSpPr/>
          <p:nvPr/>
        </p:nvSpPr>
        <p:spPr>
          <a:xfrm>
            <a:off x="2640482" y="148424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19595B-64B5-499C-A1A6-8D710FD2A1A5}"/>
              </a:ext>
            </a:extLst>
          </p:cNvPr>
          <p:cNvSpPr/>
          <p:nvPr/>
        </p:nvSpPr>
        <p:spPr>
          <a:xfrm>
            <a:off x="3011540" y="148756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B5E973-2A94-491A-92A1-054950056E61}"/>
              </a:ext>
            </a:extLst>
          </p:cNvPr>
          <p:cNvSpPr/>
          <p:nvPr/>
        </p:nvSpPr>
        <p:spPr>
          <a:xfrm>
            <a:off x="3412415" y="148093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A98EA5-8BFE-4C42-9B93-6DCCB0663BF2}"/>
              </a:ext>
            </a:extLst>
          </p:cNvPr>
          <p:cNvSpPr/>
          <p:nvPr/>
        </p:nvSpPr>
        <p:spPr>
          <a:xfrm>
            <a:off x="1461053" y="191162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5DA35-77A0-401B-86F9-1DDF0DAF4098}"/>
              </a:ext>
            </a:extLst>
          </p:cNvPr>
          <p:cNvSpPr/>
          <p:nvPr/>
        </p:nvSpPr>
        <p:spPr>
          <a:xfrm>
            <a:off x="1832111" y="191494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EF056-61F6-46AF-9340-3241320B7749}"/>
              </a:ext>
            </a:extLst>
          </p:cNvPr>
          <p:cNvSpPr/>
          <p:nvPr/>
        </p:nvSpPr>
        <p:spPr>
          <a:xfrm>
            <a:off x="2232986" y="190831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2CD240-8560-4EEE-8FAF-C7C4F0EFDAD2}"/>
              </a:ext>
            </a:extLst>
          </p:cNvPr>
          <p:cNvSpPr/>
          <p:nvPr/>
        </p:nvSpPr>
        <p:spPr>
          <a:xfrm>
            <a:off x="2640482" y="191494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42145B-EACE-4C7E-8C09-BDBF1D3DC883}"/>
              </a:ext>
            </a:extLst>
          </p:cNvPr>
          <p:cNvSpPr/>
          <p:nvPr/>
        </p:nvSpPr>
        <p:spPr>
          <a:xfrm>
            <a:off x="3011540" y="191825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C49D05-85C8-4A02-9E7F-442CD3E65793}"/>
              </a:ext>
            </a:extLst>
          </p:cNvPr>
          <p:cNvSpPr/>
          <p:nvPr/>
        </p:nvSpPr>
        <p:spPr>
          <a:xfrm>
            <a:off x="3412415" y="191163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E287A2-7397-4C55-9E97-DFDED69C5CEE}"/>
              </a:ext>
            </a:extLst>
          </p:cNvPr>
          <p:cNvSpPr/>
          <p:nvPr/>
        </p:nvSpPr>
        <p:spPr>
          <a:xfrm>
            <a:off x="1461053" y="235050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6A1EC5-B192-425F-88FE-6263069A52BC}"/>
              </a:ext>
            </a:extLst>
          </p:cNvPr>
          <p:cNvSpPr/>
          <p:nvPr/>
        </p:nvSpPr>
        <p:spPr>
          <a:xfrm>
            <a:off x="1832111" y="235381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4DB0E-3EDF-4B9A-8E7F-F319E2114948}"/>
              </a:ext>
            </a:extLst>
          </p:cNvPr>
          <p:cNvSpPr/>
          <p:nvPr/>
        </p:nvSpPr>
        <p:spPr>
          <a:xfrm>
            <a:off x="2232986" y="235713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CA9FCF-84B5-4D6E-9EAD-4CC762012C4D}"/>
              </a:ext>
            </a:extLst>
          </p:cNvPr>
          <p:cNvSpPr/>
          <p:nvPr/>
        </p:nvSpPr>
        <p:spPr>
          <a:xfrm>
            <a:off x="2640482" y="235381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4C21B8-0D89-47C2-A9DF-92BAFCDB27A9}"/>
              </a:ext>
            </a:extLst>
          </p:cNvPr>
          <p:cNvSpPr/>
          <p:nvPr/>
        </p:nvSpPr>
        <p:spPr>
          <a:xfrm>
            <a:off x="3011540" y="235713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3417DC-3C9C-426D-9118-A3809EAD69FD}"/>
              </a:ext>
            </a:extLst>
          </p:cNvPr>
          <p:cNvSpPr/>
          <p:nvPr/>
        </p:nvSpPr>
        <p:spPr>
          <a:xfrm>
            <a:off x="3412415" y="235051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054FFF-4FC1-4D8E-AA82-10A36D930C42}"/>
              </a:ext>
            </a:extLst>
          </p:cNvPr>
          <p:cNvSpPr/>
          <p:nvPr/>
        </p:nvSpPr>
        <p:spPr>
          <a:xfrm>
            <a:off x="1461053" y="278120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B8037A-9081-4F34-A705-515B4A986C72}"/>
              </a:ext>
            </a:extLst>
          </p:cNvPr>
          <p:cNvSpPr/>
          <p:nvPr/>
        </p:nvSpPr>
        <p:spPr>
          <a:xfrm>
            <a:off x="1832111" y="278451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AEC5B8-4EEC-47F9-AC94-BBC39F02167B}"/>
              </a:ext>
            </a:extLst>
          </p:cNvPr>
          <p:cNvSpPr/>
          <p:nvPr/>
        </p:nvSpPr>
        <p:spPr>
          <a:xfrm>
            <a:off x="2232986" y="277789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E0BABD-993E-404B-AE21-84DFFEC89715}"/>
              </a:ext>
            </a:extLst>
          </p:cNvPr>
          <p:cNvSpPr/>
          <p:nvPr/>
        </p:nvSpPr>
        <p:spPr>
          <a:xfrm>
            <a:off x="2640482" y="278451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442B3F-CF2E-4C6E-A493-BF3536C5F3B6}"/>
              </a:ext>
            </a:extLst>
          </p:cNvPr>
          <p:cNvSpPr/>
          <p:nvPr/>
        </p:nvSpPr>
        <p:spPr>
          <a:xfrm>
            <a:off x="3011540" y="278783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3A7054-1363-4373-83C4-B295886C44CF}"/>
              </a:ext>
            </a:extLst>
          </p:cNvPr>
          <p:cNvSpPr/>
          <p:nvPr/>
        </p:nvSpPr>
        <p:spPr>
          <a:xfrm>
            <a:off x="3412415" y="278120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818EC2-CAA0-4E61-87DB-413FD86B9DA5}"/>
              </a:ext>
            </a:extLst>
          </p:cNvPr>
          <p:cNvSpPr/>
          <p:nvPr/>
        </p:nvSpPr>
        <p:spPr>
          <a:xfrm>
            <a:off x="1464346" y="322949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79E63E-7FEA-4B38-BAB1-79BE258C7C61}"/>
              </a:ext>
            </a:extLst>
          </p:cNvPr>
          <p:cNvSpPr/>
          <p:nvPr/>
        </p:nvSpPr>
        <p:spPr>
          <a:xfrm>
            <a:off x="1835404" y="323281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6BA908-B545-4553-B5F8-3ADFDFF16C69}"/>
              </a:ext>
            </a:extLst>
          </p:cNvPr>
          <p:cNvSpPr/>
          <p:nvPr/>
        </p:nvSpPr>
        <p:spPr>
          <a:xfrm>
            <a:off x="2236279" y="322618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47AEEE-02AF-4D7A-8109-7B007418BDC8}"/>
              </a:ext>
            </a:extLst>
          </p:cNvPr>
          <p:cNvSpPr/>
          <p:nvPr/>
        </p:nvSpPr>
        <p:spPr>
          <a:xfrm>
            <a:off x="2643775" y="323281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30B3D7-ABD8-4F70-8C0F-F93ADD17F3E2}"/>
              </a:ext>
            </a:extLst>
          </p:cNvPr>
          <p:cNvSpPr/>
          <p:nvPr/>
        </p:nvSpPr>
        <p:spPr>
          <a:xfrm>
            <a:off x="3014833" y="323612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863C49-FDB1-433B-9E90-353E7607AA0E}"/>
              </a:ext>
            </a:extLst>
          </p:cNvPr>
          <p:cNvSpPr/>
          <p:nvPr/>
        </p:nvSpPr>
        <p:spPr>
          <a:xfrm>
            <a:off x="3415708" y="322950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0253FD-01DD-48AD-B9FE-0C3F82F94FF4}"/>
              </a:ext>
            </a:extLst>
          </p:cNvPr>
          <p:cNvSpPr/>
          <p:nvPr/>
        </p:nvSpPr>
        <p:spPr>
          <a:xfrm>
            <a:off x="1464346" y="366019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10EBDC-0003-4EF7-8C20-C8EF9957C41D}"/>
              </a:ext>
            </a:extLst>
          </p:cNvPr>
          <p:cNvSpPr/>
          <p:nvPr/>
        </p:nvSpPr>
        <p:spPr>
          <a:xfrm>
            <a:off x="1835404" y="366350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0AEF3A-4A44-4C7E-870C-4DCEBDB08451}"/>
              </a:ext>
            </a:extLst>
          </p:cNvPr>
          <p:cNvSpPr/>
          <p:nvPr/>
        </p:nvSpPr>
        <p:spPr>
          <a:xfrm>
            <a:off x="2236279" y="3656883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B7B239-1EBA-4FCE-92A7-A7B8784B2872}"/>
              </a:ext>
            </a:extLst>
          </p:cNvPr>
          <p:cNvSpPr/>
          <p:nvPr/>
        </p:nvSpPr>
        <p:spPr>
          <a:xfrm>
            <a:off x="2643775" y="366350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DB54AB-BD64-4EF5-B7D0-06BE0A4A8880}"/>
              </a:ext>
            </a:extLst>
          </p:cNvPr>
          <p:cNvSpPr/>
          <p:nvPr/>
        </p:nvSpPr>
        <p:spPr>
          <a:xfrm>
            <a:off x="3014833" y="366682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9745F4-1C68-4FE6-8393-7841E7478738}"/>
              </a:ext>
            </a:extLst>
          </p:cNvPr>
          <p:cNvSpPr/>
          <p:nvPr/>
        </p:nvSpPr>
        <p:spPr>
          <a:xfrm>
            <a:off x="3415708" y="366019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EE9143-04E8-4AB9-8761-D952DFA66D08}"/>
              </a:ext>
            </a:extLst>
          </p:cNvPr>
          <p:cNvSpPr/>
          <p:nvPr/>
        </p:nvSpPr>
        <p:spPr>
          <a:xfrm>
            <a:off x="1464346" y="409907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0160BF-C9E2-4EBA-8965-9721557E990D}"/>
              </a:ext>
            </a:extLst>
          </p:cNvPr>
          <p:cNvSpPr/>
          <p:nvPr/>
        </p:nvSpPr>
        <p:spPr>
          <a:xfrm>
            <a:off x="1835404" y="410238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0A7D36-CEFB-4134-B2BD-48C7E8CD8198}"/>
              </a:ext>
            </a:extLst>
          </p:cNvPr>
          <p:cNvSpPr/>
          <p:nvPr/>
        </p:nvSpPr>
        <p:spPr>
          <a:xfrm>
            <a:off x="2236279" y="410570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635228-1BF9-4991-A87F-15A816AD58D7}"/>
              </a:ext>
            </a:extLst>
          </p:cNvPr>
          <p:cNvSpPr/>
          <p:nvPr/>
        </p:nvSpPr>
        <p:spPr>
          <a:xfrm>
            <a:off x="2643775" y="410238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67F024-26F9-447C-966C-47EFAF76B289}"/>
              </a:ext>
            </a:extLst>
          </p:cNvPr>
          <p:cNvSpPr/>
          <p:nvPr/>
        </p:nvSpPr>
        <p:spPr>
          <a:xfrm>
            <a:off x="3014833" y="410570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70D12E-F45F-4437-A426-911ADECA3FA2}"/>
              </a:ext>
            </a:extLst>
          </p:cNvPr>
          <p:cNvSpPr/>
          <p:nvPr/>
        </p:nvSpPr>
        <p:spPr>
          <a:xfrm>
            <a:off x="3415708" y="409907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2CB6D5-B4AC-4E62-91EC-B94890CA3FDC}"/>
              </a:ext>
            </a:extLst>
          </p:cNvPr>
          <p:cNvSpPr/>
          <p:nvPr/>
        </p:nvSpPr>
        <p:spPr>
          <a:xfrm>
            <a:off x="1464346" y="452976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0746DA-A172-43CB-A7B8-ABF5CAFE6511}"/>
              </a:ext>
            </a:extLst>
          </p:cNvPr>
          <p:cNvSpPr/>
          <p:nvPr/>
        </p:nvSpPr>
        <p:spPr>
          <a:xfrm>
            <a:off x="1835404" y="453308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C4F72D-B448-4A9F-9950-164AF5D03DC9}"/>
              </a:ext>
            </a:extLst>
          </p:cNvPr>
          <p:cNvSpPr/>
          <p:nvPr/>
        </p:nvSpPr>
        <p:spPr>
          <a:xfrm>
            <a:off x="2236279" y="452645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C94A884-EC3A-487E-8099-4F212FFB01EA}"/>
              </a:ext>
            </a:extLst>
          </p:cNvPr>
          <p:cNvSpPr/>
          <p:nvPr/>
        </p:nvSpPr>
        <p:spPr>
          <a:xfrm>
            <a:off x="2643775" y="453308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4F1A67-AFA8-4888-91A5-664BA25592B1}"/>
              </a:ext>
            </a:extLst>
          </p:cNvPr>
          <p:cNvSpPr/>
          <p:nvPr/>
        </p:nvSpPr>
        <p:spPr>
          <a:xfrm>
            <a:off x="3014833" y="453639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7D6FD8-BFFF-40A2-B35E-BD380B3CF34B}"/>
              </a:ext>
            </a:extLst>
          </p:cNvPr>
          <p:cNvSpPr/>
          <p:nvPr/>
        </p:nvSpPr>
        <p:spPr>
          <a:xfrm>
            <a:off x="3415708" y="452977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E60ECC-97F6-461F-A1D9-A0AD02D73BA4}"/>
              </a:ext>
            </a:extLst>
          </p:cNvPr>
          <p:cNvSpPr/>
          <p:nvPr/>
        </p:nvSpPr>
        <p:spPr>
          <a:xfrm>
            <a:off x="4542132" y="172856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E72039-CB24-4B9D-811C-1C2D86010A25}"/>
              </a:ext>
            </a:extLst>
          </p:cNvPr>
          <p:cNvSpPr/>
          <p:nvPr/>
        </p:nvSpPr>
        <p:spPr>
          <a:xfrm>
            <a:off x="4913190" y="173187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27449BB-36C4-41B4-A741-B7B4965FCA9A}"/>
              </a:ext>
            </a:extLst>
          </p:cNvPr>
          <p:cNvSpPr/>
          <p:nvPr/>
        </p:nvSpPr>
        <p:spPr>
          <a:xfrm>
            <a:off x="5314065" y="172525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7D4807-D1E6-4632-B57B-FDFA7F4E7307}"/>
              </a:ext>
            </a:extLst>
          </p:cNvPr>
          <p:cNvSpPr/>
          <p:nvPr/>
        </p:nvSpPr>
        <p:spPr>
          <a:xfrm>
            <a:off x="5721561" y="173187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AB888F9-9A94-4A82-8084-0CEF3667E927}"/>
              </a:ext>
            </a:extLst>
          </p:cNvPr>
          <p:cNvSpPr/>
          <p:nvPr/>
        </p:nvSpPr>
        <p:spPr>
          <a:xfrm>
            <a:off x="6092619" y="173519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85E427-8EE3-4C5D-8932-C634381DB182}"/>
              </a:ext>
            </a:extLst>
          </p:cNvPr>
          <p:cNvSpPr/>
          <p:nvPr/>
        </p:nvSpPr>
        <p:spPr>
          <a:xfrm>
            <a:off x="6493494" y="172857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97C813-2F8F-4AEB-A425-B724D83390CD}"/>
              </a:ext>
            </a:extLst>
          </p:cNvPr>
          <p:cNvSpPr/>
          <p:nvPr/>
        </p:nvSpPr>
        <p:spPr>
          <a:xfrm>
            <a:off x="4542132" y="215926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5F1BE5-6583-4D58-9317-C3BAEA77BA0E}"/>
              </a:ext>
            </a:extLst>
          </p:cNvPr>
          <p:cNvSpPr/>
          <p:nvPr/>
        </p:nvSpPr>
        <p:spPr>
          <a:xfrm>
            <a:off x="4913190" y="216257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DE5C267-F67B-4F4D-A24A-42CF520A0358}"/>
              </a:ext>
            </a:extLst>
          </p:cNvPr>
          <p:cNvSpPr/>
          <p:nvPr/>
        </p:nvSpPr>
        <p:spPr>
          <a:xfrm>
            <a:off x="5314065" y="215595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4CFBAA2-FBA4-4B97-8064-24664D97A977}"/>
              </a:ext>
            </a:extLst>
          </p:cNvPr>
          <p:cNvSpPr/>
          <p:nvPr/>
        </p:nvSpPr>
        <p:spPr>
          <a:xfrm>
            <a:off x="5721561" y="216257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532466C-E6C4-41C8-96D3-F90EC62BB2A8}"/>
              </a:ext>
            </a:extLst>
          </p:cNvPr>
          <p:cNvSpPr/>
          <p:nvPr/>
        </p:nvSpPr>
        <p:spPr>
          <a:xfrm>
            <a:off x="6092619" y="216589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3C04E1-1C73-4E0C-974A-95E60BE18A0E}"/>
              </a:ext>
            </a:extLst>
          </p:cNvPr>
          <p:cNvSpPr/>
          <p:nvPr/>
        </p:nvSpPr>
        <p:spPr>
          <a:xfrm>
            <a:off x="6493494" y="215926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7FAD1F-E546-4373-A04C-BCB2A0583E42}"/>
              </a:ext>
            </a:extLst>
          </p:cNvPr>
          <p:cNvSpPr/>
          <p:nvPr/>
        </p:nvSpPr>
        <p:spPr>
          <a:xfrm>
            <a:off x="4542132" y="259813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8DBD687-5328-4334-BA71-C415FD313AB1}"/>
              </a:ext>
            </a:extLst>
          </p:cNvPr>
          <p:cNvSpPr/>
          <p:nvPr/>
        </p:nvSpPr>
        <p:spPr>
          <a:xfrm>
            <a:off x="4913190" y="2601453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715EA1-ADB3-456E-97B9-35C31452BE60}"/>
              </a:ext>
            </a:extLst>
          </p:cNvPr>
          <p:cNvSpPr/>
          <p:nvPr/>
        </p:nvSpPr>
        <p:spPr>
          <a:xfrm>
            <a:off x="5314065" y="260476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6D4F9CF-B8AC-4AD5-B951-4111D619ABA3}"/>
              </a:ext>
            </a:extLst>
          </p:cNvPr>
          <p:cNvSpPr/>
          <p:nvPr/>
        </p:nvSpPr>
        <p:spPr>
          <a:xfrm>
            <a:off x="5721561" y="2601453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B8941B5-9445-4011-A42A-A39101721138}"/>
              </a:ext>
            </a:extLst>
          </p:cNvPr>
          <p:cNvSpPr/>
          <p:nvPr/>
        </p:nvSpPr>
        <p:spPr>
          <a:xfrm>
            <a:off x="6092619" y="260476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D1F087-CDF1-4D51-AD83-C79586071838}"/>
              </a:ext>
            </a:extLst>
          </p:cNvPr>
          <p:cNvSpPr/>
          <p:nvPr/>
        </p:nvSpPr>
        <p:spPr>
          <a:xfrm>
            <a:off x="6493494" y="259814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A55DAFC-2852-4094-AC0D-F35F0C83B9D1}"/>
              </a:ext>
            </a:extLst>
          </p:cNvPr>
          <p:cNvSpPr/>
          <p:nvPr/>
        </p:nvSpPr>
        <p:spPr>
          <a:xfrm>
            <a:off x="4542132" y="302883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19A273A-F6E4-4976-A501-9585D47790CB}"/>
              </a:ext>
            </a:extLst>
          </p:cNvPr>
          <p:cNvSpPr/>
          <p:nvPr/>
        </p:nvSpPr>
        <p:spPr>
          <a:xfrm>
            <a:off x="4913190" y="303214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31BF981-FDBE-41D1-B7CE-B06FBB846322}"/>
              </a:ext>
            </a:extLst>
          </p:cNvPr>
          <p:cNvSpPr/>
          <p:nvPr/>
        </p:nvSpPr>
        <p:spPr>
          <a:xfrm>
            <a:off x="5314065" y="302552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FBAE45-6B58-442C-8D11-382C2EDE255F}"/>
              </a:ext>
            </a:extLst>
          </p:cNvPr>
          <p:cNvSpPr/>
          <p:nvPr/>
        </p:nvSpPr>
        <p:spPr>
          <a:xfrm>
            <a:off x="5721561" y="303214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6227DAA-9159-43D3-B3CB-B1A188B2DAE0}"/>
              </a:ext>
            </a:extLst>
          </p:cNvPr>
          <p:cNvSpPr/>
          <p:nvPr/>
        </p:nvSpPr>
        <p:spPr>
          <a:xfrm>
            <a:off x="6092619" y="303546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C0F4E1-12C0-4C6F-997D-A1F036138169}"/>
              </a:ext>
            </a:extLst>
          </p:cNvPr>
          <p:cNvSpPr/>
          <p:nvPr/>
        </p:nvSpPr>
        <p:spPr>
          <a:xfrm>
            <a:off x="6493494" y="302884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5008C6-5224-4FAD-96F3-76AA8F4B3F5B}"/>
              </a:ext>
            </a:extLst>
          </p:cNvPr>
          <p:cNvSpPr/>
          <p:nvPr/>
        </p:nvSpPr>
        <p:spPr>
          <a:xfrm>
            <a:off x="4545425" y="347713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4CB0FBC-5BB7-47D4-B9AD-54A9F359C65B}"/>
              </a:ext>
            </a:extLst>
          </p:cNvPr>
          <p:cNvSpPr/>
          <p:nvPr/>
        </p:nvSpPr>
        <p:spPr>
          <a:xfrm>
            <a:off x="4916483" y="348044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9551133-8A06-4E05-A906-A6DB9426FF09}"/>
              </a:ext>
            </a:extLst>
          </p:cNvPr>
          <p:cNvSpPr/>
          <p:nvPr/>
        </p:nvSpPr>
        <p:spPr>
          <a:xfrm>
            <a:off x="5317358" y="347382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E37837A-1A40-49CF-8B94-F8AA81BCEEAC}"/>
              </a:ext>
            </a:extLst>
          </p:cNvPr>
          <p:cNvSpPr/>
          <p:nvPr/>
        </p:nvSpPr>
        <p:spPr>
          <a:xfrm>
            <a:off x="5724854" y="348044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1E8C334-D1F4-412A-B0A7-63C0751C2BB2}"/>
              </a:ext>
            </a:extLst>
          </p:cNvPr>
          <p:cNvSpPr/>
          <p:nvPr/>
        </p:nvSpPr>
        <p:spPr>
          <a:xfrm>
            <a:off x="6095912" y="348376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EDAC10B-D408-4451-8C90-FC8E7F44244A}"/>
              </a:ext>
            </a:extLst>
          </p:cNvPr>
          <p:cNvSpPr/>
          <p:nvPr/>
        </p:nvSpPr>
        <p:spPr>
          <a:xfrm>
            <a:off x="6496787" y="347713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1FB4F4-039B-484E-BF30-85DB54C84F7E}"/>
              </a:ext>
            </a:extLst>
          </p:cNvPr>
          <p:cNvSpPr/>
          <p:nvPr/>
        </p:nvSpPr>
        <p:spPr>
          <a:xfrm>
            <a:off x="4545425" y="390782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1431ECB-C5E5-4A93-A452-FCAF31C39336}"/>
              </a:ext>
            </a:extLst>
          </p:cNvPr>
          <p:cNvSpPr/>
          <p:nvPr/>
        </p:nvSpPr>
        <p:spPr>
          <a:xfrm>
            <a:off x="4916483" y="391114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A8D3E-166E-472A-97EC-D43EB8CCC73B}"/>
              </a:ext>
            </a:extLst>
          </p:cNvPr>
          <p:cNvSpPr/>
          <p:nvPr/>
        </p:nvSpPr>
        <p:spPr>
          <a:xfrm>
            <a:off x="5317358" y="390451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E28748-2BBB-4C87-9783-69498F9316D8}"/>
              </a:ext>
            </a:extLst>
          </p:cNvPr>
          <p:cNvSpPr/>
          <p:nvPr/>
        </p:nvSpPr>
        <p:spPr>
          <a:xfrm>
            <a:off x="5724854" y="3911141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A1A808D-B135-47EE-997D-012466688E1F}"/>
              </a:ext>
            </a:extLst>
          </p:cNvPr>
          <p:cNvSpPr/>
          <p:nvPr/>
        </p:nvSpPr>
        <p:spPr>
          <a:xfrm>
            <a:off x="6095912" y="3914456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3DCC83E-1239-401D-B871-D724E3DC8D56}"/>
              </a:ext>
            </a:extLst>
          </p:cNvPr>
          <p:cNvSpPr/>
          <p:nvPr/>
        </p:nvSpPr>
        <p:spPr>
          <a:xfrm>
            <a:off x="6496787" y="390783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1391CA9-4ED4-47EC-8F5E-DBEDE9827BC8}"/>
              </a:ext>
            </a:extLst>
          </p:cNvPr>
          <p:cNvSpPr/>
          <p:nvPr/>
        </p:nvSpPr>
        <p:spPr>
          <a:xfrm>
            <a:off x="4545425" y="434670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70EDC60-C6C8-4DAC-8A4B-EC3D3A357402}"/>
              </a:ext>
            </a:extLst>
          </p:cNvPr>
          <p:cNvSpPr/>
          <p:nvPr/>
        </p:nvSpPr>
        <p:spPr>
          <a:xfrm>
            <a:off x="4916483" y="435001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7297BD-551D-4233-949C-1CE6396390AC}"/>
              </a:ext>
            </a:extLst>
          </p:cNvPr>
          <p:cNvSpPr/>
          <p:nvPr/>
        </p:nvSpPr>
        <p:spPr>
          <a:xfrm>
            <a:off x="5317358" y="435333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3D0E56E-E112-47BF-B60B-9F5046A948CF}"/>
              </a:ext>
            </a:extLst>
          </p:cNvPr>
          <p:cNvSpPr/>
          <p:nvPr/>
        </p:nvSpPr>
        <p:spPr>
          <a:xfrm>
            <a:off x="5724854" y="435001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47B274F-3CB6-4039-BEF7-78998FA0EFAA}"/>
              </a:ext>
            </a:extLst>
          </p:cNvPr>
          <p:cNvSpPr/>
          <p:nvPr/>
        </p:nvSpPr>
        <p:spPr>
          <a:xfrm>
            <a:off x="6095912" y="435333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F66F968-940F-4766-A10D-4334821A72D2}"/>
              </a:ext>
            </a:extLst>
          </p:cNvPr>
          <p:cNvSpPr/>
          <p:nvPr/>
        </p:nvSpPr>
        <p:spPr>
          <a:xfrm>
            <a:off x="6496787" y="434671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C50883E-43E8-49F8-A3EB-498F5690AD8C}"/>
              </a:ext>
            </a:extLst>
          </p:cNvPr>
          <p:cNvSpPr/>
          <p:nvPr/>
        </p:nvSpPr>
        <p:spPr>
          <a:xfrm>
            <a:off x="3405778" y="1474610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BD52DF3-11C0-4C1A-9ADF-B6CA5A45C6AF}"/>
              </a:ext>
            </a:extLst>
          </p:cNvPr>
          <p:cNvSpPr/>
          <p:nvPr/>
        </p:nvSpPr>
        <p:spPr>
          <a:xfrm>
            <a:off x="1825487" y="2367073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3A63CA0-28A4-4410-AABE-400911498D6E}"/>
              </a:ext>
            </a:extLst>
          </p:cNvPr>
          <p:cNvSpPr/>
          <p:nvPr/>
        </p:nvSpPr>
        <p:spPr>
          <a:xfrm>
            <a:off x="2633858" y="2367073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138F8A7-957A-40EE-9805-C636CCBE69D7}"/>
              </a:ext>
            </a:extLst>
          </p:cNvPr>
          <p:cNvSpPr/>
          <p:nvPr/>
        </p:nvSpPr>
        <p:spPr>
          <a:xfrm>
            <a:off x="3008209" y="3249380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52FA5FE-5358-4CC4-A0DC-DF39AB87B787}"/>
              </a:ext>
            </a:extLst>
          </p:cNvPr>
          <p:cNvSpPr/>
          <p:nvPr/>
        </p:nvSpPr>
        <p:spPr>
          <a:xfrm>
            <a:off x="1828780" y="4115639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DBFAE3E-25C7-461C-B868-364571D50CD9}"/>
              </a:ext>
            </a:extLst>
          </p:cNvPr>
          <p:cNvSpPr/>
          <p:nvPr/>
        </p:nvSpPr>
        <p:spPr>
          <a:xfrm>
            <a:off x="3409084" y="4543026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5D30F92-5252-4FC1-9D36-FD365F56200F}"/>
              </a:ext>
            </a:extLst>
          </p:cNvPr>
          <p:cNvSpPr/>
          <p:nvPr/>
        </p:nvSpPr>
        <p:spPr>
          <a:xfrm>
            <a:off x="6476931" y="1718631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FFD8FA8-FA4D-44C2-96FB-800E656C84DF}"/>
              </a:ext>
            </a:extLst>
          </p:cNvPr>
          <p:cNvSpPr/>
          <p:nvPr/>
        </p:nvSpPr>
        <p:spPr>
          <a:xfrm>
            <a:off x="5297502" y="2146012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EB5BD4D-E567-49A3-9A9C-A37BBD2D4B68}"/>
              </a:ext>
            </a:extLst>
          </p:cNvPr>
          <p:cNvSpPr/>
          <p:nvPr/>
        </p:nvSpPr>
        <p:spPr>
          <a:xfrm>
            <a:off x="4525569" y="3018895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69734EC-DA58-400C-B97B-2BA0D2A7502C}"/>
              </a:ext>
            </a:extLst>
          </p:cNvPr>
          <p:cNvSpPr/>
          <p:nvPr/>
        </p:nvSpPr>
        <p:spPr>
          <a:xfrm>
            <a:off x="6476931" y="3018901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93B9236-2B14-4E82-BF88-060F08DF92D4}"/>
              </a:ext>
            </a:extLst>
          </p:cNvPr>
          <p:cNvSpPr/>
          <p:nvPr/>
        </p:nvSpPr>
        <p:spPr>
          <a:xfrm>
            <a:off x="5300795" y="4343395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9D5F9D3-4343-4118-9BA3-BE05929DF8FE}"/>
              </a:ext>
            </a:extLst>
          </p:cNvPr>
          <p:cNvSpPr/>
          <p:nvPr/>
        </p:nvSpPr>
        <p:spPr>
          <a:xfrm>
            <a:off x="6079349" y="4343395"/>
            <a:ext cx="298174" cy="3172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8971177-F0B6-4955-9A4A-40A87234CCC8}"/>
              </a:ext>
            </a:extLst>
          </p:cNvPr>
          <p:cNvSpPr txBox="1"/>
          <p:nvPr/>
        </p:nvSpPr>
        <p:spPr>
          <a:xfrm>
            <a:off x="1067936" y="944326"/>
            <a:ext cx="314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 with a large vocabulary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A66FA4E-62F6-4E47-9B43-5D1CD3E6ADA7}"/>
              </a:ext>
            </a:extLst>
          </p:cNvPr>
          <p:cNvSpPr txBox="1"/>
          <p:nvPr/>
        </p:nvSpPr>
        <p:spPr>
          <a:xfrm>
            <a:off x="773507" y="5064177"/>
            <a:ext cx="2448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Remove some entries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8C8640A-BAD7-4E3F-93EF-BBA03E504BF6}"/>
              </a:ext>
            </a:extLst>
          </p:cNvPr>
          <p:cNvSpPr txBox="1"/>
          <p:nvPr/>
        </p:nvSpPr>
        <p:spPr>
          <a:xfrm>
            <a:off x="780131" y="5443862"/>
            <a:ext cx="36428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Check whether the reduced </a:t>
            </a:r>
          </a:p>
          <a:p>
            <a:r>
              <a:rPr lang="en-IN" dirty="0"/>
              <a:t>vocabulary represents the </a:t>
            </a:r>
          </a:p>
          <a:p>
            <a:r>
              <a:rPr lang="en-IN" dirty="0"/>
              <a:t>training data more appropriately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4851F81-A66B-4AD0-B024-F515830D059A}"/>
              </a:ext>
            </a:extLst>
          </p:cNvPr>
          <p:cNvSpPr txBox="1"/>
          <p:nvPr/>
        </p:nvSpPr>
        <p:spPr>
          <a:xfrm>
            <a:off x="4584068" y="5090799"/>
            <a:ext cx="2074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Reduce the vocab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6DB722-5D27-4362-9BFD-AA34CC9D8435}"/>
              </a:ext>
            </a:extLst>
          </p:cNvPr>
          <p:cNvSpPr txBox="1"/>
          <p:nvPr/>
        </p:nvSpPr>
        <p:spPr>
          <a:xfrm>
            <a:off x="7628645" y="4788689"/>
            <a:ext cx="290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Repeat the reduction step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1ABBEE3-252B-4329-9888-BE9088E249C8}"/>
              </a:ext>
            </a:extLst>
          </p:cNvPr>
          <p:cNvSpPr/>
          <p:nvPr/>
        </p:nvSpPr>
        <p:spPr>
          <a:xfrm>
            <a:off x="9055042" y="268043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EB4ACDB-1CBE-44EE-9EF5-F90CA6819754}"/>
              </a:ext>
            </a:extLst>
          </p:cNvPr>
          <p:cNvSpPr/>
          <p:nvPr/>
        </p:nvSpPr>
        <p:spPr>
          <a:xfrm>
            <a:off x="9426100" y="2683753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45B44DD-9946-411E-A089-FE120EDE9FE3}"/>
              </a:ext>
            </a:extLst>
          </p:cNvPr>
          <p:cNvSpPr/>
          <p:nvPr/>
        </p:nvSpPr>
        <p:spPr>
          <a:xfrm>
            <a:off x="9826975" y="267712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580076D-F2BD-43E9-A519-DD4054A86573}"/>
              </a:ext>
            </a:extLst>
          </p:cNvPr>
          <p:cNvSpPr/>
          <p:nvPr/>
        </p:nvSpPr>
        <p:spPr>
          <a:xfrm>
            <a:off x="10234471" y="2683753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FE54ECE-1A6D-4CA5-AE8E-D49A97DDCA6C}"/>
              </a:ext>
            </a:extLst>
          </p:cNvPr>
          <p:cNvSpPr/>
          <p:nvPr/>
        </p:nvSpPr>
        <p:spPr>
          <a:xfrm>
            <a:off x="10605529" y="268706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E35A113-CFFC-431D-B254-74410B2FD155}"/>
              </a:ext>
            </a:extLst>
          </p:cNvPr>
          <p:cNvSpPr/>
          <p:nvPr/>
        </p:nvSpPr>
        <p:spPr>
          <a:xfrm>
            <a:off x="11006404" y="268044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A2BF516-CDE1-4DC4-AADC-4F37000FDEED}"/>
              </a:ext>
            </a:extLst>
          </p:cNvPr>
          <p:cNvSpPr/>
          <p:nvPr/>
        </p:nvSpPr>
        <p:spPr>
          <a:xfrm>
            <a:off x="9055042" y="311113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89107EA-B76F-48F4-89DF-355DD9D2FF26}"/>
              </a:ext>
            </a:extLst>
          </p:cNvPr>
          <p:cNvSpPr/>
          <p:nvPr/>
        </p:nvSpPr>
        <p:spPr>
          <a:xfrm>
            <a:off x="9426100" y="311444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CA246F2-0358-4159-880F-777C355A2A5D}"/>
              </a:ext>
            </a:extLst>
          </p:cNvPr>
          <p:cNvSpPr/>
          <p:nvPr/>
        </p:nvSpPr>
        <p:spPr>
          <a:xfrm>
            <a:off x="9826975" y="3107825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65B26CE-9FD6-4703-A6B2-4B083AE25DC5}"/>
              </a:ext>
            </a:extLst>
          </p:cNvPr>
          <p:cNvSpPr/>
          <p:nvPr/>
        </p:nvSpPr>
        <p:spPr>
          <a:xfrm>
            <a:off x="10234471" y="3114449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CB390C3-C12F-45F1-AD77-0302DFADD29E}"/>
              </a:ext>
            </a:extLst>
          </p:cNvPr>
          <p:cNvSpPr/>
          <p:nvPr/>
        </p:nvSpPr>
        <p:spPr>
          <a:xfrm>
            <a:off x="10605529" y="3117764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8AE86D5-C561-43A6-BB3A-B45DFCC54278}"/>
              </a:ext>
            </a:extLst>
          </p:cNvPr>
          <p:cNvSpPr/>
          <p:nvPr/>
        </p:nvSpPr>
        <p:spPr>
          <a:xfrm>
            <a:off x="11006404" y="3111140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370B309-E544-4740-9451-D7A1947D6B77}"/>
              </a:ext>
            </a:extLst>
          </p:cNvPr>
          <p:cNvSpPr/>
          <p:nvPr/>
        </p:nvSpPr>
        <p:spPr>
          <a:xfrm>
            <a:off x="9055042" y="355001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983862C-EE09-4D5F-BA93-D1ADFDA9193B}"/>
              </a:ext>
            </a:extLst>
          </p:cNvPr>
          <p:cNvSpPr/>
          <p:nvPr/>
        </p:nvSpPr>
        <p:spPr>
          <a:xfrm>
            <a:off x="9426100" y="355332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1CAD50A-7942-43DF-9314-6DC6A535F625}"/>
              </a:ext>
            </a:extLst>
          </p:cNvPr>
          <p:cNvSpPr/>
          <p:nvPr/>
        </p:nvSpPr>
        <p:spPr>
          <a:xfrm>
            <a:off x="9826975" y="355664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F3A9D6E-EDDB-4EDC-8666-4B6018292B8D}"/>
              </a:ext>
            </a:extLst>
          </p:cNvPr>
          <p:cNvSpPr/>
          <p:nvPr/>
        </p:nvSpPr>
        <p:spPr>
          <a:xfrm>
            <a:off x="10234471" y="3553327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35EA28C-15A1-4424-BA75-E8F8FEFF138D}"/>
              </a:ext>
            </a:extLst>
          </p:cNvPr>
          <p:cNvSpPr/>
          <p:nvPr/>
        </p:nvSpPr>
        <p:spPr>
          <a:xfrm>
            <a:off x="10605529" y="3556642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A5DFF2F-BDC6-4531-A47D-FFF7C8EF799A}"/>
              </a:ext>
            </a:extLst>
          </p:cNvPr>
          <p:cNvSpPr/>
          <p:nvPr/>
        </p:nvSpPr>
        <p:spPr>
          <a:xfrm>
            <a:off x="11006404" y="3550018"/>
            <a:ext cx="298174" cy="317207"/>
          </a:xfrm>
          <a:prstGeom prst="rect">
            <a:avLst/>
          </a:prstGeom>
          <a:solidFill>
            <a:srgbClr val="FFC000"/>
          </a:solidFill>
          <a:ln>
            <a:solidFill>
              <a:srgbClr val="B37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457C9C3-BA72-4440-AD91-8BA584672F89}"/>
              </a:ext>
            </a:extLst>
          </p:cNvPr>
          <p:cNvCxnSpPr/>
          <p:nvPr/>
        </p:nvCxnSpPr>
        <p:spPr>
          <a:xfrm>
            <a:off x="7394713" y="3336102"/>
            <a:ext cx="1053548" cy="0"/>
          </a:xfrm>
          <a:prstGeom prst="line">
            <a:avLst/>
          </a:prstGeom>
          <a:ln w="317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A2709165-AEE1-416F-B20E-5A181BE47C0F}"/>
              </a:ext>
            </a:extLst>
          </p:cNvPr>
          <p:cNvSpPr txBox="1"/>
          <p:nvPr/>
        </p:nvSpPr>
        <p:spPr>
          <a:xfrm>
            <a:off x="4213028" y="5630773"/>
            <a:ext cx="7879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To what extent, does a vocabulary represent a given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188652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21" grpId="0"/>
      <p:bldP spid="122" grpId="0"/>
      <p:bldP spid="123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7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712B-0D88-4CCC-A8C0-F2C3173C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SentencePiece</a:t>
            </a:r>
            <a:r>
              <a:rPr lang="en-IN" dirty="0"/>
              <a:t>: Unigram Tokenizer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804F8-B22E-4ACF-B321-FD1EF97A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BB8AA-1680-4A0F-B2FA-F564AB365309}"/>
              </a:ext>
            </a:extLst>
          </p:cNvPr>
          <p:cNvSpPr txBox="1"/>
          <p:nvPr/>
        </p:nvSpPr>
        <p:spPr>
          <a:xfrm>
            <a:off x="1368300" y="908685"/>
            <a:ext cx="9434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</a:rPr>
              <a:t>To what extent, does a vocabulary represent a given training data?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F815B-A50B-4A81-B369-FE1284F5C07D}"/>
              </a:ext>
            </a:extLst>
          </p:cNvPr>
          <p:cNvSpPr txBox="1"/>
          <p:nvPr/>
        </p:nvSpPr>
        <p:spPr>
          <a:xfrm>
            <a:off x="997006" y="2102127"/>
            <a:ext cx="3809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Probabilistic Language Model: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68380-3CEE-4FC1-9A2C-66EB139D6E57}"/>
              </a:ext>
            </a:extLst>
          </p:cNvPr>
          <p:cNvSpPr txBox="1"/>
          <p:nvPr/>
        </p:nvSpPr>
        <p:spPr>
          <a:xfrm>
            <a:off x="2103592" y="1462106"/>
            <a:ext cx="7361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What is the </a:t>
            </a:r>
            <a:r>
              <a:rPr lang="en-IN" sz="2000" dirty="0">
                <a:solidFill>
                  <a:srgbClr val="C00000"/>
                </a:solidFill>
              </a:rPr>
              <a:t>likelihood</a:t>
            </a:r>
            <a:r>
              <a:rPr lang="en-IN" sz="2000" dirty="0"/>
              <a:t> of the training data given a vocabulary?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D135ED-8029-4ECF-B36F-4E7542DC26CF}"/>
                  </a:ext>
                </a:extLst>
              </p:cNvPr>
              <p:cNvSpPr txBox="1"/>
              <p:nvPr/>
            </p:nvSpPr>
            <p:spPr>
              <a:xfrm>
                <a:off x="1856633" y="2603648"/>
                <a:ext cx="7911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….,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×…×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D135ED-8029-4ECF-B36F-4E7542DC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633" y="2603648"/>
                <a:ext cx="7911012" cy="276999"/>
              </a:xfrm>
              <a:prstGeom prst="rect">
                <a:avLst/>
              </a:prstGeom>
              <a:blipFill>
                <a:blip r:embed="rId2"/>
                <a:stretch>
                  <a:fillRect l="-231" r="-694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1F8F144-6BBA-4118-83E6-F1A37E85C6E1}"/>
              </a:ext>
            </a:extLst>
          </p:cNvPr>
          <p:cNvSpPr txBox="1"/>
          <p:nvPr/>
        </p:nvSpPr>
        <p:spPr>
          <a:xfrm>
            <a:off x="997006" y="3388252"/>
            <a:ext cx="3393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Unigram Language Model: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560CEC-0143-408E-B2FC-8B2CC2615354}"/>
                  </a:ext>
                </a:extLst>
              </p:cNvPr>
              <p:cNvSpPr txBox="1"/>
              <p:nvPr/>
            </p:nvSpPr>
            <p:spPr>
              <a:xfrm>
                <a:off x="1828645" y="3977354"/>
                <a:ext cx="55603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….,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)×…×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560CEC-0143-408E-B2FC-8B2CC2615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645" y="3977354"/>
                <a:ext cx="5560305" cy="276999"/>
              </a:xfrm>
              <a:prstGeom prst="rect">
                <a:avLst/>
              </a:prstGeom>
              <a:blipFill>
                <a:blip r:embed="rId3"/>
                <a:stretch>
                  <a:fillRect l="-219" r="-768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0BE44D-5097-4D7C-9442-82CB490AB056}"/>
                  </a:ext>
                </a:extLst>
              </p:cNvPr>
              <p:cNvSpPr txBox="1"/>
              <p:nvPr/>
            </p:nvSpPr>
            <p:spPr>
              <a:xfrm>
                <a:off x="1755316" y="4472245"/>
                <a:ext cx="43721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For a given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….,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: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0BE44D-5097-4D7C-9442-82CB490AB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316" y="4472245"/>
                <a:ext cx="4372159" cy="369332"/>
              </a:xfrm>
              <a:prstGeom prst="rect">
                <a:avLst/>
              </a:prstGeom>
              <a:blipFill>
                <a:blip r:embed="rId4"/>
                <a:stretch>
                  <a:fillRect l="-1255" t="-8333" r="-139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7D1E9-18D9-40CA-82F5-8ACA59DAF091}"/>
                  </a:ext>
                </a:extLst>
              </p:cNvPr>
              <p:cNvSpPr txBox="1"/>
              <p:nvPr/>
            </p:nvSpPr>
            <p:spPr>
              <a:xfrm>
                <a:off x="1856633" y="4784031"/>
                <a:ext cx="6096000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𝒱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𝒱</m:t>
                          </m:r>
                        </m:sub>
                        <m:sup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7D1E9-18D9-40CA-82F5-8ACA59DA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633" y="4784031"/>
                <a:ext cx="6096000" cy="900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05640A5-FEA9-4224-BAA4-21D4D34673ED}"/>
              </a:ext>
            </a:extLst>
          </p:cNvPr>
          <p:cNvSpPr txBox="1"/>
          <p:nvPr/>
        </p:nvSpPr>
        <p:spPr>
          <a:xfrm>
            <a:off x="973391" y="5949315"/>
            <a:ext cx="962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Kudo, </a:t>
            </a:r>
            <a:r>
              <a:rPr lang="en-US" sz="1200" dirty="0">
                <a:hlinkClick r:id="rId6"/>
              </a:rPr>
              <a:t>Subword Regularization: Improving Neural Network Translation Models with Multiple Subword Candidates</a:t>
            </a:r>
            <a:r>
              <a:rPr lang="en-US" sz="1200" dirty="0"/>
              <a:t> (Section 3) 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9443D-E5B9-4CCF-B752-D7A91730E518}"/>
              </a:ext>
            </a:extLst>
          </p:cNvPr>
          <p:cNvSpPr txBox="1"/>
          <p:nvPr/>
        </p:nvSpPr>
        <p:spPr>
          <a:xfrm>
            <a:off x="997006" y="63936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Chung, </a:t>
            </a:r>
            <a:r>
              <a:rPr lang="en-IN" sz="1200" b="0" i="0" dirty="0">
                <a:solidFill>
                  <a:srgbClr val="444444"/>
                </a:solidFill>
                <a:effectLst/>
                <a:latin typeface="Roboto" panose="02000000000000000000" pitchFamily="2" charset="0"/>
                <a:hlinkClick r:id="rId7"/>
              </a:rPr>
              <a:t>Segmentation for Natural Language </a:t>
            </a:r>
            <a:r>
              <a:rPr lang="en-IN" sz="1200" b="0" i="0" dirty="0" err="1">
                <a:solidFill>
                  <a:srgbClr val="444444"/>
                </a:solidFill>
                <a:effectLst/>
                <a:latin typeface="Roboto" panose="02000000000000000000" pitchFamily="2" charset="0"/>
                <a:hlinkClick r:id="rId7"/>
              </a:rPr>
              <a:t>Modeling</a:t>
            </a:r>
            <a:endParaRPr lang="en-IN" sz="1200" b="0" i="0" dirty="0">
              <a:solidFill>
                <a:srgbClr val="444444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13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2A03-FB03-4BE4-A9CB-7F21A72C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SentencePiece</a:t>
            </a:r>
            <a:r>
              <a:rPr lang="en-IN" dirty="0"/>
              <a:t>: Unigram Tokenizer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9F38-5163-42B0-91F1-C4C39473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E9C29C-4D63-49CD-8761-A84876E6AE43}"/>
                  </a:ext>
                </a:extLst>
              </p:cNvPr>
              <p:cNvSpPr txBox="1"/>
              <p:nvPr/>
            </p:nvSpPr>
            <p:spPr>
              <a:xfrm>
                <a:off x="1400142" y="1119598"/>
                <a:ext cx="99192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</a:rPr>
                  <a:t>What is the likelihood of the training data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0070C0"/>
                    </a:solidFill>
                  </a:rPr>
                  <a:t> given a vocabulary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0070C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E9C29C-4D63-49CD-8761-A84876E6A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42" y="1119598"/>
                <a:ext cx="9919254" cy="461665"/>
              </a:xfrm>
              <a:prstGeom prst="rect">
                <a:avLst/>
              </a:prstGeom>
              <a:blipFill>
                <a:blip r:embed="rId2"/>
                <a:stretch>
                  <a:fillRect l="-983" t="-933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8B6228-E56D-4C2A-9731-7009A6C69248}"/>
                  </a:ext>
                </a:extLst>
              </p:cNvPr>
              <p:cNvSpPr txBox="1"/>
              <p:nvPr/>
            </p:nvSpPr>
            <p:spPr>
              <a:xfrm>
                <a:off x="1391920" y="1806037"/>
                <a:ext cx="5435600" cy="388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dirty="0"/>
                  <a:t>The Training Data: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, …, </m:t>
                    </m:r>
                    <m:sSup>
                      <m:sSup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8B6228-E56D-4C2A-9731-7009A6C69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1806037"/>
                <a:ext cx="5435600" cy="388248"/>
              </a:xfrm>
              <a:prstGeom prst="rect">
                <a:avLst/>
              </a:prstGeom>
              <a:blipFill>
                <a:blip r:embed="rId3"/>
                <a:stretch>
                  <a:fillRect l="-897" t="-1563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A4CA49-2279-45C7-80A8-C67EB5A152BF}"/>
                  </a:ext>
                </a:extLst>
              </p:cNvPr>
              <p:cNvSpPr txBox="1"/>
              <p:nvPr/>
            </p:nvSpPr>
            <p:spPr>
              <a:xfrm>
                <a:off x="1391920" y="2347393"/>
                <a:ext cx="579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Segmentation</a:t>
                </a:r>
                <a:r>
                  <a:rPr lang="en-IN" sz="1800" b="0" dirty="0"/>
                  <a:t>: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conditioned on vocabulary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A4CA49-2279-45C7-80A8-C67EB5A15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2347393"/>
                <a:ext cx="5791200" cy="369332"/>
              </a:xfrm>
              <a:prstGeom prst="rect">
                <a:avLst/>
              </a:prstGeom>
              <a:blipFill>
                <a:blip r:embed="rId8"/>
                <a:stretch>
                  <a:fillRect l="-842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575634-D232-47B1-A005-A99EAA096C21}"/>
                  </a:ext>
                </a:extLst>
              </p:cNvPr>
              <p:cNvSpPr txBox="1"/>
              <p:nvPr/>
            </p:nvSpPr>
            <p:spPr>
              <a:xfrm>
                <a:off x="1391920" y="5257209"/>
                <a:ext cx="579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An element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dirty="0"/>
                  <a:t> may have several ways to segment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575634-D232-47B1-A005-A99EAA096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5257209"/>
                <a:ext cx="5791200" cy="369332"/>
              </a:xfrm>
              <a:prstGeom prst="rect">
                <a:avLst/>
              </a:prstGeom>
              <a:blipFill>
                <a:blip r:embed="rId9"/>
                <a:stretch>
                  <a:fillRect l="-842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2B6F4B-CDC6-408D-839D-0BABD6843F81}"/>
                  </a:ext>
                </a:extLst>
              </p:cNvPr>
              <p:cNvSpPr txBox="1"/>
              <p:nvPr/>
            </p:nvSpPr>
            <p:spPr>
              <a:xfrm>
                <a:off x="1519411" y="2890297"/>
                <a:ext cx="7736990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dirty="0">
                    <a:ea typeface="Cambria Math" panose="02040503050406030204" pitchFamily="18" charset="0"/>
                  </a:rPr>
                  <a:t>Likelihood of training data: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  <m:e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2B6F4B-CDC6-408D-839D-0BABD6843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411" y="2890297"/>
                <a:ext cx="7736990" cy="414537"/>
              </a:xfrm>
              <a:prstGeom prst="rect">
                <a:avLst/>
              </a:prstGeom>
              <a:blipFill>
                <a:blip r:embed="rId10"/>
                <a:stretch>
                  <a:fillRect l="-1812" t="-100000" b="-16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C4147E-3646-44DA-BEB1-B3A1C54454D7}"/>
                  </a:ext>
                </a:extLst>
              </p:cNvPr>
              <p:cNvSpPr txBox="1"/>
              <p:nvPr/>
            </p:nvSpPr>
            <p:spPr>
              <a:xfrm>
                <a:off x="1391920" y="3577017"/>
                <a:ext cx="7142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To represent the training data better,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IN" dirty="0"/>
                  <a:t> has to be maximized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C4147E-3646-44DA-BEB1-B3A1C5445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577017"/>
                <a:ext cx="7142480" cy="369332"/>
              </a:xfrm>
              <a:prstGeom prst="rect">
                <a:avLst/>
              </a:prstGeom>
              <a:blipFill>
                <a:blip r:embed="rId7"/>
                <a:stretch>
                  <a:fillRect l="-683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E069BF0-9818-405B-BE9E-16C0BCB006E6}"/>
              </a:ext>
            </a:extLst>
          </p:cNvPr>
          <p:cNvSpPr txBox="1"/>
          <p:nvPr/>
        </p:nvSpPr>
        <p:spPr>
          <a:xfrm>
            <a:off x="1910080" y="4027586"/>
            <a:ext cx="714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Maximum Likelihood Estimation (MLE)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015F0E-C519-4F0F-A658-92F82A4526A7}"/>
              </a:ext>
            </a:extLst>
          </p:cNvPr>
          <p:cNvSpPr txBox="1"/>
          <p:nvPr/>
        </p:nvSpPr>
        <p:spPr>
          <a:xfrm>
            <a:off x="1391920" y="4490715"/>
            <a:ext cx="579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does it mean to maximize?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DB67A3-9BD0-4074-BE7D-EDEFEBD201C5}"/>
                  </a:ext>
                </a:extLst>
              </p:cNvPr>
              <p:cNvSpPr txBox="1"/>
              <p:nvPr/>
            </p:nvSpPr>
            <p:spPr>
              <a:xfrm>
                <a:off x="1910080" y="4806641"/>
                <a:ext cx="5791200" cy="415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Maximizing the quantity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DB67A3-9BD0-4074-BE7D-EDEFEBD20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80" y="4806641"/>
                <a:ext cx="5791200" cy="415242"/>
              </a:xfrm>
              <a:prstGeom prst="rect">
                <a:avLst/>
              </a:prstGeom>
              <a:blipFill>
                <a:blip r:embed="rId11"/>
                <a:stretch>
                  <a:fillRect l="-84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2D4308-0749-43E8-8219-4408DBCE0401}"/>
                  </a:ext>
                </a:extLst>
              </p:cNvPr>
              <p:cNvSpPr txBox="1"/>
              <p:nvPr/>
            </p:nvSpPr>
            <p:spPr>
              <a:xfrm>
                <a:off x="1839432" y="55745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pt-BR" b="0" i="0" dirty="0">
                    <a:solidFill>
                      <a:srgbClr val="0C0D0E"/>
                    </a:solidFill>
                    <a:effectLst/>
                    <a:latin typeface="ui-monospace"/>
                  </a:rPr>
                  <a:t>=["b", "g", "h", "n", "p", "s", "u", "ug", "un", "hug"]</a:t>
                </a:r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2D4308-0749-43E8-8219-4408DBCE0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32" y="5574521"/>
                <a:ext cx="6096000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1D9040-1398-4641-AFCA-5E8E199C8446}"/>
                  </a:ext>
                </a:extLst>
              </p:cNvPr>
              <p:cNvSpPr txBox="1"/>
              <p:nvPr/>
            </p:nvSpPr>
            <p:spPr>
              <a:xfrm>
                <a:off x="1839432" y="5979179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d>
                      <m:dPr>
                        <m:ctrlP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hugs</m:t>
                        </m:r>
                      </m:e>
                    </m:d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3B4045"/>
                    </a:solidFill>
                    <a:latin typeface="-apple-system"/>
                  </a:rPr>
                  <a:t> { ["hug", "s"],  ["h", "ug", "s"]</a:t>
                </a:r>
                <a:r>
                  <a:rPr lang="en-IN" dirty="0"/>
                  <a:t>, </a:t>
                </a:r>
                <a:r>
                  <a:rPr lang="en-IN" dirty="0">
                    <a:solidFill>
                      <a:srgbClr val="3B4045"/>
                    </a:solidFill>
                    <a:latin typeface="-apple-system"/>
                  </a:rPr>
                  <a:t>["h", "u", "g", "s"]}</a:t>
                </a:r>
                <a:r>
                  <a:rPr lang="en-IN" dirty="0"/>
                  <a:t> </a:t>
                </a:r>
                <a:r>
                  <a:rPr lang="en-IN" dirty="0">
                    <a:solidFill>
                      <a:srgbClr val="3B4045"/>
                    </a:solidFill>
                    <a:latin typeface="-apple-system"/>
                  </a:rPr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1D9040-1398-4641-AFCA-5E8E199C8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32" y="5979179"/>
                <a:ext cx="6096000" cy="369332"/>
              </a:xfrm>
              <a:prstGeom prst="rect">
                <a:avLst/>
              </a:prstGeom>
              <a:blipFill>
                <a:blip r:embed="rId1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8905E71-F29A-421B-A051-CA7D86AF56BC}"/>
              </a:ext>
            </a:extLst>
          </p:cNvPr>
          <p:cNvSpPr txBox="1"/>
          <p:nvPr/>
        </p:nvSpPr>
        <p:spPr>
          <a:xfrm>
            <a:off x="1391920" y="6459963"/>
            <a:ext cx="579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Find the segmentation with highest likelihood value</a:t>
            </a:r>
          </a:p>
        </p:txBody>
      </p:sp>
    </p:spTree>
    <p:extLst>
      <p:ext uri="{BB962C8B-B14F-4D97-AF65-F5344CB8AC3E}">
        <p14:creationId xmlns:p14="http://schemas.microsoft.com/office/powerpoint/2010/main" val="318739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2A03-FB03-4BE4-A9CB-7F21A72C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SentencePiece</a:t>
            </a:r>
            <a:r>
              <a:rPr lang="en-IN" dirty="0"/>
              <a:t>: Unigram Tokenizer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9F38-5163-42B0-91F1-C4C39473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905E71-F29A-421B-A051-CA7D86AF56BC}"/>
              </a:ext>
            </a:extLst>
          </p:cNvPr>
          <p:cNvSpPr txBox="1"/>
          <p:nvPr/>
        </p:nvSpPr>
        <p:spPr>
          <a:xfrm>
            <a:off x="1978005" y="963178"/>
            <a:ext cx="8235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</a:rPr>
              <a:t>Find the segmentation with highest likelihood 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801F17-E47F-49DD-A60F-DCA57704A313}"/>
              </a:ext>
            </a:extLst>
          </p:cNvPr>
          <p:cNvSpPr txBox="1"/>
          <p:nvPr/>
        </p:nvSpPr>
        <p:spPr>
          <a:xfrm>
            <a:off x="747524" y="2089466"/>
            <a:ext cx="3524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 naïve approach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15DC7C-1981-4ED7-9E3A-7A09674BBE23}"/>
              </a:ext>
            </a:extLst>
          </p:cNvPr>
          <p:cNvSpPr txBox="1"/>
          <p:nvPr/>
        </p:nvSpPr>
        <p:spPr>
          <a:xfrm>
            <a:off x="910084" y="2536953"/>
            <a:ext cx="4989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Enumerate all possible segmentations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28FFD0-73E4-4CEC-9C40-A2DE4E745522}"/>
                  </a:ext>
                </a:extLst>
              </p:cNvPr>
              <p:cNvSpPr txBox="1"/>
              <p:nvPr/>
            </p:nvSpPr>
            <p:spPr>
              <a:xfrm>
                <a:off x="910083" y="2941567"/>
                <a:ext cx="54058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Calculate likelihood of each segmentation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28FFD0-73E4-4CEC-9C40-A2DE4E745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83" y="2941567"/>
                <a:ext cx="5405875" cy="400110"/>
              </a:xfrm>
              <a:prstGeom prst="rect">
                <a:avLst/>
              </a:prstGeom>
              <a:blipFill>
                <a:blip r:embed="rId2"/>
                <a:stretch>
                  <a:fillRect l="-1127" t="-7692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25EBEB-93DF-49BA-881F-012CB07C6B66}"/>
                  </a:ext>
                </a:extLst>
              </p:cNvPr>
              <p:cNvSpPr txBox="1"/>
              <p:nvPr/>
            </p:nvSpPr>
            <p:spPr>
              <a:xfrm>
                <a:off x="4133862" y="1459087"/>
                <a:ext cx="2904513" cy="5956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𝒮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25EBEB-93DF-49BA-881F-012CB07C6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862" y="1459087"/>
                <a:ext cx="2904513" cy="595612"/>
              </a:xfrm>
              <a:prstGeom prst="rect">
                <a:avLst/>
              </a:prstGeom>
              <a:blipFill>
                <a:blip r:embed="rId3"/>
                <a:stretch>
                  <a:fillRect l="-2096" r="-3145" b="-173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F33F73-124F-4AB5-921A-6D9B056A49CF}"/>
                  </a:ext>
                </a:extLst>
              </p:cNvPr>
              <p:cNvSpPr txBox="1"/>
              <p:nvPr/>
            </p:nvSpPr>
            <p:spPr>
              <a:xfrm>
                <a:off x="910084" y="3378804"/>
                <a:ext cx="64333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Find the segmentation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000" dirty="0"/>
                  <a:t>) with maximum likelihood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F33F73-124F-4AB5-921A-6D9B056A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84" y="3378804"/>
                <a:ext cx="6433396" cy="400110"/>
              </a:xfrm>
              <a:prstGeom prst="rect">
                <a:avLst/>
              </a:prstGeom>
              <a:blipFill>
                <a:blip r:embed="rId4"/>
                <a:stretch>
                  <a:fillRect l="-947" t="-6061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E1EF6F-D414-4D2F-8115-0B469353DD09}"/>
                  </a:ext>
                </a:extLst>
              </p:cNvPr>
              <p:cNvSpPr txBox="1"/>
              <p:nvPr/>
            </p:nvSpPr>
            <p:spPr>
              <a:xfrm>
                <a:off x="6559044" y="2697965"/>
                <a:ext cx="4989186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FF0000"/>
                    </a:solidFill>
                  </a:rPr>
                  <a:t> substring for a length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rgbClr val="FF0000"/>
                    </a:solidFill>
                  </a:rPr>
                  <a:t>string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E1EF6F-D414-4D2F-8115-0B469353D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044" y="2697965"/>
                <a:ext cx="4989186" cy="375872"/>
              </a:xfrm>
              <a:prstGeom prst="rect">
                <a:avLst/>
              </a:prstGeom>
              <a:blipFill>
                <a:blip r:embed="rId5"/>
                <a:stretch>
                  <a:fillRect l="-2200" t="-22951" r="-2934" b="-508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B2DA333-6381-4A57-A90E-B4C76D562BEB}"/>
              </a:ext>
            </a:extLst>
          </p:cNvPr>
          <p:cNvSpPr txBox="1"/>
          <p:nvPr/>
        </p:nvSpPr>
        <p:spPr>
          <a:xfrm>
            <a:off x="658329" y="4053516"/>
            <a:ext cx="4291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Viterbi Decoding </a:t>
            </a:r>
            <a:r>
              <a:rPr lang="en-IN" sz="2400" dirty="0"/>
              <a:t>in rescue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E67D1B-7CD7-450F-995F-E6396C0DCCF0}"/>
              </a:ext>
            </a:extLst>
          </p:cNvPr>
          <p:cNvSpPr txBox="1"/>
          <p:nvPr/>
        </p:nvSpPr>
        <p:spPr>
          <a:xfrm>
            <a:off x="910084" y="4542662"/>
            <a:ext cx="5648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Dynamic programming approach for computing the probability of the most likely sequence out of combinatorically many sequences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03A18-593E-462F-9ED1-DF91DB4CEFC4}"/>
              </a:ext>
            </a:extLst>
          </p:cNvPr>
          <p:cNvSpPr txBox="1"/>
          <p:nvPr/>
        </p:nvSpPr>
        <p:spPr>
          <a:xfrm>
            <a:off x="2804160" y="6218668"/>
            <a:ext cx="823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https://guillaume-be.github.io/2020-05-30/sentence_piece</a:t>
            </a:r>
          </a:p>
        </p:txBody>
      </p:sp>
    </p:spTree>
    <p:extLst>
      <p:ext uri="{BB962C8B-B14F-4D97-AF65-F5344CB8AC3E}">
        <p14:creationId xmlns:p14="http://schemas.microsoft.com/office/powerpoint/2010/main" val="220988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3" grpId="0"/>
      <p:bldP spid="20" grpId="0"/>
      <p:bldP spid="6" grpId="0"/>
      <p:bldP spid="22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8F4A-BC02-4498-B1BE-144590B69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Viterbi Decoding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BADD4-EB5B-4F35-90D8-0A4F9FE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542A13-9C9D-4817-B48F-B023C1A46D2B}"/>
              </a:ext>
            </a:extLst>
          </p:cNvPr>
          <p:cNvSpPr/>
          <p:nvPr/>
        </p:nvSpPr>
        <p:spPr>
          <a:xfrm>
            <a:off x="2773680" y="2416411"/>
            <a:ext cx="1361658" cy="3324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PREFIX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04FF4-9805-4C2C-9D58-C1A8A981FE99}"/>
              </a:ext>
            </a:extLst>
          </p:cNvPr>
          <p:cNvSpPr/>
          <p:nvPr/>
        </p:nvSpPr>
        <p:spPr>
          <a:xfrm>
            <a:off x="4329402" y="2416411"/>
            <a:ext cx="822960" cy="32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CHAR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E82D56-5F1C-4E30-9262-E21D59B141D8}"/>
              </a:ext>
            </a:extLst>
          </p:cNvPr>
          <p:cNvCxnSpPr/>
          <p:nvPr/>
        </p:nvCxnSpPr>
        <p:spPr>
          <a:xfrm>
            <a:off x="4227802" y="2243691"/>
            <a:ext cx="0" cy="68072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ket 9">
            <a:extLst>
              <a:ext uri="{FF2B5EF4-FFF2-40B4-BE49-F238E27FC236}">
                <a16:creationId xmlns:a16="http://schemas.microsoft.com/office/drawing/2014/main" id="{4B10CBEB-1931-4DAF-A150-60623B30ECFE}"/>
              </a:ext>
            </a:extLst>
          </p:cNvPr>
          <p:cNvSpPr/>
          <p:nvPr/>
        </p:nvSpPr>
        <p:spPr>
          <a:xfrm>
            <a:off x="2672080" y="2088593"/>
            <a:ext cx="279400" cy="9807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44942056-7D6F-4136-AD7B-D0DE42742A44}"/>
              </a:ext>
            </a:extLst>
          </p:cNvPr>
          <p:cNvSpPr/>
          <p:nvPr/>
        </p:nvSpPr>
        <p:spPr>
          <a:xfrm flipH="1">
            <a:off x="5046979" y="2088593"/>
            <a:ext cx="228600" cy="98075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412E3A-AD89-4C22-AFB4-AB988B254B4C}"/>
              </a:ext>
            </a:extLst>
          </p:cNvPr>
          <p:cNvSpPr txBox="1"/>
          <p:nvPr/>
        </p:nvSpPr>
        <p:spPr>
          <a:xfrm>
            <a:off x="1072235" y="2348138"/>
            <a:ext cx="1650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Likelihood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612D1-B6D3-41DE-80F4-A20BC9D9F089}"/>
              </a:ext>
            </a:extLst>
          </p:cNvPr>
          <p:cNvSpPr txBox="1"/>
          <p:nvPr/>
        </p:nvSpPr>
        <p:spPr>
          <a:xfrm>
            <a:off x="5304830" y="231034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C96F6-887F-4DD1-AA37-7A669C374182}"/>
              </a:ext>
            </a:extLst>
          </p:cNvPr>
          <p:cNvSpPr txBox="1"/>
          <p:nvPr/>
        </p:nvSpPr>
        <p:spPr>
          <a:xfrm>
            <a:off x="5670727" y="2287178"/>
            <a:ext cx="4941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Likelihood (</a:t>
            </a:r>
            <a:r>
              <a:rPr lang="en-IN" sz="2400" dirty="0" err="1"/>
              <a:t>BestSeg</a:t>
            </a:r>
            <a:r>
              <a:rPr lang="en-IN" sz="2400" dirty="0"/>
              <a:t>(                     ))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46DF2-2A2D-4704-9CED-0FD94B810523}"/>
              </a:ext>
            </a:extLst>
          </p:cNvPr>
          <p:cNvSpPr/>
          <p:nvPr/>
        </p:nvSpPr>
        <p:spPr>
          <a:xfrm>
            <a:off x="8712198" y="2368999"/>
            <a:ext cx="1361658" cy="3324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PREFIX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51E1BF-2420-4F14-88EA-510FFB5C649E}"/>
              </a:ext>
            </a:extLst>
          </p:cNvPr>
          <p:cNvSpPr txBox="1"/>
          <p:nvPr/>
        </p:nvSpPr>
        <p:spPr>
          <a:xfrm>
            <a:off x="7539482" y="274896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D13C2D-5530-479F-AF10-44B1E93D4F34}"/>
              </a:ext>
            </a:extLst>
          </p:cNvPr>
          <p:cNvSpPr txBox="1"/>
          <p:nvPr/>
        </p:nvSpPr>
        <p:spPr>
          <a:xfrm>
            <a:off x="6433954" y="3030599"/>
            <a:ext cx="2990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Likelihood (              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88287B-EB13-4AC3-93D8-DABDC6136ED4}"/>
              </a:ext>
            </a:extLst>
          </p:cNvPr>
          <p:cNvSpPr/>
          <p:nvPr/>
        </p:nvSpPr>
        <p:spPr>
          <a:xfrm>
            <a:off x="8269076" y="3098871"/>
            <a:ext cx="822960" cy="32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CHAR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A8DBB4-890E-42F7-891B-873692262E6D}"/>
              </a:ext>
            </a:extLst>
          </p:cNvPr>
          <p:cNvSpPr txBox="1"/>
          <p:nvPr/>
        </p:nvSpPr>
        <p:spPr>
          <a:xfrm>
            <a:off x="1099199" y="4346695"/>
            <a:ext cx="103601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Viterbi Decoding ensures significant amount of </a:t>
            </a:r>
            <a:r>
              <a:rPr lang="en-IN" sz="2400" dirty="0">
                <a:solidFill>
                  <a:srgbClr val="C00000"/>
                </a:solidFill>
              </a:rPr>
              <a:t>pruning</a:t>
            </a:r>
            <a:r>
              <a:rPr lang="en-IN" sz="2400" dirty="0"/>
              <a:t> segmentation</a:t>
            </a:r>
          </a:p>
          <a:p>
            <a:r>
              <a:rPr lang="en-IN" sz="2400" dirty="0"/>
              <a:t>options with less likelihood </a:t>
            </a:r>
          </a:p>
        </p:txBody>
      </p:sp>
    </p:spTree>
    <p:extLst>
      <p:ext uri="{BB962C8B-B14F-4D97-AF65-F5344CB8AC3E}">
        <p14:creationId xmlns:p14="http://schemas.microsoft.com/office/powerpoint/2010/main" val="251062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2A1-8FDF-4E7C-889C-7A8735CC6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Viterbi Decoding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6C1DC-F526-48AF-A9D9-C2DE1A24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61F3F-4920-46FE-A0EE-DC948BFA5061}"/>
              </a:ext>
            </a:extLst>
          </p:cNvPr>
          <p:cNvSpPr txBox="1"/>
          <p:nvPr/>
        </p:nvSpPr>
        <p:spPr>
          <a:xfrm>
            <a:off x="4416750" y="1005840"/>
            <a:ext cx="2438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b h e j a f r y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4DB3B22-15FF-4AEA-A237-8D0FFC5FD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01064"/>
              </p:ext>
            </p:extLst>
          </p:nvPr>
        </p:nvGraphicFramePr>
        <p:xfrm>
          <a:off x="9296224" y="860459"/>
          <a:ext cx="2446726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363">
                  <a:extLst>
                    <a:ext uri="{9D8B030D-6E8A-4147-A177-3AD203B41FA5}">
                      <a16:colId xmlns:a16="http://schemas.microsoft.com/office/drawing/2014/main" val="3770639415"/>
                    </a:ext>
                  </a:extLst>
                </a:gridCol>
                <a:gridCol w="1223363">
                  <a:extLst>
                    <a:ext uri="{9D8B030D-6E8A-4147-A177-3AD203B41FA5}">
                      <a16:colId xmlns:a16="http://schemas.microsoft.com/office/drawing/2014/main" val="1533991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Token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log(P(x))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220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16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038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54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57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-2.9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605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5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83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bh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291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bhe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-8.3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1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ja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55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fr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80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2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9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727169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C4C2AE30-08BE-41BA-B6AC-1AE27BB48C11}"/>
              </a:ext>
            </a:extLst>
          </p:cNvPr>
          <p:cNvSpPr/>
          <p:nvPr/>
        </p:nvSpPr>
        <p:spPr>
          <a:xfrm>
            <a:off x="1555456" y="3442939"/>
            <a:ext cx="508000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2578FF-0FD1-4617-891B-308163162048}"/>
              </a:ext>
            </a:extLst>
          </p:cNvPr>
          <p:cNvSpPr/>
          <p:nvPr/>
        </p:nvSpPr>
        <p:spPr>
          <a:xfrm>
            <a:off x="2764496" y="4362152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bhe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A9BB55-A0E8-4522-8E53-46CBC7C61046}"/>
              </a:ext>
            </a:extLst>
          </p:cNvPr>
          <p:cNvSpPr/>
          <p:nvPr/>
        </p:nvSpPr>
        <p:spPr>
          <a:xfrm>
            <a:off x="2754336" y="3437592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bh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B6C4AA-82F0-456F-B084-645A73681861}"/>
              </a:ext>
            </a:extLst>
          </p:cNvPr>
          <p:cNvSpPr/>
          <p:nvPr/>
        </p:nvSpPr>
        <p:spPr>
          <a:xfrm>
            <a:off x="2764496" y="2492712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B06A52-C06B-439F-BE0C-F0ED33638634}"/>
              </a:ext>
            </a:extLst>
          </p:cNvPr>
          <p:cNvSpPr/>
          <p:nvPr/>
        </p:nvSpPr>
        <p:spPr>
          <a:xfrm>
            <a:off x="4146256" y="2492712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255AD2-BC09-42CB-B202-3973FD46AAB7}"/>
              </a:ext>
            </a:extLst>
          </p:cNvPr>
          <p:cNvSpPr txBox="1"/>
          <p:nvPr/>
        </p:nvSpPr>
        <p:spPr>
          <a:xfrm>
            <a:off x="2917036" y="2222423"/>
            <a:ext cx="79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-5.6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FDCECC-F00C-4BC6-BCAA-E29A2516F94D}"/>
              </a:ext>
            </a:extLst>
          </p:cNvPr>
          <p:cNvSpPr txBox="1"/>
          <p:nvPr/>
        </p:nvSpPr>
        <p:spPr>
          <a:xfrm>
            <a:off x="3928860" y="2222422"/>
            <a:ext cx="129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-5.6-4.8=-10.4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4230F-55D8-4F46-83D5-30872DB032DB}"/>
              </a:ext>
            </a:extLst>
          </p:cNvPr>
          <p:cNvSpPr txBox="1"/>
          <p:nvPr/>
        </p:nvSpPr>
        <p:spPr>
          <a:xfrm>
            <a:off x="2935890" y="3140273"/>
            <a:ext cx="79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-6.2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0069A6-C505-4D48-A74A-8312EF0BDDF6}"/>
              </a:ext>
            </a:extLst>
          </p:cNvPr>
          <p:cNvSpPr/>
          <p:nvPr/>
        </p:nvSpPr>
        <p:spPr>
          <a:xfrm>
            <a:off x="4156657" y="3430239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F7E736-3153-4B15-82C5-17309CEBA8E9}"/>
              </a:ext>
            </a:extLst>
          </p:cNvPr>
          <p:cNvSpPr txBox="1"/>
          <p:nvPr/>
        </p:nvSpPr>
        <p:spPr>
          <a:xfrm>
            <a:off x="4009008" y="3158255"/>
            <a:ext cx="129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-6.2-3.2=-9.4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77914D-1DA0-45A9-AF2D-2847606DC48C}"/>
              </a:ext>
            </a:extLst>
          </p:cNvPr>
          <p:cNvCxnSpPr>
            <a:stCxn id="10" idx="7"/>
            <a:endCxn id="14" idx="2"/>
          </p:cNvCxnSpPr>
          <p:nvPr/>
        </p:nvCxnSpPr>
        <p:spPr>
          <a:xfrm flipV="1">
            <a:off x="1989061" y="2739092"/>
            <a:ext cx="775435" cy="7760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7352A7-12C3-413F-82E1-55ADECB30670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3636930" y="2739092"/>
            <a:ext cx="5093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F654DE-82A4-49D1-AB33-27B9BA74F963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 flipV="1">
            <a:off x="2063456" y="3683972"/>
            <a:ext cx="690880" cy="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513858-4A0F-4542-94B7-DC1835557D22}"/>
              </a:ext>
            </a:extLst>
          </p:cNvPr>
          <p:cNvCxnSpPr>
            <a:cxnSpLocks/>
            <a:stCxn id="13" idx="6"/>
            <a:endCxn id="22" idx="2"/>
          </p:cNvCxnSpPr>
          <p:nvPr/>
        </p:nvCxnSpPr>
        <p:spPr>
          <a:xfrm flipV="1">
            <a:off x="3626770" y="3676619"/>
            <a:ext cx="529887" cy="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6B3328-02A0-4804-A8F4-92B5A8403CEF}"/>
              </a:ext>
            </a:extLst>
          </p:cNvPr>
          <p:cNvCxnSpPr>
            <a:cxnSpLocks/>
            <a:stCxn id="10" idx="5"/>
            <a:endCxn id="12" idx="2"/>
          </p:cNvCxnSpPr>
          <p:nvPr/>
        </p:nvCxnSpPr>
        <p:spPr>
          <a:xfrm>
            <a:off x="1989061" y="3863536"/>
            <a:ext cx="775435" cy="744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27967D9-B1DB-4CB5-8E0C-5A9052A7FEDA}"/>
              </a:ext>
            </a:extLst>
          </p:cNvPr>
          <p:cNvSpPr/>
          <p:nvPr/>
        </p:nvSpPr>
        <p:spPr>
          <a:xfrm>
            <a:off x="2492148" y="2268748"/>
            <a:ext cx="2682358" cy="8917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59AE77-FE4B-4309-A0E3-3C94AD1DA66D}"/>
              </a:ext>
            </a:extLst>
          </p:cNvPr>
          <p:cNvSpPr txBox="1"/>
          <p:nvPr/>
        </p:nvSpPr>
        <p:spPr>
          <a:xfrm>
            <a:off x="2930973" y="4098918"/>
            <a:ext cx="79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-8.3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4A7EC9-D50D-4955-AFAF-22A60F9406C7}"/>
              </a:ext>
            </a:extLst>
          </p:cNvPr>
          <p:cNvSpPr/>
          <p:nvPr/>
        </p:nvSpPr>
        <p:spPr>
          <a:xfrm>
            <a:off x="2464198" y="3152560"/>
            <a:ext cx="2682358" cy="8917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C48F9E-B42B-4811-9A34-9ADD7748ED94}"/>
              </a:ext>
            </a:extLst>
          </p:cNvPr>
          <p:cNvCxnSpPr/>
          <p:nvPr/>
        </p:nvCxnSpPr>
        <p:spPr>
          <a:xfrm>
            <a:off x="5466735" y="1032679"/>
            <a:ext cx="0" cy="636372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F16F80-B8F9-4EDB-9952-E810FAB6FA66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3509165" y="3694601"/>
            <a:ext cx="496110" cy="739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07FEC03-D64B-4952-9559-8ED958AF310F}"/>
              </a:ext>
            </a:extLst>
          </p:cNvPr>
          <p:cNvSpPr/>
          <p:nvPr/>
        </p:nvSpPr>
        <p:spPr>
          <a:xfrm>
            <a:off x="4000070" y="3405287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6DA3A1-94A1-49E2-A908-3F68EF198E3F}"/>
              </a:ext>
            </a:extLst>
          </p:cNvPr>
          <p:cNvSpPr txBox="1"/>
          <p:nvPr/>
        </p:nvSpPr>
        <p:spPr>
          <a:xfrm>
            <a:off x="4076774" y="3182878"/>
            <a:ext cx="1253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-8.3-6.4=-14.7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FAAC1F-5AB1-47C2-9954-55E4F03570B4}"/>
              </a:ext>
            </a:extLst>
          </p:cNvPr>
          <p:cNvCxnSpPr>
            <a:cxnSpLocks/>
          </p:cNvCxnSpPr>
          <p:nvPr/>
        </p:nvCxnSpPr>
        <p:spPr>
          <a:xfrm flipV="1">
            <a:off x="4900050" y="3640076"/>
            <a:ext cx="502341" cy="8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913BCF09-93F3-493C-943E-A3173356C68F}"/>
              </a:ext>
            </a:extLst>
          </p:cNvPr>
          <p:cNvSpPr/>
          <p:nvPr/>
        </p:nvSpPr>
        <p:spPr>
          <a:xfrm>
            <a:off x="5425784" y="3372452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DCE67A6-007D-4F0B-AB76-0C4450AF2845}"/>
              </a:ext>
            </a:extLst>
          </p:cNvPr>
          <p:cNvSpPr/>
          <p:nvPr/>
        </p:nvSpPr>
        <p:spPr>
          <a:xfrm>
            <a:off x="4013237" y="5043965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ja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5FE5F64-8D5E-40D2-A5CF-D408801393C2}"/>
              </a:ext>
            </a:extLst>
          </p:cNvPr>
          <p:cNvCxnSpPr>
            <a:cxnSpLocks/>
            <a:stCxn id="12" idx="5"/>
            <a:endCxn id="39" idx="2"/>
          </p:cNvCxnSpPr>
          <p:nvPr/>
        </p:nvCxnSpPr>
        <p:spPr>
          <a:xfrm>
            <a:off x="3509165" y="4782749"/>
            <a:ext cx="504072" cy="507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FC6E83-12FE-4ACD-8F3A-29CAD8C97DFB}"/>
              </a:ext>
            </a:extLst>
          </p:cNvPr>
          <p:cNvSpPr txBox="1"/>
          <p:nvPr/>
        </p:nvSpPr>
        <p:spPr>
          <a:xfrm>
            <a:off x="5283777" y="3132285"/>
            <a:ext cx="1488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-14.7-2.8=-17.5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6CC70F-1F56-4E71-97BC-AC133C712A3D}"/>
              </a:ext>
            </a:extLst>
          </p:cNvPr>
          <p:cNvSpPr txBox="1"/>
          <p:nvPr/>
        </p:nvSpPr>
        <p:spPr>
          <a:xfrm>
            <a:off x="3744248" y="4811571"/>
            <a:ext cx="13665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-8.3-7.5=-15.8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484DF6-4A8E-4024-882F-1C946D5C9A80}"/>
              </a:ext>
            </a:extLst>
          </p:cNvPr>
          <p:cNvSpPr/>
          <p:nvPr/>
        </p:nvSpPr>
        <p:spPr>
          <a:xfrm>
            <a:off x="3843191" y="3054236"/>
            <a:ext cx="2682358" cy="8917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81A839-C8D1-48C6-A421-CFF7159648BE}"/>
              </a:ext>
            </a:extLst>
          </p:cNvPr>
          <p:cNvCxnSpPr/>
          <p:nvPr/>
        </p:nvCxnSpPr>
        <p:spPr>
          <a:xfrm>
            <a:off x="6005642" y="1043674"/>
            <a:ext cx="0" cy="636372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B440CE-6B03-4BEC-91CC-D6D303C7EAC2}"/>
              </a:ext>
            </a:extLst>
          </p:cNvPr>
          <p:cNvCxnSpPr>
            <a:cxnSpLocks/>
            <a:stCxn id="39" idx="7"/>
            <a:endCxn id="48" idx="2"/>
          </p:cNvCxnSpPr>
          <p:nvPr/>
        </p:nvCxnSpPr>
        <p:spPr>
          <a:xfrm flipV="1">
            <a:off x="4757906" y="4366490"/>
            <a:ext cx="616838" cy="749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A5122FB-3548-4527-8E07-F7CB12FEB5D5}"/>
              </a:ext>
            </a:extLst>
          </p:cNvPr>
          <p:cNvSpPr/>
          <p:nvPr/>
        </p:nvSpPr>
        <p:spPr>
          <a:xfrm>
            <a:off x="5374744" y="4120110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E3ECBB-F34E-462A-8606-F3B196ACA4B7}"/>
              </a:ext>
            </a:extLst>
          </p:cNvPr>
          <p:cNvCxnSpPr>
            <a:cxnSpLocks/>
          </p:cNvCxnSpPr>
          <p:nvPr/>
        </p:nvCxnSpPr>
        <p:spPr>
          <a:xfrm flipV="1">
            <a:off x="4894672" y="5290345"/>
            <a:ext cx="531112" cy="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9E2F6B4-FC29-4726-BE8E-723AD93EC270}"/>
              </a:ext>
            </a:extLst>
          </p:cNvPr>
          <p:cNvSpPr/>
          <p:nvPr/>
        </p:nvSpPr>
        <p:spPr>
          <a:xfrm>
            <a:off x="5451142" y="5025111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fr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4A96473-1DCE-4E57-9A15-15CA46CEC0D9}"/>
              </a:ext>
            </a:extLst>
          </p:cNvPr>
          <p:cNvSpPr/>
          <p:nvPr/>
        </p:nvSpPr>
        <p:spPr>
          <a:xfrm>
            <a:off x="5421853" y="6119338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fry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A5C8C8D-E60F-4747-BAD1-6CE5480AF69C}"/>
              </a:ext>
            </a:extLst>
          </p:cNvPr>
          <p:cNvCxnSpPr>
            <a:cxnSpLocks/>
          </p:cNvCxnSpPr>
          <p:nvPr/>
        </p:nvCxnSpPr>
        <p:spPr>
          <a:xfrm>
            <a:off x="4736631" y="5480221"/>
            <a:ext cx="714511" cy="780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92DE2C6-4B94-4CA2-B3F9-1874044FEF37}"/>
              </a:ext>
            </a:extLst>
          </p:cNvPr>
          <p:cNvSpPr/>
          <p:nvPr/>
        </p:nvSpPr>
        <p:spPr>
          <a:xfrm>
            <a:off x="6810007" y="4089491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47BFC3B-0259-425E-AC3C-D56844B3FD89}"/>
              </a:ext>
            </a:extLst>
          </p:cNvPr>
          <p:cNvCxnSpPr>
            <a:cxnSpLocks/>
          </p:cNvCxnSpPr>
          <p:nvPr/>
        </p:nvCxnSpPr>
        <p:spPr>
          <a:xfrm flipV="1">
            <a:off x="6267393" y="4352124"/>
            <a:ext cx="531112" cy="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6667CAC-86D0-475F-8775-631A0C826E29}"/>
              </a:ext>
            </a:extLst>
          </p:cNvPr>
          <p:cNvSpPr/>
          <p:nvPr/>
        </p:nvSpPr>
        <p:spPr>
          <a:xfrm>
            <a:off x="6866190" y="5006111"/>
            <a:ext cx="872434" cy="492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72BDA9A-BB78-410F-B4C5-5AFE517848AD}"/>
              </a:ext>
            </a:extLst>
          </p:cNvPr>
          <p:cNvCxnSpPr>
            <a:cxnSpLocks/>
          </p:cNvCxnSpPr>
          <p:nvPr/>
        </p:nvCxnSpPr>
        <p:spPr>
          <a:xfrm flipV="1">
            <a:off x="6323576" y="5268744"/>
            <a:ext cx="531112" cy="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B1E81E8-AE06-45ED-84BD-BD328D91AC78}"/>
              </a:ext>
            </a:extLst>
          </p:cNvPr>
          <p:cNvSpPr txBox="1"/>
          <p:nvPr/>
        </p:nvSpPr>
        <p:spPr>
          <a:xfrm>
            <a:off x="5199193" y="3899644"/>
            <a:ext cx="14880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-15.8-1.3=-17.1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735E9F-7463-4588-A6C8-F8D97EB8C416}"/>
              </a:ext>
            </a:extLst>
          </p:cNvPr>
          <p:cNvSpPr txBox="1"/>
          <p:nvPr/>
        </p:nvSpPr>
        <p:spPr>
          <a:xfrm>
            <a:off x="6659198" y="3869054"/>
            <a:ext cx="142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-17.1-6.7=-23.8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2073BE-1A57-4EFF-B3E8-11D266AEEC11}"/>
              </a:ext>
            </a:extLst>
          </p:cNvPr>
          <p:cNvSpPr txBox="1"/>
          <p:nvPr/>
        </p:nvSpPr>
        <p:spPr>
          <a:xfrm>
            <a:off x="5210492" y="4785624"/>
            <a:ext cx="1361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-15.8-5.5=-21.3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4773A8-1D03-40C1-82B4-1F687BA296B8}"/>
              </a:ext>
            </a:extLst>
          </p:cNvPr>
          <p:cNvSpPr txBox="1"/>
          <p:nvPr/>
        </p:nvSpPr>
        <p:spPr>
          <a:xfrm>
            <a:off x="6597483" y="4776477"/>
            <a:ext cx="12753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-21.3-2.5=-23.8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684B4A-3A0E-4CAC-B660-2B1EAA5489F3}"/>
              </a:ext>
            </a:extLst>
          </p:cNvPr>
          <p:cNvSpPr txBox="1"/>
          <p:nvPr/>
        </p:nvSpPr>
        <p:spPr>
          <a:xfrm>
            <a:off x="5245293" y="5891008"/>
            <a:ext cx="1284133" cy="283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-15.8-9.6=-25.4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296BCDF-6D44-4505-A872-3E3E2A27846C}"/>
              </a:ext>
            </a:extLst>
          </p:cNvPr>
          <p:cNvSpPr/>
          <p:nvPr/>
        </p:nvSpPr>
        <p:spPr>
          <a:xfrm>
            <a:off x="5219180" y="3841154"/>
            <a:ext cx="2682358" cy="8917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55C63F7-D535-4061-8129-F6854B53AC8C}"/>
              </a:ext>
            </a:extLst>
          </p:cNvPr>
          <p:cNvSpPr/>
          <p:nvPr/>
        </p:nvSpPr>
        <p:spPr>
          <a:xfrm>
            <a:off x="4786296" y="5926606"/>
            <a:ext cx="2682358" cy="8917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AB80E27-A04D-40C7-AA2F-B808CEC2B2AB}"/>
              </a:ext>
            </a:extLst>
          </p:cNvPr>
          <p:cNvCxnSpPr/>
          <p:nvPr/>
        </p:nvCxnSpPr>
        <p:spPr>
          <a:xfrm>
            <a:off x="6478554" y="1045242"/>
            <a:ext cx="0" cy="636372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BEA2218-77B7-4499-8C0C-FBC1A926DB15}"/>
              </a:ext>
            </a:extLst>
          </p:cNvPr>
          <p:cNvSpPr txBox="1"/>
          <p:nvPr/>
        </p:nvSpPr>
        <p:spPr>
          <a:xfrm>
            <a:off x="511349" y="1587457"/>
            <a:ext cx="1581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Forward pass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71FC8A-96A6-45E9-8772-AD0D34594F71}"/>
              </a:ext>
            </a:extLst>
          </p:cNvPr>
          <p:cNvSpPr txBox="1"/>
          <p:nvPr/>
        </p:nvSpPr>
        <p:spPr>
          <a:xfrm>
            <a:off x="7132213" y="1686408"/>
            <a:ext cx="174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Backward pass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E5603D4-C8A0-446F-BACD-554E4843234E}"/>
              </a:ext>
            </a:extLst>
          </p:cNvPr>
          <p:cNvCxnSpPr>
            <a:cxnSpLocks/>
          </p:cNvCxnSpPr>
          <p:nvPr/>
        </p:nvCxnSpPr>
        <p:spPr>
          <a:xfrm flipH="1">
            <a:off x="6606705" y="5766947"/>
            <a:ext cx="1051016" cy="0"/>
          </a:xfrm>
          <a:prstGeom prst="line">
            <a:avLst/>
          </a:prstGeom>
          <a:ln w="25400">
            <a:solidFill>
              <a:schemeClr val="accent4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49B1AD7-5761-4CEA-92D3-EF996FBCE4BD}"/>
              </a:ext>
            </a:extLst>
          </p:cNvPr>
          <p:cNvCxnSpPr/>
          <p:nvPr/>
        </p:nvCxnSpPr>
        <p:spPr>
          <a:xfrm flipH="1">
            <a:off x="5160228" y="5764582"/>
            <a:ext cx="1051016" cy="0"/>
          </a:xfrm>
          <a:prstGeom prst="line">
            <a:avLst/>
          </a:prstGeom>
          <a:ln w="25400">
            <a:solidFill>
              <a:schemeClr val="accent4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E5C3AC1-4B5F-40D2-9E78-18C05C5DE15B}"/>
              </a:ext>
            </a:extLst>
          </p:cNvPr>
          <p:cNvCxnSpPr>
            <a:cxnSpLocks/>
          </p:cNvCxnSpPr>
          <p:nvPr/>
        </p:nvCxnSpPr>
        <p:spPr>
          <a:xfrm flipH="1" flipV="1">
            <a:off x="3433730" y="5011398"/>
            <a:ext cx="767420" cy="785356"/>
          </a:xfrm>
          <a:prstGeom prst="line">
            <a:avLst/>
          </a:prstGeom>
          <a:ln w="25400">
            <a:solidFill>
              <a:schemeClr val="accent4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5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 animBg="1"/>
      <p:bldP spid="17" grpId="0"/>
      <p:bldP spid="18" grpId="0"/>
      <p:bldP spid="21" grpId="0"/>
      <p:bldP spid="22" grpId="0" animBg="1"/>
      <p:bldP spid="23" grpId="0"/>
      <p:bldP spid="7" grpId="0" animBg="1"/>
      <p:bldP spid="24" grpId="0"/>
      <p:bldP spid="26" grpId="0" animBg="1"/>
      <p:bldP spid="31" grpId="0" animBg="1"/>
      <p:bldP spid="34" grpId="0"/>
      <p:bldP spid="38" grpId="0" animBg="1"/>
      <p:bldP spid="39" grpId="0" animBg="1"/>
      <p:bldP spid="43" grpId="0"/>
      <p:bldP spid="44" grpId="0"/>
      <p:bldP spid="45" grpId="0" animBg="1"/>
      <p:bldP spid="48" grpId="0" animBg="1"/>
      <p:bldP spid="52" grpId="0" animBg="1"/>
      <p:bldP spid="53" grpId="0" animBg="1"/>
      <p:bldP spid="57" grpId="0" animBg="1"/>
      <p:bldP spid="60" grpId="0" animBg="1"/>
      <p:bldP spid="62" grpId="0"/>
      <p:bldP spid="63" grpId="0"/>
      <p:bldP spid="64" grpId="0"/>
      <p:bldP spid="65" grpId="0"/>
      <p:bldP spid="66" grpId="0"/>
      <p:bldP spid="67" grpId="0" animBg="1"/>
      <p:bldP spid="68" grpId="0" animBg="1"/>
      <p:bldP spid="70" grpId="0"/>
      <p:bldP spid="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9C14-737E-4E82-9769-B36A7F5D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D0AAA-9D91-4778-94A5-CD8546A09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IN" dirty="0"/>
                  <a:t>If the vocabulary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en-IN" dirty="0"/>
                  <a:t> is given, the </a:t>
                </a:r>
                <a:r>
                  <a:rPr lang="en-IN" dirty="0" err="1"/>
                  <a:t>subword</a:t>
                </a:r>
                <a:r>
                  <a:rPr lang="en-IN" dirty="0"/>
                  <a:t> occurrence probabilities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are estimated via the Expectation-Maximization algorithm</a:t>
                </a:r>
              </a:p>
              <a:p>
                <a:r>
                  <a:rPr lang="en-IN" dirty="0"/>
                  <a:t>The EM maximizes the likelihood function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  <m:e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IN" dirty="0"/>
              </a:p>
              <a:p>
                <a:r>
                  <a:rPr lang="en-IN" dirty="0"/>
                  <a:t>However, the </a:t>
                </a:r>
                <a:r>
                  <a:rPr lang="en-IN" dirty="0">
                    <a:solidFill>
                      <a:srgbClr val="FF0000"/>
                    </a:solidFill>
                  </a:rPr>
                  <a:t>vocabulary set is not fixed </a:t>
                </a:r>
                <a:r>
                  <a:rPr lang="en-IN" dirty="0" err="1"/>
                  <a:t>apriori</a:t>
                </a:r>
                <a:endParaRPr lang="en-IN" dirty="0"/>
              </a:p>
              <a:p>
                <a:pPr lvl="1"/>
                <a:r>
                  <a:rPr lang="en-IN" dirty="0"/>
                  <a:t>Joint optimization of vocabulary set and the occurrence prob.</a:t>
                </a:r>
              </a:p>
              <a:p>
                <a:pPr lvl="1"/>
                <a:r>
                  <a:rPr lang="en-IN" dirty="0">
                    <a:solidFill>
                      <a:srgbClr val="FF0000"/>
                    </a:solidFill>
                  </a:rPr>
                  <a:t>Intractable</a:t>
                </a:r>
                <a:r>
                  <a:rPr lang="en-IN" dirty="0"/>
                  <a:t> </a:t>
                </a:r>
              </a:p>
              <a:p>
                <a:pPr lvl="1"/>
                <a:r>
                  <a:rPr lang="en-IN" dirty="0">
                    <a:solidFill>
                      <a:srgbClr val="00B050"/>
                    </a:solidFill>
                  </a:rPr>
                  <a:t>An iterative optimization is followed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D0AAA-9D91-4778-94A5-CD8546A09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FD349-87D4-4655-AD41-81A05153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3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6E56-98C3-4138-B266-3C4D54CA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0FDE9-397C-4CBD-B6A6-51719CA6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5695D-EEBE-45B0-9129-86D978E64001}"/>
              </a:ext>
            </a:extLst>
          </p:cNvPr>
          <p:cNvSpPr txBox="1"/>
          <p:nvPr/>
        </p:nvSpPr>
        <p:spPr>
          <a:xfrm>
            <a:off x="933254" y="1055802"/>
            <a:ext cx="301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Expectation-Maximization: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00A3C-683E-458D-87F7-FF56DC492073}"/>
              </a:ext>
            </a:extLst>
          </p:cNvPr>
          <p:cNvSpPr txBox="1"/>
          <p:nvPr/>
        </p:nvSpPr>
        <p:spPr>
          <a:xfrm>
            <a:off x="1480008" y="1425134"/>
            <a:ext cx="81910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Some observations drawn from an unknown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Start with an initial guess of the parameters of the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[Expectation] Estimate the maximum likelihood (MLE) of the observations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[Maximization] Figure out the model parameters that maximizes the MLE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3AC58-2E6C-4383-A4D8-3F3697EEF99B}"/>
              </a:ext>
            </a:extLst>
          </p:cNvPr>
          <p:cNvSpPr txBox="1"/>
          <p:nvPr/>
        </p:nvSpPr>
        <p:spPr>
          <a:xfrm>
            <a:off x="1763588" y="2994795"/>
            <a:ext cx="81910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Initialize a large seeding </a:t>
            </a:r>
            <a:r>
              <a:rPr lang="en-US" dirty="0" err="1"/>
              <a:t>subword</a:t>
            </a:r>
            <a:r>
              <a:rPr lang="en-US" dirty="0"/>
              <a:t> vocabulary from the training corpus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[Expectation] Estimate each </a:t>
            </a:r>
            <a:r>
              <a:rPr lang="en-US" dirty="0" err="1"/>
              <a:t>subword</a:t>
            </a:r>
            <a:r>
              <a:rPr lang="en-US" dirty="0"/>
              <a:t> probability by the corresponding frequency counts in the corpus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[Maximization] Use Viterbi to segment the corpus, returning the optimal segments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Compute the loss </a:t>
            </a:r>
            <a:r>
              <a:rPr lang="en-US" dirty="0"/>
              <a:t>of each new </a:t>
            </a:r>
            <a:r>
              <a:rPr lang="en-US" dirty="0" err="1"/>
              <a:t>subword</a:t>
            </a:r>
            <a:r>
              <a:rPr lang="en-US" dirty="0"/>
              <a:t> from optimal segments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Shrink the vocabulary size by dropping the </a:t>
            </a:r>
            <a:r>
              <a:rPr lang="en-US" dirty="0" err="1"/>
              <a:t>subwords</a:t>
            </a:r>
            <a:r>
              <a:rPr lang="en-US" dirty="0"/>
              <a:t> with top X% smallest losses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Repeat step 2 to 5 until the vocabulary size reaches a desired number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2E18C6-FCFA-4780-B078-ABF4E6F84058}"/>
              </a:ext>
            </a:extLst>
          </p:cNvPr>
          <p:cNvSpPr txBox="1"/>
          <p:nvPr/>
        </p:nvSpPr>
        <p:spPr>
          <a:xfrm>
            <a:off x="2302497" y="5802198"/>
            <a:ext cx="6945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Loss of a </a:t>
            </a:r>
            <a:r>
              <a:rPr lang="en-US" dirty="0" err="1">
                <a:solidFill>
                  <a:srgbClr val="0070C0"/>
                </a:solidFill>
              </a:rPr>
              <a:t>subword</a:t>
            </a:r>
            <a:r>
              <a:rPr lang="en-US" dirty="0">
                <a:solidFill>
                  <a:srgbClr val="0070C0"/>
                </a:solidFill>
              </a:rPr>
              <a:t> in step 4 is the reduction in overall training corpus segment likelihood if that </a:t>
            </a:r>
            <a:r>
              <a:rPr lang="en-US" dirty="0" err="1">
                <a:solidFill>
                  <a:srgbClr val="0070C0"/>
                </a:solidFill>
              </a:rPr>
              <a:t>subword</a:t>
            </a:r>
            <a:r>
              <a:rPr lang="en-US" dirty="0">
                <a:solidFill>
                  <a:srgbClr val="0070C0"/>
                </a:solidFill>
              </a:rPr>
              <a:t> is removed from the current vocabulary.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43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BAE3-D7EB-4D24-B4B7-226E6BC8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Training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8A548-D2A2-410C-8C1E-AF5D9076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40E568-B5E9-48A6-B677-81F34440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322" y="1092079"/>
            <a:ext cx="4935278" cy="55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79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DF27-13BA-4A5A-8B8A-3BA82EA7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Running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50C14-36A9-4C1B-9778-10124759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49904-A318-48A0-966B-C24F11130362}"/>
              </a:ext>
            </a:extLst>
          </p:cNvPr>
          <p:cNvSpPr txBox="1"/>
          <p:nvPr/>
        </p:nvSpPr>
        <p:spPr>
          <a:xfrm>
            <a:off x="1765169" y="157040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("hug", 10), ("pug", 5), ("pun", 12), ("bun", 4), ("hugs", 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276A5-739C-4D53-B7D6-6A8FE83F3D0A}"/>
              </a:ext>
            </a:extLst>
          </p:cNvPr>
          <p:cNvSpPr txBox="1"/>
          <p:nvPr/>
        </p:nvSpPr>
        <p:spPr>
          <a:xfrm>
            <a:off x="1121790" y="1171577"/>
            <a:ext cx="2968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Training Corpora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5EEB7-F571-4836-B830-2E8C47F9CC93}"/>
              </a:ext>
            </a:extLst>
          </p:cNvPr>
          <p:cNvSpPr txBox="1"/>
          <p:nvPr/>
        </p:nvSpPr>
        <p:spPr>
          <a:xfrm>
            <a:off x="1121790" y="2047459"/>
            <a:ext cx="636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Starting Vocabulary (All strict substrings)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89FD0-A02C-4187-91FB-0543FF962A53}"/>
              </a:ext>
            </a:extLst>
          </p:cNvPr>
          <p:cNvSpPr txBox="1"/>
          <p:nvPr/>
        </p:nvSpPr>
        <p:spPr>
          <a:xfrm>
            <a:off x="1765169" y="2461359"/>
            <a:ext cx="8123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["h", "u", "g", "hu", "ug", "p", "</a:t>
            </a:r>
            <a:r>
              <a:rPr lang="en-IN" dirty="0" err="1"/>
              <a:t>pu</a:t>
            </a:r>
            <a:r>
              <a:rPr lang="en-IN" dirty="0"/>
              <a:t>", "n", "un", "b", "</a:t>
            </a:r>
            <a:r>
              <a:rPr lang="en-IN" dirty="0" err="1"/>
              <a:t>bu</a:t>
            </a:r>
            <a:r>
              <a:rPr lang="en-IN" dirty="0"/>
              <a:t>", "s", "hug", "</a:t>
            </a:r>
            <a:r>
              <a:rPr lang="en-IN" dirty="0" err="1"/>
              <a:t>gs</a:t>
            </a:r>
            <a:r>
              <a:rPr lang="en-IN" dirty="0"/>
              <a:t>", "</a:t>
            </a:r>
            <a:r>
              <a:rPr lang="en-IN" dirty="0" err="1"/>
              <a:t>ugs</a:t>
            </a:r>
            <a:r>
              <a:rPr lang="en-IN" dirty="0"/>
              <a:t>"]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EE001-0678-4C26-871A-0F15D57B60DC}"/>
              </a:ext>
            </a:extLst>
          </p:cNvPr>
          <p:cNvSpPr txBox="1"/>
          <p:nvPr/>
        </p:nvSpPr>
        <p:spPr>
          <a:xfrm>
            <a:off x="1765170" y="3463571"/>
            <a:ext cx="8123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("h", 15) ("u", 36) ("g", 20) ("hu", 15) ("ug", 20) ("p", 17) ("</a:t>
            </a:r>
            <a:r>
              <a:rPr lang="en-IN" dirty="0" err="1"/>
              <a:t>pu</a:t>
            </a:r>
            <a:r>
              <a:rPr lang="en-IN" dirty="0"/>
              <a:t>", 17) ("n", 16)</a:t>
            </a:r>
          </a:p>
          <a:p>
            <a:r>
              <a:rPr lang="en-IN" dirty="0"/>
              <a:t>("un", 16) ("b", 4) ("</a:t>
            </a:r>
            <a:r>
              <a:rPr lang="en-IN" dirty="0" err="1"/>
              <a:t>bu</a:t>
            </a:r>
            <a:r>
              <a:rPr lang="en-IN" dirty="0"/>
              <a:t>", 4) ("s", 5) ("hug", 15) ("</a:t>
            </a:r>
            <a:r>
              <a:rPr lang="en-IN" dirty="0" err="1"/>
              <a:t>gs</a:t>
            </a:r>
            <a:r>
              <a:rPr lang="en-IN" dirty="0"/>
              <a:t>", 5) ("</a:t>
            </a:r>
            <a:r>
              <a:rPr lang="en-IN" dirty="0" err="1"/>
              <a:t>ugs</a:t>
            </a:r>
            <a:r>
              <a:rPr lang="en-IN" dirty="0"/>
              <a:t>", 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521D6E-D7A8-437D-9A8C-BBA008666B67}"/>
              </a:ext>
            </a:extLst>
          </p:cNvPr>
          <p:cNvSpPr txBox="1"/>
          <p:nvPr/>
        </p:nvSpPr>
        <p:spPr>
          <a:xfrm>
            <a:off x="1121790" y="3029999"/>
            <a:ext cx="5165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Frequencies of the </a:t>
            </a:r>
            <a:r>
              <a:rPr lang="en-IN" sz="2400" dirty="0" err="1"/>
              <a:t>subwords</a:t>
            </a: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C4281F-7F6C-410D-9276-6FEE1AA318BB}"/>
              </a:ext>
            </a:extLst>
          </p:cNvPr>
          <p:cNvSpPr txBox="1"/>
          <p:nvPr/>
        </p:nvSpPr>
        <p:spPr>
          <a:xfrm>
            <a:off x="1092293" y="4338514"/>
            <a:ext cx="686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Optimal segmentation of a given word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E2A038-514E-42E7-A972-87C5BF359F26}"/>
              </a:ext>
            </a:extLst>
          </p:cNvPr>
          <p:cNvSpPr txBox="1"/>
          <p:nvPr/>
        </p:nvSpPr>
        <p:spPr>
          <a:xfrm>
            <a:off x="1736888" y="470784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"pug“: [‘p’, ‘u’, ‘g’], [‘p’, ‘ug’], [‘</a:t>
            </a:r>
            <a:r>
              <a:rPr lang="en-IN" dirty="0" err="1"/>
              <a:t>pu</a:t>
            </a:r>
            <a:r>
              <a:rPr lang="en-IN" dirty="0"/>
              <a:t>’, ‘g’]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6EC27F-4B25-4773-9F8F-C876196A8051}"/>
                  </a:ext>
                </a:extLst>
              </p:cNvPr>
              <p:cNvSpPr txBox="1"/>
              <p:nvPr/>
            </p:nvSpPr>
            <p:spPr>
              <a:xfrm>
                <a:off x="2300140" y="5033067"/>
                <a:ext cx="725057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′, 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′])=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=0.001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6EC27F-4B25-4773-9F8F-C876196A8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140" y="5033067"/>
                <a:ext cx="7250575" cy="520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F332AD-5930-4614-8D4B-8BE7DEDA881C}"/>
                  </a:ext>
                </a:extLst>
              </p:cNvPr>
              <p:cNvSpPr txBox="1"/>
              <p:nvPr/>
            </p:nvSpPr>
            <p:spPr>
              <a:xfrm>
                <a:off x="2301713" y="5647383"/>
                <a:ext cx="565642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′])=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=0.00771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F332AD-5930-4614-8D4B-8BE7DEDA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713" y="5647383"/>
                <a:ext cx="5656420" cy="5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3AD23C-137C-4F6D-9627-D5369C2D4549}"/>
                  </a:ext>
                </a:extLst>
              </p:cNvPr>
              <p:cNvSpPr txBox="1"/>
              <p:nvPr/>
            </p:nvSpPr>
            <p:spPr>
              <a:xfrm>
                <a:off x="2237292" y="6242847"/>
                <a:ext cx="579023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𝑝𝑢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′])=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𝑝𝑢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=0.00771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3AD23C-137C-4F6D-9627-D5369C2D4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292" y="6242847"/>
                <a:ext cx="5790239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9997FB9-9F3F-4D17-9C7F-739289B98F6C}"/>
              </a:ext>
            </a:extLst>
          </p:cNvPr>
          <p:cNvSpPr/>
          <p:nvPr/>
        </p:nvSpPr>
        <p:spPr>
          <a:xfrm>
            <a:off x="2300140" y="5631011"/>
            <a:ext cx="5727391" cy="611836"/>
          </a:xfrm>
          <a:prstGeom prst="roundRect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06BCAD-A8B0-467A-8805-28E41C974C17}"/>
              </a:ext>
            </a:extLst>
          </p:cNvPr>
          <p:cNvSpPr/>
          <p:nvPr/>
        </p:nvSpPr>
        <p:spPr>
          <a:xfrm>
            <a:off x="2319805" y="6275485"/>
            <a:ext cx="5727391" cy="611836"/>
          </a:xfrm>
          <a:prstGeom prst="roundRect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9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3C96-08FB-42FA-8772-49F88067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Running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2CD8E-5C8C-4979-9995-8AD8EFE3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1F0B-DEA9-4293-8948-D18856EBDFE1}"/>
              </a:ext>
            </a:extLst>
          </p:cNvPr>
          <p:cNvSpPr txBox="1"/>
          <p:nvPr/>
        </p:nvSpPr>
        <p:spPr>
          <a:xfrm>
            <a:off x="1589103" y="159006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("hug", 10), ("pug", 5), ("pun", 12), ("bun", 4), ("hugs", 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82F2B-9AEB-48F0-8C6B-50855B8A34D1}"/>
              </a:ext>
            </a:extLst>
          </p:cNvPr>
          <p:cNvSpPr txBox="1"/>
          <p:nvPr/>
        </p:nvSpPr>
        <p:spPr>
          <a:xfrm>
            <a:off x="1121790" y="1201073"/>
            <a:ext cx="3048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Training Corpora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B0E33-11E5-4369-BB1E-81C5A0E31C31}"/>
              </a:ext>
            </a:extLst>
          </p:cNvPr>
          <p:cNvSpPr txBox="1"/>
          <p:nvPr/>
        </p:nvSpPr>
        <p:spPr>
          <a:xfrm>
            <a:off x="1121790" y="2124403"/>
            <a:ext cx="4154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Tokenization of each word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5DBAF-66B1-40E3-825B-6720C1C82AD7}"/>
              </a:ext>
            </a:extLst>
          </p:cNvPr>
          <p:cNvSpPr txBox="1"/>
          <p:nvPr/>
        </p:nvSpPr>
        <p:spPr>
          <a:xfrm>
            <a:off x="1516929" y="2533063"/>
            <a:ext cx="41548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"hug": ["hug"] (score 0.071428)</a:t>
            </a:r>
          </a:p>
          <a:p>
            <a:r>
              <a:rPr lang="en-IN" dirty="0"/>
              <a:t>"pug": ["</a:t>
            </a:r>
            <a:r>
              <a:rPr lang="en-IN" dirty="0" err="1"/>
              <a:t>pu</a:t>
            </a:r>
            <a:r>
              <a:rPr lang="en-IN" dirty="0"/>
              <a:t>", "g"] (score 0.007710)</a:t>
            </a:r>
          </a:p>
          <a:p>
            <a:r>
              <a:rPr lang="en-IN" dirty="0"/>
              <a:t>"pun": ["</a:t>
            </a:r>
            <a:r>
              <a:rPr lang="en-IN" dirty="0" err="1"/>
              <a:t>pu</a:t>
            </a:r>
            <a:r>
              <a:rPr lang="en-IN" dirty="0"/>
              <a:t>", "n"] (score 0.006168)</a:t>
            </a:r>
          </a:p>
          <a:p>
            <a:r>
              <a:rPr lang="en-IN" dirty="0"/>
              <a:t>"bun": ["</a:t>
            </a:r>
            <a:r>
              <a:rPr lang="en-IN" dirty="0" err="1"/>
              <a:t>bu</a:t>
            </a:r>
            <a:r>
              <a:rPr lang="en-IN" dirty="0"/>
              <a:t>", "n"] (score 0.001451)</a:t>
            </a:r>
          </a:p>
          <a:p>
            <a:r>
              <a:rPr lang="en-IN" dirty="0"/>
              <a:t>"hugs": ["hug", "s"] (score 0.001701)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20AAF6-5331-44E2-8D6F-1369AB84BAD3}"/>
              </a:ext>
            </a:extLst>
          </p:cNvPr>
          <p:cNvSpPr txBox="1"/>
          <p:nvPr/>
        </p:nvSpPr>
        <p:spPr>
          <a:xfrm>
            <a:off x="1520073" y="4649465"/>
            <a:ext cx="7303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 * (-log(0.071428)) + 5 * (-log(0.007710)) + 12 * (-log(0.006168)) + 4 * (-log(0.001451)) + 5 * (-log(0.001701)) = 169.8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C6CDD-CC70-4225-A72D-6A1717D366FE}"/>
              </a:ext>
            </a:extLst>
          </p:cNvPr>
          <p:cNvSpPr txBox="1"/>
          <p:nvPr/>
        </p:nvSpPr>
        <p:spPr>
          <a:xfrm>
            <a:off x="1121789" y="4217469"/>
            <a:ext cx="5760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(negative log) Likelihood of the corpus</a:t>
            </a:r>
          </a:p>
        </p:txBody>
      </p:sp>
    </p:spTree>
    <p:extLst>
      <p:ext uri="{BB962C8B-B14F-4D97-AF65-F5344CB8AC3E}">
        <p14:creationId xmlns:p14="http://schemas.microsoft.com/office/powerpoint/2010/main" val="180802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6591-04E6-4F7A-A7CD-33CC83DF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Running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B92C5-2572-4A22-8EB3-7B168353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A074-9322-429E-946E-3D8ADC3272B5}"/>
              </a:ext>
            </a:extLst>
          </p:cNvPr>
          <p:cNvSpPr txBox="1"/>
          <p:nvPr/>
        </p:nvSpPr>
        <p:spPr>
          <a:xfrm>
            <a:off x="952107" y="1086479"/>
            <a:ext cx="7395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Compute loss for each </a:t>
            </a:r>
            <a:r>
              <a:rPr lang="en-IN" sz="2400" dirty="0" err="1"/>
              <a:t>subword</a:t>
            </a:r>
            <a:r>
              <a:rPr lang="en-IN" sz="2400" dirty="0"/>
              <a:t> removal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AF0BA-D54D-4EDB-A0D8-90ED17F0F6B6}"/>
              </a:ext>
            </a:extLst>
          </p:cNvPr>
          <p:cNvSpPr txBox="1"/>
          <p:nvPr/>
        </p:nvSpPr>
        <p:spPr>
          <a:xfrm>
            <a:off x="1328394" y="2134655"/>
            <a:ext cx="1895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Removing ‘</a:t>
            </a:r>
            <a:r>
              <a:rPr lang="en-IN" dirty="0" err="1"/>
              <a:t>pu</a:t>
            </a:r>
            <a:r>
              <a:rPr lang="en-IN" dirty="0"/>
              <a:t>’: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B7F822-870C-482F-9871-A7CFAE3F2EB2}"/>
                  </a:ext>
                </a:extLst>
              </p:cNvPr>
              <p:cNvSpPr txBox="1"/>
              <p:nvPr/>
            </p:nvSpPr>
            <p:spPr>
              <a:xfrm>
                <a:off x="3223968" y="1857656"/>
                <a:ext cx="296944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′, ′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′])=0.00117</m:t>
                    </m:r>
                  </m:oMath>
                </a14:m>
                <a:r>
                  <a:rPr lang="en-IN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,′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𝑢𝑔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′])=0.00771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B7F822-870C-482F-9871-A7CFAE3F2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968" y="1857656"/>
                <a:ext cx="2969442" cy="646331"/>
              </a:xfrm>
              <a:prstGeom prst="rect">
                <a:avLst/>
              </a:prstGeom>
              <a:blipFill>
                <a:blip r:embed="rId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46DACC6-999A-4A73-9917-9DF7FEBFC014}"/>
              </a:ext>
            </a:extLst>
          </p:cNvPr>
          <p:cNvSpPr txBox="1"/>
          <p:nvPr/>
        </p:nvSpPr>
        <p:spPr>
          <a:xfrm>
            <a:off x="6794790" y="1848691"/>
            <a:ext cx="5077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Change in likelihood = - 5 * (-log(0.007710))   + 5 * (-log(0.007710)) =0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E782F-AD7E-4DA1-B3FE-AD74C8B8653A}"/>
              </a:ext>
            </a:extLst>
          </p:cNvPr>
          <p:cNvSpPr txBox="1"/>
          <p:nvPr/>
        </p:nvSpPr>
        <p:spPr>
          <a:xfrm>
            <a:off x="6794790" y="2534558"/>
            <a:ext cx="3317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Removing ‘</a:t>
            </a:r>
            <a:r>
              <a:rPr lang="en-IN" dirty="0" err="1">
                <a:solidFill>
                  <a:srgbClr val="C00000"/>
                </a:solidFill>
              </a:rPr>
              <a:t>pu</a:t>
            </a:r>
            <a:r>
              <a:rPr lang="en-IN" dirty="0">
                <a:solidFill>
                  <a:srgbClr val="C00000"/>
                </a:solidFill>
              </a:rPr>
              <a:t>’ has no effect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914AF-0451-4C09-9AF4-CB83F9345D81}"/>
              </a:ext>
            </a:extLst>
          </p:cNvPr>
          <p:cNvSpPr txBox="1"/>
          <p:nvPr/>
        </p:nvSpPr>
        <p:spPr>
          <a:xfrm>
            <a:off x="1235697" y="3550247"/>
            <a:ext cx="211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Removing ‘hug’: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8B585F-B25A-48CC-B34E-4AB9D3305408}"/>
                  </a:ext>
                </a:extLst>
              </p:cNvPr>
              <p:cNvSpPr txBox="1"/>
              <p:nvPr/>
            </p:nvSpPr>
            <p:spPr>
              <a:xfrm>
                <a:off x="3277387" y="3273248"/>
                <a:ext cx="2969442" cy="946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′, ′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′])=0.00117</m:t>
                    </m:r>
                  </m:oMath>
                </a14:m>
                <a:r>
                  <a:rPr lang="en-IN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,′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𝑢𝑔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′])=0.006802</m:t>
                    </m:r>
                  </m:oMath>
                </a14:m>
                <a:r>
                  <a:rPr lang="en-IN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,′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′])=0.00771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8B585F-B25A-48CC-B34E-4AB9D3305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387" y="3273248"/>
                <a:ext cx="2969442" cy="946606"/>
              </a:xfrm>
              <a:prstGeom prst="rect">
                <a:avLst/>
              </a:prstGeom>
              <a:blipFill>
                <a:blip r:embed="rId3"/>
                <a:stretch>
                  <a:fillRect b="-38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5F97F1B-6CFC-482A-9C51-84C05BB7A2E0}"/>
              </a:ext>
            </a:extLst>
          </p:cNvPr>
          <p:cNvSpPr txBox="1"/>
          <p:nvPr/>
        </p:nvSpPr>
        <p:spPr>
          <a:xfrm>
            <a:off x="7542227" y="3639828"/>
            <a:ext cx="3044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Change in likelihood = -10 * (-log(0.071428))+ 10 * (-log(0.00771))=22.26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2E9784-9C4A-4D9D-BF6D-BB82881D14E8}"/>
                  </a:ext>
                </a:extLst>
              </p:cNvPr>
              <p:cNvSpPr txBox="1"/>
              <p:nvPr/>
            </p:nvSpPr>
            <p:spPr>
              <a:xfrm>
                <a:off x="3277387" y="4588933"/>
                <a:ext cx="296944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,′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𝑔𝑠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′])=0.001701</m:t>
                    </m:r>
                  </m:oMath>
                </a14:m>
                <a:r>
                  <a:rPr lang="en-IN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𝑢𝑔𝑠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′])=0.00170</m:t>
                    </m:r>
                  </m:oMath>
                </a14:m>
                <a:r>
                  <a:rPr lang="en-IN" dirty="0"/>
                  <a:t>1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2E9784-9C4A-4D9D-BF6D-BB82881D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387" y="4588933"/>
                <a:ext cx="2969442" cy="646331"/>
              </a:xfrm>
              <a:prstGeom prst="rect">
                <a:avLst/>
              </a:prstGeom>
              <a:blipFill>
                <a:blip r:embed="rId4"/>
                <a:stretch>
                  <a:fillRect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47CD92E-C082-4051-B077-6EE10751AF40}"/>
              </a:ext>
            </a:extLst>
          </p:cNvPr>
          <p:cNvSpPr txBox="1"/>
          <p:nvPr/>
        </p:nvSpPr>
        <p:spPr>
          <a:xfrm>
            <a:off x="1328393" y="5420655"/>
            <a:ext cx="92579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token ‘</a:t>
            </a:r>
            <a:r>
              <a:rPr lang="en-IN" sz="2400" dirty="0" err="1"/>
              <a:t>pu</a:t>
            </a:r>
            <a:r>
              <a:rPr lang="en-IN" sz="2400" dirty="0"/>
              <a:t>’ can be chosen over ‘hug’ for removal as it’s removal has no effect 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94871C-7351-4F51-BD3F-9F5D0FCFF7C0}"/>
              </a:ext>
            </a:extLst>
          </p:cNvPr>
          <p:cNvSpPr txBox="1"/>
          <p:nvPr/>
        </p:nvSpPr>
        <p:spPr>
          <a:xfrm>
            <a:off x="3145410" y="1541272"/>
            <a:ext cx="389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"pug": ["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pu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", "g"] (score 0.007710)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6FCE7F-2F07-4FB9-BEBA-5DB4C1607851}"/>
              </a:ext>
            </a:extLst>
          </p:cNvPr>
          <p:cNvSpPr txBox="1"/>
          <p:nvPr/>
        </p:nvSpPr>
        <p:spPr>
          <a:xfrm>
            <a:off x="3212355" y="2956864"/>
            <a:ext cx="3674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"hug": ["hug"] (score 0.071428)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45CA3-91B7-415E-8A7A-8A38693A0FC6}"/>
              </a:ext>
            </a:extLst>
          </p:cNvPr>
          <p:cNvSpPr txBox="1"/>
          <p:nvPr/>
        </p:nvSpPr>
        <p:spPr>
          <a:xfrm>
            <a:off x="3196561" y="4295721"/>
            <a:ext cx="4109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"hugs": ["hug", "s"] (score 0.001701)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DFE6C0-56AF-4CD1-BB03-BD2125636A3D}"/>
              </a:ext>
            </a:extLst>
          </p:cNvPr>
          <p:cNvSpPr txBox="1"/>
          <p:nvPr/>
        </p:nvSpPr>
        <p:spPr>
          <a:xfrm>
            <a:off x="6916889" y="4760756"/>
            <a:ext cx="3317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Removing ‘hug’ results in reduction in the likelihood </a:t>
            </a:r>
          </a:p>
        </p:txBody>
      </p:sp>
    </p:spTree>
    <p:extLst>
      <p:ext uri="{BB962C8B-B14F-4D97-AF65-F5344CB8AC3E}">
        <p14:creationId xmlns:p14="http://schemas.microsoft.com/office/powerpoint/2010/main" val="224876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8" grpId="0"/>
      <p:bldP spid="20" grpId="0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13E3-72FC-45E8-A578-0C49F21C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Unigram Tokenizer: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5FD9C-3412-4D51-A75D-E144D50287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IN" dirty="0"/>
                  <a:t>Output of Training</a:t>
                </a:r>
              </a:p>
              <a:p>
                <a:pPr lvl="1"/>
                <a:r>
                  <a:rPr lang="en-IN" dirty="0"/>
                  <a:t>The final vocabulary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dirty="0"/>
                  <a:t>) with probability of each </a:t>
                </a:r>
                <a:r>
                  <a:rPr lang="en-IN" dirty="0" err="1"/>
                  <a:t>subword</a:t>
                </a:r>
                <a:endParaRPr lang="en-IN" dirty="0"/>
              </a:p>
              <a:p>
                <a:r>
                  <a:rPr lang="en-IN" dirty="0"/>
                  <a:t>How do we tokenize a new sequence?</a:t>
                </a:r>
              </a:p>
              <a:p>
                <a:pPr lvl="1"/>
                <a:r>
                  <a:rPr lang="en-IN" dirty="0"/>
                  <a:t>The same Viterbi Decoding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IN" dirty="0"/>
              </a:p>
              <a:p>
                <a:r>
                  <a:rPr lang="en-IN" dirty="0"/>
                  <a:t>Do we encounter [UNK]?</a:t>
                </a:r>
              </a:p>
              <a:p>
                <a:pPr lvl="1"/>
                <a:r>
                  <a:rPr lang="en-IN" dirty="0"/>
                  <a:t>Each alphabet is present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dirty="0"/>
                  <a:t> and is never removed during EM </a:t>
                </a:r>
              </a:p>
              <a:p>
                <a:r>
                  <a:rPr lang="en-IN" dirty="0" err="1"/>
                  <a:t>SentencePiece</a:t>
                </a:r>
                <a:r>
                  <a:rPr lang="en-IN" dirty="0"/>
                  <a:t> vs Unigram Tokenizer</a:t>
                </a:r>
              </a:p>
              <a:p>
                <a:pPr lvl="1"/>
                <a:r>
                  <a:rPr lang="en-IN" dirty="0" err="1"/>
                  <a:t>SentencePiece</a:t>
                </a:r>
                <a:r>
                  <a:rPr lang="en-IN" dirty="0"/>
                  <a:t> is a package that used Unigram Tokenizer</a:t>
                </a:r>
              </a:p>
              <a:p>
                <a:r>
                  <a:rPr lang="en-IN" dirty="0"/>
                  <a:t>How do we formulate the initial vocab?</a:t>
                </a:r>
              </a:p>
              <a:p>
                <a:pPr lvl="1"/>
                <a:r>
                  <a:rPr lang="en-US" dirty="0"/>
                  <a:t>BPE to generate the initial vocabulary</a:t>
                </a:r>
              </a:p>
              <a:p>
                <a:pPr lvl="1"/>
                <a:r>
                  <a:rPr lang="en-US" dirty="0"/>
                  <a:t> Suffix array algorithm to generate the common substrings.</a:t>
                </a:r>
              </a:p>
              <a:p>
                <a:r>
                  <a:rPr lang="en-US" dirty="0" err="1"/>
                  <a:t>SentencePiece</a:t>
                </a:r>
                <a:r>
                  <a:rPr lang="en-US" dirty="0"/>
                  <a:t> treats whitespace as a character</a:t>
                </a:r>
              </a:p>
              <a:p>
                <a:pPr lvl="1"/>
                <a:r>
                  <a:rPr lang="en-IN" dirty="0"/>
                  <a:t>Tokenization on language that does not use whitespace as word separator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5FD9C-3412-4D51-A75D-E144D5028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E7EDF-E3DB-4BF3-9F10-01735104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7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71407</TotalTime>
  <Words>4273</Words>
  <Application>Microsoft Office PowerPoint</Application>
  <PresentationFormat>Widescreen</PresentationFormat>
  <Paragraphs>513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-apple-system</vt:lpstr>
      <vt:lpstr>Arial</vt:lpstr>
      <vt:lpstr>Avenir Next LT Pro</vt:lpstr>
      <vt:lpstr>Calibri</vt:lpstr>
      <vt:lpstr>Cambria Math</vt:lpstr>
      <vt:lpstr>Courier New</vt:lpstr>
      <vt:lpstr>Goudy Old Style</vt:lpstr>
      <vt:lpstr>Roboto</vt:lpstr>
      <vt:lpstr>ui-monospace</vt:lpstr>
      <vt:lpstr>Wingdings</vt:lpstr>
      <vt:lpstr>FrostyVTI</vt:lpstr>
      <vt:lpstr>Input Tokenizers</vt:lpstr>
      <vt:lpstr>Input Tokens: Many Words are Rare</vt:lpstr>
      <vt:lpstr>Input Tokens: Sub-Word</vt:lpstr>
      <vt:lpstr>Input Tokens: Sub-Word</vt:lpstr>
      <vt:lpstr>Tokenization Strategies</vt:lpstr>
      <vt:lpstr>Byte Pair Encoding (BPE)</vt:lpstr>
      <vt:lpstr>Byte Pair Encoding (BPE): Training</vt:lpstr>
      <vt:lpstr>Byte Pair Encoding (BPE)</vt:lpstr>
      <vt:lpstr>Byte Pair Encoding (BPE): Training</vt:lpstr>
      <vt:lpstr>Byte Pair Encoding (BPE): Training</vt:lpstr>
      <vt:lpstr>Byte Pair Encoding (BPE): Training</vt:lpstr>
      <vt:lpstr>Byte Pair Encoding (BPE): Training</vt:lpstr>
      <vt:lpstr>Byte Pair Encoding (BPE): Inference</vt:lpstr>
      <vt:lpstr>WordPiece Tokenizer</vt:lpstr>
      <vt:lpstr>SentencePiece Tokenizer</vt:lpstr>
      <vt:lpstr>SentencePiece Tokenizer: Idea</vt:lpstr>
      <vt:lpstr>SentencePiece: Unigram Tokenizer</vt:lpstr>
      <vt:lpstr>SentencePiece: Unigram Tokenizer</vt:lpstr>
      <vt:lpstr>SentencePiece: Unigram Tokenizer</vt:lpstr>
      <vt:lpstr>Unigram Tokenizer: Viterbi Decoding</vt:lpstr>
      <vt:lpstr>Unigram Tokenizer: Viterbi Decoding</vt:lpstr>
      <vt:lpstr>Unigram Tokenizer: Algorithm</vt:lpstr>
      <vt:lpstr>Unigram Tokenizer: Algorithm</vt:lpstr>
      <vt:lpstr>Unigram Tokenizer: Training Algorithm</vt:lpstr>
      <vt:lpstr>Unigram Tokenizer: Running Example</vt:lpstr>
      <vt:lpstr>Unigram Tokenizer: Running Example</vt:lpstr>
      <vt:lpstr>Unigram Tokenizer: Running Example</vt:lpstr>
      <vt:lpstr>Unigram Tokenizer: Inference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892</cp:revision>
  <dcterms:created xsi:type="dcterms:W3CDTF">2021-07-28T12:05:26Z</dcterms:created>
  <dcterms:modified xsi:type="dcterms:W3CDTF">2025-08-14T05:16:45Z</dcterms:modified>
</cp:coreProperties>
</file>