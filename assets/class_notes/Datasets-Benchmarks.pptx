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54"/>
  </p:notesMasterIdLst>
  <p:sldIdLst>
    <p:sldId id="258" r:id="rId2"/>
    <p:sldId id="371" r:id="rId3"/>
    <p:sldId id="309" r:id="rId4"/>
    <p:sldId id="259" r:id="rId5"/>
    <p:sldId id="318" r:id="rId6"/>
    <p:sldId id="319" r:id="rId7"/>
    <p:sldId id="320" r:id="rId8"/>
    <p:sldId id="317" r:id="rId9"/>
    <p:sldId id="323" r:id="rId10"/>
    <p:sldId id="324" r:id="rId11"/>
    <p:sldId id="367" r:id="rId12"/>
    <p:sldId id="342" r:id="rId13"/>
    <p:sldId id="358" r:id="rId14"/>
    <p:sldId id="343" r:id="rId15"/>
    <p:sldId id="344" r:id="rId16"/>
    <p:sldId id="348" r:id="rId17"/>
    <p:sldId id="311" r:id="rId18"/>
    <p:sldId id="346" r:id="rId19"/>
    <p:sldId id="357" r:id="rId20"/>
    <p:sldId id="341" r:id="rId21"/>
    <p:sldId id="349" r:id="rId22"/>
    <p:sldId id="350" r:id="rId23"/>
    <p:sldId id="351" r:id="rId24"/>
    <p:sldId id="353" r:id="rId25"/>
    <p:sldId id="354" r:id="rId26"/>
    <p:sldId id="314" r:id="rId27"/>
    <p:sldId id="356" r:id="rId28"/>
    <p:sldId id="373" r:id="rId29"/>
    <p:sldId id="312" r:id="rId30"/>
    <p:sldId id="355" r:id="rId31"/>
    <p:sldId id="315" r:id="rId32"/>
    <p:sldId id="360" r:id="rId33"/>
    <p:sldId id="364" r:id="rId34"/>
    <p:sldId id="366" r:id="rId35"/>
    <p:sldId id="368" r:id="rId36"/>
    <p:sldId id="370" r:id="rId37"/>
    <p:sldId id="322" r:id="rId38"/>
    <p:sldId id="325" r:id="rId39"/>
    <p:sldId id="326" r:id="rId40"/>
    <p:sldId id="327" r:id="rId41"/>
    <p:sldId id="328" r:id="rId42"/>
    <p:sldId id="329" r:id="rId43"/>
    <p:sldId id="330" r:id="rId44"/>
    <p:sldId id="332" r:id="rId45"/>
    <p:sldId id="335" r:id="rId46"/>
    <p:sldId id="336" r:id="rId47"/>
    <p:sldId id="337" r:id="rId48"/>
    <p:sldId id="338" r:id="rId49"/>
    <p:sldId id="339" r:id="rId50"/>
    <p:sldId id="340" r:id="rId51"/>
    <p:sldId id="310" r:id="rId52"/>
    <p:sldId id="257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7111"/>
    <a:srgbClr val="009900"/>
    <a:srgbClr val="8DD783"/>
    <a:srgbClr val="EA9B26"/>
    <a:srgbClr val="158D82"/>
    <a:srgbClr val="5E861C"/>
    <a:srgbClr val="499200"/>
    <a:srgbClr val="F9DE6B"/>
    <a:srgbClr val="F1BE7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4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72402-DDD5-4AA4-B67D-84D287CD135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3684B-A4BC-40E1-95BF-E6FD9523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4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3684B-A4BC-40E1-95BF-E6FD95234C0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970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9836" y="1096965"/>
            <a:ext cx="8567530" cy="2085696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>
                <a:solidFill>
                  <a:schemeClr val="accent5">
                    <a:lumMod val="50000"/>
                    <a:alpha val="6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TextBox 3">
            <a:extLst>
              <a:ext uri="{FF2B5EF4-FFF2-40B4-BE49-F238E27FC236}">
                <a16:creationId xmlns:a16="http://schemas.microsoft.com/office/drawing/2014/main" id="{AD0C487A-D036-4525-9F6D-E5DCC81B692F}"/>
              </a:ext>
            </a:extLst>
          </p:cNvPr>
          <p:cNvSpPr txBox="1"/>
          <p:nvPr userDrawn="1"/>
        </p:nvSpPr>
        <p:spPr>
          <a:xfrm>
            <a:off x="1740160" y="753853"/>
            <a:ext cx="8406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Foundation of Large Language Models (FLLM)</a:t>
            </a:r>
          </a:p>
        </p:txBody>
      </p:sp>
    </p:spTree>
    <p:extLst>
      <p:ext uri="{BB962C8B-B14F-4D97-AF65-F5344CB8AC3E}">
        <p14:creationId xmlns:p14="http://schemas.microsoft.com/office/powerpoint/2010/main" val="1088301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766" y="-204151"/>
            <a:ext cx="10545418" cy="1112836"/>
          </a:xfrm>
        </p:spPr>
        <p:txBody>
          <a:bodyPr>
            <a:normAutofit/>
          </a:bodyPr>
          <a:lstStyle>
            <a:lvl1pPr>
              <a:defRPr sz="48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766" y="1097280"/>
            <a:ext cx="10545418" cy="5180971"/>
          </a:xfrm>
        </p:spPr>
        <p:txBody>
          <a:bodyPr/>
          <a:lstStyle>
            <a:lvl1pPr marL="360000" indent="-360000">
              <a:buClr>
                <a:schemeClr val="tx1"/>
              </a:buClr>
              <a:buFont typeface="Courier New" panose="02070309020205020404" pitchFamily="49" charset="0"/>
              <a:buChar char="o"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702900" indent="-342900">
              <a:buClr>
                <a:schemeClr val="tx1"/>
              </a:buClr>
              <a:buFont typeface="Courier New" panose="02070309020205020404" pitchFamily="49" charset="0"/>
              <a:buChar char="o"/>
              <a:defRPr sz="2400" i="0">
                <a:solidFill>
                  <a:schemeClr val="tx1"/>
                </a:solidFill>
              </a:defRPr>
            </a:lvl2pPr>
            <a:lvl3pPr marL="1080000" indent="-360000">
              <a:buClr>
                <a:schemeClr val="tx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3pPr>
            <a:lvl4pPr marL="1422900" indent="-342900">
              <a:buClr>
                <a:schemeClr val="bg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4pPr>
            <a:lvl5pPr marL="1800000" indent="-360000"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1EF4-0B44-480E-B1CA-E8B01585DD85}" type="datetime1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>
                <a:solidFill>
                  <a:srgbClr val="000000">
                    <a:alpha val="60000"/>
                  </a:srgbClr>
                </a:solidFill>
              </a:rPr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58E440-80E3-4674-868F-16E3FD812262}"/>
              </a:ext>
            </a:extLst>
          </p:cNvPr>
          <p:cNvCxnSpPr/>
          <p:nvPr userDrawn="1"/>
        </p:nvCxnSpPr>
        <p:spPr>
          <a:xfrm>
            <a:off x="932873" y="868045"/>
            <a:ext cx="5421745" cy="0"/>
          </a:xfrm>
          <a:prstGeom prst="line">
            <a:avLst/>
          </a:prstGeom>
          <a:ln w="31750" cmpd="dbl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940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AA3D-832D-4739-99F8-128210B9AF07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2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2CA6-5415-40A5-BE80-C9C2029C794F}" type="datetime1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4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2C425-61B3-4F13-A5D7-96BEC0AEEF4E}" type="datetime1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9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96ADC-0E81-467B-BF24-F5F64C27557E}" type="datetime1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44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6A2F1-C8AA-4C5A-BC77-A22BE69D0CCF}" type="datetime1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6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AB9DA-A624-4568-9427-D46FE5B985A1}" type="datetime1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49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7A178-DCAA-4BAD-8D70-6206F4E66321}" type="datetime1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924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6625-C422-4342-A7B2-49F594299DB1}" type="datetime1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9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08767-D464-46E8-83D0-7E7B7C61A0DB}" type="datetime1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1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3FB5E30D-328D-48DD-A960-2B84B10436F7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Indian Oil Training on AI and ML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66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Courier New" panose="02070309020205020404" pitchFamily="49" charset="0"/>
        <a:buChar char="o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§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3pPr>
      <a:lvl4pPr marL="1422900" indent="-3429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2000" b="0" i="1" kern="1200" spc="50" baseline="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402.1804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57210-9334-4A18-A6C0-80B658DD84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LLM Benchmarks and Evaluation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5A4C8-F94D-4F5D-B4F9-508689224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Plaban Kumar Bhowmick</a:t>
            </a:r>
          </a:p>
          <a:p>
            <a:r>
              <a:rPr lang="en-IN" dirty="0"/>
              <a:t>TA : Trishita Mukherjee</a:t>
            </a:r>
          </a:p>
          <a:p>
            <a:r>
              <a:rPr lang="en-IN" dirty="0"/>
              <a:t>Department of AI</a:t>
            </a:r>
          </a:p>
          <a:p>
            <a:r>
              <a:rPr lang="en-IN" dirty="0"/>
              <a:t>plaban@ai.iitkgp.ac.in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6D040-688E-4CDE-B3E0-268C6E0DA1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982800" y="6357600"/>
            <a:ext cx="1760150" cy="460800"/>
          </a:xfrm>
        </p:spPr>
        <p:txBody>
          <a:bodyPr/>
          <a:lstStyle/>
          <a:p>
            <a:fld id="{FF2BD96E-3838-45D2-9031-D3AF67C920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31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BD07B-CD1B-7501-E056-A23B2BFA8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D19F4-5816-CFD4-3E89-D3695B0F7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Need for Benchmarks</a:t>
            </a:r>
          </a:p>
          <a:p>
            <a:r>
              <a:rPr lang="en-IN" dirty="0"/>
              <a:t>Properties of Benchmarks</a:t>
            </a:r>
          </a:p>
          <a:p>
            <a:r>
              <a:rPr lang="en-IN" dirty="0"/>
              <a:t>Representative LLM datasets across four dimensions</a:t>
            </a:r>
          </a:p>
          <a:p>
            <a:r>
              <a:rPr lang="en-IN" dirty="0"/>
              <a:t>Prominent Evaluation metrics</a:t>
            </a:r>
          </a:p>
          <a:p>
            <a:r>
              <a:rPr lang="en-IN" dirty="0"/>
              <a:t>LLM Capabilities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C170F-2529-C39D-33E1-BF74F9764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63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085D7-1DFB-D672-B017-26A080384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LLM Benchmarks?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F62D4-80DA-8C5A-E88A-173F5AB2A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LLM benchmarks are standardized frameworks for assessing the performance of LLMs.</a:t>
            </a:r>
          </a:p>
          <a:p>
            <a:r>
              <a:rPr lang="en-US" dirty="0"/>
              <a:t>Benchmarks consist of sample data, a set of questions or tasks to test LLMs on specific skills, metrics for evaluating performance and a scoring mechanism.</a:t>
            </a:r>
          </a:p>
          <a:p>
            <a:r>
              <a:rPr lang="en-US" dirty="0"/>
              <a:t>Assess reasoning, knowledge, language understanding, etc.</a:t>
            </a:r>
          </a:p>
          <a:p>
            <a:r>
              <a:rPr lang="en-US" dirty="0"/>
              <a:t>Important for comparing model performance.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7D1C7-A26A-A313-CC71-28AA73926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4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E57B2-BA08-42D4-A03F-3204A2F9D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Need for Benchmarks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74154-BDF4-4D77-B294-C1BE9958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FB2C66B-C841-8A95-8449-BB47F1995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766" y="1097281"/>
            <a:ext cx="10545418" cy="4910434"/>
          </a:xfrm>
        </p:spPr>
        <p:txBody>
          <a:bodyPr>
            <a:normAutofit/>
          </a:bodyPr>
          <a:lstStyle/>
          <a:p>
            <a:r>
              <a:rPr lang="en-IN" sz="2400" dirty="0"/>
              <a:t>To track progress by comparing the performance.</a:t>
            </a:r>
          </a:p>
          <a:p>
            <a:r>
              <a:rPr lang="en-IN" sz="2400" dirty="0"/>
              <a:t>Given two models, </a:t>
            </a:r>
            <a:r>
              <a:rPr lang="en-IN" sz="2400" b="1" dirty="0"/>
              <a:t>model A</a:t>
            </a:r>
            <a:r>
              <a:rPr lang="en-IN" sz="2400" dirty="0"/>
              <a:t> and </a:t>
            </a:r>
            <a:r>
              <a:rPr lang="en-IN" sz="2400" b="1" dirty="0"/>
              <a:t>model B </a:t>
            </a:r>
            <a:r>
              <a:rPr lang="en-IN" sz="2400" dirty="0"/>
              <a:t>, which model is better?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05C4D4-5FB0-8206-2CF4-3FB85A54E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363" y="2428568"/>
            <a:ext cx="9853514" cy="36674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03B41D-92C4-9FC1-FB4D-801FCB7DD535}"/>
              </a:ext>
            </a:extLst>
          </p:cNvPr>
          <p:cNvSpPr txBox="1"/>
          <p:nvPr/>
        </p:nvSpPr>
        <p:spPr>
          <a:xfrm>
            <a:off x="449050" y="6154239"/>
            <a:ext cx="11742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Guo, D., Yang, D., Zhang, H., Song, J., Zhang, R., Xu, R., Zhu, Q., Ma, S., Wang, P., Bi, X. and Zhang, X., 2025. Deepseek-r1: Incentivizing reasoning capability in </a:t>
            </a:r>
            <a:r>
              <a:rPr lang="en-IN" sz="1600" b="1" dirty="0" err="1">
                <a:solidFill>
                  <a:schemeClr val="accent2">
                    <a:lumMod val="75000"/>
                  </a:schemeClr>
                </a:solidFill>
              </a:rPr>
              <a:t>llms</a:t>
            </a:r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 via reinforcement learning. </a:t>
            </a:r>
            <a:r>
              <a:rPr lang="en-IN" sz="1600" b="1" dirty="0" err="1">
                <a:solidFill>
                  <a:schemeClr val="accent2">
                    <a:lumMod val="75000"/>
                  </a:schemeClr>
                </a:solidFill>
              </a:rPr>
              <a:t>arXiv</a:t>
            </a:r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 preprint arXiv:2501.12948.</a:t>
            </a:r>
          </a:p>
        </p:txBody>
      </p:sp>
    </p:spTree>
    <p:extLst>
      <p:ext uri="{BB962C8B-B14F-4D97-AF65-F5344CB8AC3E}">
        <p14:creationId xmlns:p14="http://schemas.microsoft.com/office/powerpoint/2010/main" val="1994969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72914-E90B-37FB-261C-EFF5F6E5B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27558-FADD-E089-45E2-279EB4886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Need for Benchmarks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D10F3-093B-A441-C8F7-B4EE6B701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D6DFC0-305C-570D-C78E-8849F255C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766" y="1097281"/>
            <a:ext cx="10545418" cy="4910434"/>
          </a:xfrm>
        </p:spPr>
        <p:txBody>
          <a:bodyPr>
            <a:normAutofit/>
          </a:bodyPr>
          <a:lstStyle/>
          <a:p>
            <a:r>
              <a:rPr lang="en-IN" sz="2400" dirty="0"/>
              <a:t>To track progress by comparing performance.</a:t>
            </a:r>
          </a:p>
          <a:p>
            <a:r>
              <a:rPr lang="en-IN" sz="2400" dirty="0"/>
              <a:t>Given two models, </a:t>
            </a:r>
            <a:r>
              <a:rPr lang="en-IN" sz="2400" b="1" dirty="0"/>
              <a:t>model A </a:t>
            </a:r>
            <a:r>
              <a:rPr lang="en-IN" sz="2400" dirty="0"/>
              <a:t>and </a:t>
            </a:r>
            <a:r>
              <a:rPr lang="en-IN" sz="2400" b="1" dirty="0"/>
              <a:t>model B</a:t>
            </a:r>
            <a:r>
              <a:rPr lang="en-IN" sz="2400" dirty="0"/>
              <a:t>, which model is better?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8818F5-9C93-7158-ECAE-8CAD28516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987" y="2890685"/>
            <a:ext cx="8780207" cy="32635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85B485-4197-B554-7A72-9674FB67BEDB}"/>
              </a:ext>
            </a:extLst>
          </p:cNvPr>
          <p:cNvSpPr txBox="1"/>
          <p:nvPr/>
        </p:nvSpPr>
        <p:spPr>
          <a:xfrm>
            <a:off x="449050" y="6154239"/>
            <a:ext cx="11742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err="1">
                <a:solidFill>
                  <a:schemeClr val="accent2">
                    <a:lumMod val="75000"/>
                  </a:schemeClr>
                </a:solidFill>
              </a:rPr>
              <a:t>Achiam</a:t>
            </a:r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, J., Adler, S., Agarwal, S., Ahmad, L., Akkaya, I., Aleman, F.L., Almeida, D., </a:t>
            </a:r>
            <a:r>
              <a:rPr lang="en-IN" sz="1600" b="1" dirty="0" err="1">
                <a:solidFill>
                  <a:schemeClr val="accent2">
                    <a:lumMod val="75000"/>
                  </a:schemeClr>
                </a:solidFill>
              </a:rPr>
              <a:t>Altenschmidt</a:t>
            </a:r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, J., Altman, S., Anadkat, S. and Avila, R., 2023. Gpt-4 technical report. </a:t>
            </a:r>
            <a:r>
              <a:rPr lang="en-IN" sz="1600" b="1" dirty="0" err="1">
                <a:solidFill>
                  <a:schemeClr val="accent2">
                    <a:lumMod val="75000"/>
                  </a:schemeClr>
                </a:solidFill>
              </a:rPr>
              <a:t>arXiv</a:t>
            </a:r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 preprint arXiv:2303.08774.</a:t>
            </a:r>
          </a:p>
        </p:txBody>
      </p:sp>
    </p:spTree>
    <p:extLst>
      <p:ext uri="{BB962C8B-B14F-4D97-AF65-F5344CB8AC3E}">
        <p14:creationId xmlns:p14="http://schemas.microsoft.com/office/powerpoint/2010/main" val="97337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ACE18-F638-0B7C-4624-5F452A2B0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Need for Benchmarks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C5807-628D-9672-B2D0-7F230A9EC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Comparison of closed-source LLMs compared to open-weight LLMs?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1A002-8BB4-3258-F964-316D11337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41B7C1-5571-557E-A609-0E43C5FD7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135" y="2035277"/>
            <a:ext cx="8809704" cy="463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542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99B6-DC89-1072-44BA-1DD63D68A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Core Properties of Good LLM Benchmarks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7A317-C32A-A916-3DFE-0205DA3CD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Difficulty : </a:t>
            </a:r>
            <a:r>
              <a:rPr lang="en-US" dirty="0"/>
              <a:t>Are the problems challenging enough to </a:t>
            </a:r>
            <a:r>
              <a:rPr lang="en-US" b="1" dirty="0"/>
              <a:t>distinguish</a:t>
            </a:r>
            <a:r>
              <a:rPr lang="en-US" dirty="0"/>
              <a:t> between capable and not so capable models?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3A0E2-A6DA-ECFC-DD3F-7CB2328C1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AAF757-60F2-7F06-8F60-4C82ED524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946" y="2486305"/>
            <a:ext cx="8966538" cy="35182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4B7C7D-2491-E955-296A-3FE6CD01D689}"/>
              </a:ext>
            </a:extLst>
          </p:cNvPr>
          <p:cNvSpPr txBox="1"/>
          <p:nvPr/>
        </p:nvSpPr>
        <p:spPr>
          <a:xfrm>
            <a:off x="449050" y="6154239"/>
            <a:ext cx="11742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                                                    https://x.com/_jasonwei/status/1889096555254456397</a:t>
            </a:r>
          </a:p>
        </p:txBody>
      </p:sp>
    </p:spTree>
    <p:extLst>
      <p:ext uri="{BB962C8B-B14F-4D97-AF65-F5344CB8AC3E}">
        <p14:creationId xmlns:p14="http://schemas.microsoft.com/office/powerpoint/2010/main" val="673294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8A6CB-74E4-C1AB-BFFE-5B45FDB6E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Core Properties of Good LLM Benchmarks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2AF4E-0A0A-EEDB-4D65-13345B31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Diversity: </a:t>
            </a:r>
            <a:r>
              <a:rPr lang="en-US" dirty="0"/>
              <a:t>Do the problems is diverse  enough  to evaluate the model’s ability to handle a broad range of queries?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6DE86-593D-2D60-DA92-9F17954AB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402A98-1F1B-9BD9-B413-F37688D2B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890" y="2394857"/>
            <a:ext cx="9832258" cy="37776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CD6596-A166-E9DB-2039-0A2CE0AABF88}"/>
              </a:ext>
            </a:extLst>
          </p:cNvPr>
          <p:cNvSpPr txBox="1"/>
          <p:nvPr/>
        </p:nvSpPr>
        <p:spPr>
          <a:xfrm>
            <a:off x="162560" y="6235051"/>
            <a:ext cx="11866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 Ni, J., Xue, F., Yue, X., Deng, Y., Shah, M., Jain, K., Neubig, G. and You, Y., 2024. </a:t>
            </a:r>
            <a:r>
              <a:rPr lang="en-IN" sz="1600" b="1" dirty="0" err="1">
                <a:solidFill>
                  <a:schemeClr val="accent2">
                    <a:lumMod val="75000"/>
                  </a:schemeClr>
                </a:solidFill>
              </a:rPr>
              <a:t>MixEval</a:t>
            </a:r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: Deriving Wisdom of the Crowd from LLM Benchmark Mixtures. </a:t>
            </a:r>
            <a:r>
              <a:rPr lang="en-IN" sz="1600" b="1" dirty="0" err="1">
                <a:solidFill>
                  <a:schemeClr val="accent2">
                    <a:lumMod val="75000"/>
                  </a:schemeClr>
                </a:solidFill>
              </a:rPr>
              <a:t>arXiv</a:t>
            </a:r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 preprint arXiv:2406.06565</a:t>
            </a:r>
          </a:p>
        </p:txBody>
      </p:sp>
    </p:spTree>
    <p:extLst>
      <p:ext uri="{BB962C8B-B14F-4D97-AF65-F5344CB8AC3E}">
        <p14:creationId xmlns:p14="http://schemas.microsoft.com/office/powerpoint/2010/main" val="379299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A2E6A-1D9B-61EB-4B6F-2EEA2DBAB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DD073-ABB2-EAC7-2336-5976731BD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Core Properties of Good LLM Benchmarks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49F79-1C63-D100-E366-AAADD5443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Reproducibility: </a:t>
            </a:r>
            <a:r>
              <a:rPr lang="en-US" sz="2400" dirty="0"/>
              <a:t>Is the model able to consistently achieve similar scores across multiple test runs, </a:t>
            </a:r>
            <a:r>
              <a:rPr lang="en-US" sz="2400" b="1" dirty="0"/>
              <a:t>allowing for fair comparisons between different models</a:t>
            </a:r>
            <a:r>
              <a:rPr lang="en-US" sz="2400" dirty="0"/>
              <a:t>?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916ED-8B78-A0F9-6B90-91B9556E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9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982F82-4CB8-47C5-4459-DA14CA823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379" y="2690552"/>
            <a:ext cx="8106421" cy="34257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17F544-8196-9DD3-841C-23064FD3A696}"/>
              </a:ext>
            </a:extLst>
          </p:cNvPr>
          <p:cNvSpPr txBox="1"/>
          <p:nvPr/>
        </p:nvSpPr>
        <p:spPr>
          <a:xfrm>
            <a:off x="162560" y="6235051"/>
            <a:ext cx="118668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                                  https://huggingface.co/blog/open-llm-leaderboard-mmlu#1001-flavors-of-mmlu</a:t>
            </a:r>
          </a:p>
        </p:txBody>
      </p:sp>
    </p:spTree>
    <p:extLst>
      <p:ext uri="{BB962C8B-B14F-4D97-AF65-F5344CB8AC3E}">
        <p14:creationId xmlns:p14="http://schemas.microsoft.com/office/powerpoint/2010/main" val="371976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3E666-4321-97CC-B324-4BA8A2BA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53613-A7D0-4FC7-57D2-1A9E829E0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Core Properties of Good LLM Benchmarks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508DD-E754-685F-9CC2-7F8D05854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Data Contamination: </a:t>
            </a:r>
            <a:r>
              <a:rPr lang="en-US" dirty="0"/>
              <a:t>LLMs are trained on a vast amount of information during pre-training and a wide range of tasks during post-training.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CFF8E-D8B8-4044-ADFE-23CD47F5E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1F873D-985A-9C1B-D089-BB82F297C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644" y="3032592"/>
            <a:ext cx="7399661" cy="29071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09538D-5F41-8835-BE9B-4595E6E6C7A4}"/>
              </a:ext>
            </a:extLst>
          </p:cNvPr>
          <p:cNvSpPr txBox="1"/>
          <p:nvPr/>
        </p:nvSpPr>
        <p:spPr>
          <a:xfrm>
            <a:off x="0" y="6155140"/>
            <a:ext cx="12029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      Chung, H.W., Hou, L., Longpre, S., </a:t>
            </a:r>
            <a:r>
              <a:rPr lang="en-IN" sz="1600" b="1" dirty="0" err="1">
                <a:solidFill>
                  <a:schemeClr val="accent2">
                    <a:lumMod val="75000"/>
                  </a:schemeClr>
                </a:solidFill>
              </a:rPr>
              <a:t>Zoph</a:t>
            </a:r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, B., Tay, Y., Fedus, W., Li, Y., Wang, X., Dehghani, M., Brahma, S. and </a:t>
            </a:r>
            <a:r>
              <a:rPr lang="en-IN" sz="1600" b="1" dirty="0" err="1">
                <a:solidFill>
                  <a:schemeClr val="accent2">
                    <a:lumMod val="75000"/>
                  </a:schemeClr>
                </a:solidFill>
              </a:rPr>
              <a:t>Webson</a:t>
            </a:r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, A., 2024. Scaling instruction finetuned language models. Journal of Machine Learning Research, 25(70), pp.1-53.</a:t>
            </a:r>
          </a:p>
        </p:txBody>
      </p:sp>
    </p:spTree>
    <p:extLst>
      <p:ext uri="{BB962C8B-B14F-4D97-AF65-F5344CB8AC3E}">
        <p14:creationId xmlns:p14="http://schemas.microsoft.com/office/powerpoint/2010/main" val="349978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EE053-65FE-B816-ACA5-18FFEB9B6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D8208-9C3E-2ACB-0732-16FBAF081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Core Properties of Good LLM Benchmarks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AE596-8E66-DFA7-D639-F52E15628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Data Contamination:</a:t>
            </a:r>
            <a:r>
              <a:rPr lang="en-US" sz="2400" dirty="0"/>
              <a:t>How can we ensure that the evaluation reflects their ability to </a:t>
            </a:r>
            <a:r>
              <a:rPr lang="en-US" sz="2400" b="1" dirty="0">
                <a:solidFill>
                  <a:srgbClr val="FF0000"/>
                </a:solidFill>
              </a:rPr>
              <a:t>generalize to unseen novel tasks </a:t>
            </a:r>
            <a:r>
              <a:rPr lang="en-US" sz="2400" dirty="0"/>
              <a:t>rather than relying on memorization of similar problems encountered during training?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9153D-BFAD-6A67-6F3C-70B187602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481E08-3C3D-5BAB-44B3-F364B9801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29" y="2966721"/>
            <a:ext cx="10440305" cy="29998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7A1620-2453-0ACD-6B64-AACF3BAEBC1B}"/>
              </a:ext>
            </a:extLst>
          </p:cNvPr>
          <p:cNvSpPr txBox="1"/>
          <p:nvPr/>
        </p:nvSpPr>
        <p:spPr>
          <a:xfrm>
            <a:off x="0" y="6155140"/>
            <a:ext cx="12029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 Zhang, H., Da, J., Lee, D., Robinson, V., Wu, C., Song, W., Zhao, T., Raja, P., Slack, D., Lyu, Q. and Hendryx, S., 2024. A careful examination of large language model performance on grade school arithmetic. </a:t>
            </a:r>
            <a:r>
              <a:rPr lang="en-IN" sz="1600" b="1" dirty="0" err="1">
                <a:solidFill>
                  <a:schemeClr val="accent2">
                    <a:lumMod val="75000"/>
                  </a:schemeClr>
                </a:solidFill>
              </a:rPr>
              <a:t>arXiv</a:t>
            </a:r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 preprint arXiv:2405.00332.</a:t>
            </a:r>
          </a:p>
        </p:txBody>
      </p:sp>
    </p:spTree>
    <p:extLst>
      <p:ext uri="{BB962C8B-B14F-4D97-AF65-F5344CB8AC3E}">
        <p14:creationId xmlns:p14="http://schemas.microsoft.com/office/powerpoint/2010/main" val="308509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BE472-A7DC-47A2-0869-54CE41207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Representative LLM datasets across four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B8C00-682D-893C-2599-56296465E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Pre-training corpora</a:t>
            </a:r>
          </a:p>
          <a:p>
            <a:r>
              <a:rPr lang="en-IN" sz="3600" dirty="0"/>
              <a:t>Instruction fine-tuning datasets</a:t>
            </a:r>
          </a:p>
          <a:p>
            <a:r>
              <a:rPr lang="en-IN" sz="3600" dirty="0"/>
              <a:t>Preference datasets</a:t>
            </a:r>
          </a:p>
          <a:p>
            <a:r>
              <a:rPr lang="en-IN" sz="3600" dirty="0"/>
              <a:t>Evaluation datasets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697F9-5EEB-B8F6-9F13-CA1D492C2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59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DD8EA-6966-AB66-7A0E-21584AA64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Pre-training corpora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FA94B-CCDA-25A5-7C1C-10CB486A7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pre-training corpora are large collections of text data used during the pre-training process of LLMs.</a:t>
            </a:r>
          </a:p>
          <a:p>
            <a:r>
              <a:rPr lang="en-US" dirty="0"/>
              <a:t>In the pre-training phase, LLMs learn extensive knowledge from massive amounts of unlabeled text data, which is then stored in its model parameters. </a:t>
            </a:r>
          </a:p>
          <a:p>
            <a:r>
              <a:rPr lang="en-US" dirty="0"/>
              <a:t>It enables LLMs to possess a certain level of language understanding and generation capabilities.</a:t>
            </a:r>
          </a:p>
          <a:p>
            <a:r>
              <a:rPr lang="en-US" dirty="0"/>
              <a:t>Pre-training corpora, can be divided into two types: </a:t>
            </a:r>
            <a:r>
              <a:rPr lang="en-US" b="1" dirty="0"/>
              <a:t>general pre-training corpora </a:t>
            </a:r>
            <a:r>
              <a:rPr lang="en-US" dirty="0"/>
              <a:t>and </a:t>
            </a:r>
            <a:r>
              <a:rPr lang="en-US" b="1" dirty="0"/>
              <a:t>domain-specific pre-training corpora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58102-3006-2E05-6091-BF8863490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2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D0D7F-F025-49FC-39CB-26BC6A4CF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General Pre-training Corpora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99C1381-1F87-1302-CBAF-72B1987AB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178" y="908686"/>
            <a:ext cx="9403453" cy="544891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7AC99-032B-3E14-FB2F-41E39A413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8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44E57-7E4A-77AD-65B7-FF857540B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C997-6BC0-B05B-FC85-6F56E7CAB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General Pre-training Corpora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3F429-0EE5-4DC7-EC67-94373E71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15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DB5B626-D6E6-280C-29DE-30D2620842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588" y="1946787"/>
            <a:ext cx="10087896" cy="4709652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6734B2-D07B-4AE8-8002-4738FED4EDF2}"/>
              </a:ext>
            </a:extLst>
          </p:cNvPr>
          <p:cNvSpPr txBox="1"/>
          <p:nvPr/>
        </p:nvSpPr>
        <p:spPr>
          <a:xfrm>
            <a:off x="324464" y="1012237"/>
            <a:ext cx="115430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Summary of General Pre-training Corpora Information </a:t>
            </a:r>
            <a:r>
              <a:rPr lang="en-IN" sz="1600" b="1" dirty="0" err="1">
                <a:solidFill>
                  <a:schemeClr val="accent1"/>
                </a:solidFill>
              </a:rPr>
              <a:t>PartI</a:t>
            </a:r>
            <a:r>
              <a:rPr lang="en-IN" sz="1600" b="1" dirty="0">
                <a:solidFill>
                  <a:schemeClr val="accent1"/>
                </a:solidFill>
              </a:rPr>
              <a:t>. Release Time:“</a:t>
            </a:r>
            <a:r>
              <a:rPr lang="en-IN" sz="1600" b="1" dirty="0" err="1">
                <a:solidFill>
                  <a:schemeClr val="accent1"/>
                </a:solidFill>
              </a:rPr>
              <a:t>X”indicates</a:t>
            </a:r>
            <a:r>
              <a:rPr lang="en-IN" sz="1600" b="1" dirty="0">
                <a:solidFill>
                  <a:schemeClr val="accent1"/>
                </a:solidFill>
              </a:rPr>
              <a:t> unknown month. Public or </a:t>
            </a:r>
            <a:r>
              <a:rPr lang="en-IN" sz="1600" b="1" dirty="0" err="1">
                <a:solidFill>
                  <a:schemeClr val="accent1"/>
                </a:solidFill>
              </a:rPr>
              <a:t>Not:“All</a:t>
            </a:r>
            <a:r>
              <a:rPr lang="en-IN" sz="1600" b="1" dirty="0">
                <a:solidFill>
                  <a:schemeClr val="accent1"/>
                </a:solidFill>
              </a:rPr>
              <a:t>” Indicates full opensource; “Partial” indicates partially opensource; “Not” indicates not open </a:t>
            </a:r>
            <a:r>
              <a:rPr lang="en-IN" sz="1600" b="1" dirty="0" err="1">
                <a:solidFill>
                  <a:schemeClr val="accent1"/>
                </a:solidFill>
              </a:rPr>
              <a:t>source.“License</a:t>
            </a:r>
            <a:r>
              <a:rPr lang="en-IN" sz="1600" b="1" dirty="0">
                <a:solidFill>
                  <a:schemeClr val="accent1"/>
                </a:solidFill>
              </a:rPr>
              <a:t>” indicates the corpus follows a certain protocol.</a:t>
            </a:r>
          </a:p>
        </p:txBody>
      </p:sp>
    </p:spTree>
    <p:extLst>
      <p:ext uri="{BB962C8B-B14F-4D97-AF65-F5344CB8AC3E}">
        <p14:creationId xmlns:p14="http://schemas.microsoft.com/office/powerpoint/2010/main" val="4203794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58469-85B6-DA7B-067A-D7765614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1B02D-1C98-0E52-4B33-055235E30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Domain Specific Pre-training Corpora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400B4-0398-3747-5D87-8D42AB59C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55CC7A-9504-018B-ECC5-E38424E59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715" y="1940072"/>
            <a:ext cx="6351639" cy="42201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69280A-5406-AC87-BFE4-64E71918A44C}"/>
              </a:ext>
            </a:extLst>
          </p:cNvPr>
          <p:cNvSpPr txBox="1"/>
          <p:nvPr/>
        </p:nvSpPr>
        <p:spPr>
          <a:xfrm>
            <a:off x="924232" y="1101213"/>
            <a:ext cx="90585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/>
                </a:solidFill>
              </a:rPr>
              <a:t>Domain-specific pre-training corpora tailored for specific fields or topics.</a:t>
            </a:r>
            <a:endParaRPr lang="en-IN" sz="2400" b="1" dirty="0">
              <a:solidFill>
                <a:schemeClr val="accent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0629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12FD4-C0FC-C3B4-9CC3-C259A3150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Domain Specific Pre-training Corpora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A2C86-AC41-3742-2CD9-DCA0B522C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Financial Domain: BBT-</a:t>
            </a:r>
            <a:r>
              <a:rPr lang="en-IN" dirty="0" err="1"/>
              <a:t>FinCorpus</a:t>
            </a:r>
            <a:r>
              <a:rPr lang="en-IN" dirty="0"/>
              <a:t>, </a:t>
            </a:r>
            <a:r>
              <a:rPr lang="en-IN" dirty="0" err="1"/>
              <a:t>FinCorpus</a:t>
            </a:r>
            <a:r>
              <a:rPr lang="en-IN" dirty="0"/>
              <a:t>, Fin-GLM, Tiger-Bot Research</a:t>
            </a:r>
          </a:p>
          <a:p>
            <a:r>
              <a:rPr lang="en-IN" dirty="0"/>
              <a:t>Medical Domain: Medical-pt, Pub-med central</a:t>
            </a:r>
          </a:p>
          <a:p>
            <a:r>
              <a:rPr lang="en-IN" dirty="0"/>
              <a:t>Legal Domain: Tiger-Bot Law</a:t>
            </a:r>
          </a:p>
          <a:p>
            <a:r>
              <a:rPr lang="en-IN" dirty="0"/>
              <a:t>Transportation Domain: </a:t>
            </a:r>
            <a:r>
              <a:rPr lang="en-IN" dirty="0" err="1"/>
              <a:t>TransGPT</a:t>
            </a:r>
            <a:endParaRPr lang="en-IN" dirty="0"/>
          </a:p>
          <a:p>
            <a:r>
              <a:rPr lang="en-IN" dirty="0"/>
              <a:t>Mathematics Domain: Proof-Pile-2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A7F5E-7750-591B-D623-7D0A15452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66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ED550-3613-C010-E0D5-CC57A24EE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6E1AB-6D33-54B4-D4F2-44D92A689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Domain Specific Pre-training Corpora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FAA54-0DCA-DA83-FEAC-F06AF1056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18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D8E620-63F3-6022-A811-BF16923474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818" y="1212293"/>
            <a:ext cx="8468737" cy="3959476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B7E845-91F3-A487-F56A-135EA2ADC559}"/>
              </a:ext>
            </a:extLst>
          </p:cNvPr>
          <p:cNvSpPr txBox="1"/>
          <p:nvPr/>
        </p:nvSpPr>
        <p:spPr>
          <a:xfrm>
            <a:off x="1002890" y="5245598"/>
            <a:ext cx="10864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Summary of Domain-specific Pre-training Corpora Information. Public or </a:t>
            </a:r>
            <a:r>
              <a:rPr lang="en-IN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Not:“All</a:t>
            </a:r>
            <a:r>
              <a:rPr lang="en-I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” indicates full open source; “Partial” indicates partially open source. “License” indicates the corpus follows a certain protocol.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8698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8A7E2-9CC6-CA34-6BA6-EEE17A410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AE5E1-6D9A-8323-D028-166067B00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8" y="-167148"/>
            <a:ext cx="11337234" cy="953729"/>
          </a:xfrm>
        </p:spPr>
        <p:txBody>
          <a:bodyPr>
            <a:noAutofit/>
          </a:bodyPr>
          <a:lstStyle/>
          <a:p>
            <a:r>
              <a:rPr lang="en-IN" sz="3200" dirty="0"/>
              <a:t>Instruction Fine-tuning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64261-BFDA-7C0C-0205-564FB522A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 The instruction fine-tuning datasets consists of a series of text pairs comprising “</a:t>
            </a:r>
            <a:r>
              <a:rPr lang="en-US" b="1" dirty="0"/>
              <a:t>instruction inputs</a:t>
            </a:r>
            <a:r>
              <a:rPr lang="en-US" dirty="0"/>
              <a:t>” and “</a:t>
            </a:r>
            <a:r>
              <a:rPr lang="en-US" b="1" dirty="0"/>
              <a:t>answer outputs.</a:t>
            </a:r>
            <a:r>
              <a:rPr lang="en-US" dirty="0"/>
              <a:t>” </a:t>
            </a:r>
          </a:p>
          <a:p>
            <a:r>
              <a:rPr lang="en-US" dirty="0"/>
              <a:t>“Instruction inputs” represent requests made by humans to the model, encompassing various types such as classification, summarization, paraphrasing, and more. </a:t>
            </a:r>
          </a:p>
          <a:p>
            <a:r>
              <a:rPr lang="en-US" dirty="0"/>
              <a:t>“Answer outputs” are the responses generated by the model following the instruction, aligning with human expectations.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10095-3AC6-F16B-7715-FE559CE49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9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36C42-CD78-9DC0-182C-E7A96E29D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F3253-8EE1-BE29-AE56-C1205B72F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8" y="-167148"/>
            <a:ext cx="11337234" cy="953729"/>
          </a:xfrm>
        </p:spPr>
        <p:txBody>
          <a:bodyPr>
            <a:noAutofit/>
          </a:bodyPr>
          <a:lstStyle/>
          <a:p>
            <a:r>
              <a:rPr lang="en-IN" sz="3200" dirty="0"/>
              <a:t>Instruction Fine-tuning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C53B0-72CB-79A1-8857-557959BAF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 Four ways to construct the instruction fine-tuning datasets: </a:t>
            </a:r>
          </a:p>
          <a:p>
            <a:r>
              <a:rPr lang="en-US" dirty="0"/>
              <a:t>manual creation</a:t>
            </a:r>
          </a:p>
          <a:p>
            <a:r>
              <a:rPr lang="en-US" dirty="0"/>
              <a:t>model generation, for example, using the Self-Instruct method (Wang et al, 2023f)</a:t>
            </a:r>
          </a:p>
          <a:p>
            <a:r>
              <a:rPr lang="en-US" dirty="0"/>
              <a:t>collection and improvement of existing open-source datasets</a:t>
            </a:r>
          </a:p>
          <a:p>
            <a:r>
              <a:rPr lang="en-US" dirty="0"/>
              <a:t>a combination of the above aforementioned methods.</a:t>
            </a:r>
          </a:p>
          <a:p>
            <a:pPr marL="0" indent="0">
              <a:buNone/>
            </a:pPr>
            <a:r>
              <a:rPr lang="en-US" dirty="0"/>
              <a:t>The instruction fine-tuning datasets can be divided into two main categories: </a:t>
            </a:r>
            <a:r>
              <a:rPr lang="en-US" b="1" dirty="0"/>
              <a:t>general instruction fine-tuning datasets </a:t>
            </a:r>
            <a:r>
              <a:rPr lang="en-US" dirty="0"/>
              <a:t>and </a:t>
            </a:r>
            <a:r>
              <a:rPr lang="en-US" b="1" dirty="0"/>
              <a:t>domain-specific instruction fine-tuning datasets</a:t>
            </a:r>
            <a:r>
              <a:rPr lang="en-US" dirty="0"/>
              <a:t>.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B0590-E719-2B51-C31D-5CEF7EAD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4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FD8FE-4D5A-37DC-2A22-FE393CC47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54CB2-CA51-C377-5CFF-4A3F917B7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8" y="-167148"/>
            <a:ext cx="11337234" cy="953729"/>
          </a:xfrm>
        </p:spPr>
        <p:txBody>
          <a:bodyPr>
            <a:noAutofit/>
          </a:bodyPr>
          <a:lstStyle/>
          <a:p>
            <a:r>
              <a:rPr lang="en-IN" sz="3200" dirty="0"/>
              <a:t>Summary of Instruction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0C9B1-45A5-6933-3D0E-CE9816DE7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CF690-9988-1D23-885F-8F0B35FEB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2FB5C5-B8BA-B13E-BFAA-A50B570A3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20" y="1104698"/>
            <a:ext cx="8564880" cy="517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12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E8B4D-D169-587A-2C9D-D30BC349C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41A0B-88BD-F814-A6D9-5B57BF06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8" y="-167148"/>
            <a:ext cx="11337234" cy="953729"/>
          </a:xfrm>
        </p:spPr>
        <p:txBody>
          <a:bodyPr>
            <a:noAutofit/>
          </a:bodyPr>
          <a:lstStyle/>
          <a:p>
            <a:r>
              <a:rPr lang="en-IN" sz="3200" dirty="0"/>
              <a:t>Summary of Instruction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27BA9-EA45-158C-298B-52A9E871C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C1CC8-4D5F-23BF-AA05-C8632CD72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041B5-C2D9-44F8-F1E2-7A7D79E4D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360" y="1717039"/>
            <a:ext cx="8433159" cy="404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4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DF162-8DFC-03D7-0F21-710B12AE6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FBE3E-AF8F-9DF9-828E-FD349FDFE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8" y="-167148"/>
            <a:ext cx="11337234" cy="953729"/>
          </a:xfrm>
        </p:spPr>
        <p:txBody>
          <a:bodyPr>
            <a:noAutofit/>
          </a:bodyPr>
          <a:lstStyle/>
          <a:p>
            <a:r>
              <a:rPr lang="en-IN" sz="3200" dirty="0"/>
              <a:t>General Instruction Fine-tuning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56941-AD6B-37D8-42B5-8E58D74B8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65A75-8AA9-1617-EF02-FC2A61F65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E7BA2B-25D5-25C9-1CB7-1BF8D8637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500" y="1344749"/>
            <a:ext cx="9220999" cy="493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86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B0F21-1DDD-48DA-8A00-236A19334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1D687-CF25-BE6A-D77E-03D3647AC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8" y="-167148"/>
            <a:ext cx="11337234" cy="953729"/>
          </a:xfrm>
        </p:spPr>
        <p:txBody>
          <a:bodyPr>
            <a:noAutofit/>
          </a:bodyPr>
          <a:lstStyle/>
          <a:p>
            <a:r>
              <a:rPr lang="en-IN" sz="3200" dirty="0"/>
              <a:t>Domain-Specific Instruction Fine-tuning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C54C2-ED12-7DA3-F191-AE0508757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717CA-0A03-0B9E-411C-92C09300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6F8E03-5919-A04F-C665-AB5349577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16" y="1028154"/>
            <a:ext cx="4745385" cy="53192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604344-BACE-5463-A668-4C15C07F8F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440" y="2103004"/>
            <a:ext cx="6063510" cy="299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12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6259D-5DD6-54FD-422F-50E45162A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3032A-24B9-9B6C-8BB1-6EFFA3534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8" y="-167148"/>
            <a:ext cx="11337234" cy="953729"/>
          </a:xfrm>
        </p:spPr>
        <p:txBody>
          <a:bodyPr>
            <a:noAutofit/>
          </a:bodyPr>
          <a:lstStyle/>
          <a:p>
            <a:r>
              <a:rPr lang="en-IN" sz="3200" dirty="0"/>
              <a:t>Domain-Specific Instruction Fine-tuning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6A8E4-89A7-95E2-3D5F-45CD86184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52DB7-C7F4-93FE-C80E-9EAECCC08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3D6165-9198-AC0C-F564-AB9C79EF1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16" y="1028154"/>
            <a:ext cx="4745385" cy="53192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1FE2D9-7D7E-92FE-AB07-E17E83DCB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440" y="2103004"/>
            <a:ext cx="6063510" cy="299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173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42096-6660-104E-FE18-6CF3B6A28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Preference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20CD7-D414-3D28-0E28-37DCF0B5D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Preference datasets are collections of instructions that provide preference evaluations for multiple responses to the same instruction input. </a:t>
            </a:r>
          </a:p>
          <a:p>
            <a:r>
              <a:rPr lang="en-US" dirty="0"/>
              <a:t>They consist of pairs of instructions with different responses, along with feedback from humans or other models.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B4F75-809A-D34E-C03F-4655D0BC9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528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20F98-1BBB-0785-D19A-F80E64802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08E47-F4FC-AAA7-37E6-6C11EE843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Preference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6E089-B323-5DAE-3902-0B9F2EF1A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Preference datasets are primarily utilized during the </a:t>
            </a:r>
            <a:r>
              <a:rPr lang="en-IN" b="1" dirty="0"/>
              <a:t>alignment phase</a:t>
            </a:r>
            <a:r>
              <a:rPr lang="en-IN" dirty="0"/>
              <a:t> of </a:t>
            </a:r>
            <a:r>
              <a:rPr lang="en-IN"/>
              <a:t>large language </a:t>
            </a:r>
            <a:r>
              <a:rPr lang="en-IN" dirty="0"/>
              <a:t>models.</a:t>
            </a:r>
          </a:p>
          <a:p>
            <a:r>
              <a:rPr lang="en-IN" dirty="0"/>
              <a:t> To assist in aligning the model’s outputs more closely with human preferences and expectations.</a:t>
            </a:r>
          </a:p>
          <a:p>
            <a:r>
              <a:rPr lang="en-IN" dirty="0"/>
              <a:t>The alignment with human preferences  is manifested in three main aspects: </a:t>
            </a:r>
            <a:r>
              <a:rPr lang="en-IN" b="1" dirty="0"/>
              <a:t>utility </a:t>
            </a:r>
            <a:r>
              <a:rPr lang="en-IN" dirty="0"/>
              <a:t>(possessing the ability to follow instructions) , </a:t>
            </a:r>
            <a:r>
              <a:rPr lang="en-IN" b="1" dirty="0"/>
              <a:t>honesty</a:t>
            </a:r>
            <a:r>
              <a:rPr lang="en-IN" dirty="0"/>
              <a:t> (avoiding fabrications) and </a:t>
            </a:r>
            <a:r>
              <a:rPr lang="en-IN" b="1" dirty="0"/>
              <a:t>safety</a:t>
            </a:r>
            <a:r>
              <a:rPr lang="en-IN" dirty="0"/>
              <a:t>, (refraining from generating illegal or harmful information) (Zhaoetal,2023).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49501-E915-C00A-B508-607E21F37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723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03255-B860-B810-9124-C31C8AD55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0AD3E-B9E8-714C-1406-F11840982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Preference Datasets : 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1F43D-2303-0BBE-F768-A7A5A12FB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Prompt:</a:t>
            </a:r>
            <a:r>
              <a:rPr lang="en-US" dirty="0"/>
              <a:t> "Explain quantum computing in simple terms."</a:t>
            </a:r>
          </a:p>
          <a:p>
            <a:r>
              <a:rPr lang="en-US" dirty="0"/>
              <a:t>✅ </a:t>
            </a:r>
            <a:r>
              <a:rPr lang="en-US" b="1" dirty="0"/>
              <a:t>Response A (Chosen): </a:t>
            </a:r>
            <a:r>
              <a:rPr lang="en-US" dirty="0"/>
              <a:t>Quantum computing uses qubits that can be both 0 and 1 at the same time, enabling powerful computations.</a:t>
            </a:r>
          </a:p>
          <a:p>
            <a:r>
              <a:rPr lang="en-US" dirty="0"/>
              <a:t>❌ </a:t>
            </a:r>
            <a:r>
              <a:rPr lang="en-US" b="1" dirty="0"/>
              <a:t>Response B (Rejected): </a:t>
            </a:r>
            <a:r>
              <a:rPr lang="en-US" dirty="0"/>
              <a:t>Quantum computing is about very fast computers.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B4727-66D8-74C7-C632-45B91F6F6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7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95C9F-6C83-83C2-65AD-6A8F31C99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Preference Datasets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C54A98B-9E93-D2CB-57C6-49A736B190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367" y="1778000"/>
            <a:ext cx="9838273" cy="45796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DB8A2-52EC-D940-77A9-4D6C1168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2AF5FF-44F7-0216-E781-C7F63D51C187}"/>
              </a:ext>
            </a:extLst>
          </p:cNvPr>
          <p:cNvSpPr txBox="1"/>
          <p:nvPr/>
        </p:nvSpPr>
        <p:spPr>
          <a:xfrm>
            <a:off x="975360" y="1239520"/>
            <a:ext cx="9733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Different preference datasets corresponding to various preference evaluation methods</a:t>
            </a:r>
          </a:p>
        </p:txBody>
      </p:sp>
    </p:spTree>
    <p:extLst>
      <p:ext uri="{BB962C8B-B14F-4D97-AF65-F5344CB8AC3E}">
        <p14:creationId xmlns:p14="http://schemas.microsoft.com/office/powerpoint/2010/main" val="23898159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958D9-3187-44F0-1CD9-8045E16AC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7A3A6-1005-1DE4-D1A0-16EDD0948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8" y="-167148"/>
            <a:ext cx="11337234" cy="953729"/>
          </a:xfrm>
        </p:spPr>
        <p:txBody>
          <a:bodyPr>
            <a:noAutofit/>
          </a:bodyPr>
          <a:lstStyle/>
          <a:p>
            <a:r>
              <a:rPr lang="en-IN" sz="3200" dirty="0"/>
              <a:t>Preference Evaluation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27458-90A6-81DA-E6BA-1FEF5B5F8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0E2EC-AD09-DBF1-C895-97EF11239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A61C62-39AC-9991-3EB3-05F221A07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640" y="1355843"/>
            <a:ext cx="8910319" cy="492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708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D3052-EE2A-1791-FE38-E436EAAE9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2AD0F-B176-C9C2-CE96-26289A836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Evaluation datasets are a carefully curated and annotated set of data samples used to assess the performance of LLMs across various tasks. </a:t>
            </a:r>
          </a:p>
          <a:p>
            <a:r>
              <a:rPr lang="en-US" dirty="0"/>
              <a:t>Different evaluation datasets focus on different evaluation aspects, providing an objective measure of different models.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B31D4-6571-2DBA-5A8E-2AFA08C14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85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2477C-0A44-17A0-5FBD-A4A2FB52A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59F41-5F03-F22E-94AA-F9029F0A3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Evaluation categories of Evaluation Datasets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FFD079-7DF2-59D0-87ED-084164AC3F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456" y="1422399"/>
            <a:ext cx="8497925" cy="416232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CCF20-D4BB-A61F-F680-ECA03B75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4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ECCEC-EDC2-7CB7-84D4-902C0F6CA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Methods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8166B3-10A9-05D7-D0CE-84621A6901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353" y="1412240"/>
            <a:ext cx="8855207" cy="484107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59FEF-9C2B-773F-8D1D-F0937EF8D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298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F49F6-03F1-E450-37A8-7E7CED656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580AA-042C-045D-F1BD-F8EE4AD5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Prominent 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57AD1-6342-3428-AEE7-F1BF478CE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F1 score</a:t>
            </a:r>
          </a:p>
          <a:p>
            <a:r>
              <a:rPr lang="en-IN" dirty="0"/>
              <a:t>BLEU (</a:t>
            </a:r>
            <a:r>
              <a:rPr lang="en-IN" dirty="0" err="1"/>
              <a:t>Papineni</a:t>
            </a:r>
            <a:r>
              <a:rPr lang="en-IN" dirty="0"/>
              <a:t> et al, 2002)</a:t>
            </a:r>
          </a:p>
          <a:p>
            <a:r>
              <a:rPr lang="en-IN" dirty="0"/>
              <a:t>ROUGE (Lin, 2004) </a:t>
            </a:r>
          </a:p>
          <a:p>
            <a:r>
              <a:rPr lang="en-IN" dirty="0" err="1"/>
              <a:t>BertScore</a:t>
            </a:r>
            <a:endParaRPr lang="en-IN" dirty="0"/>
          </a:p>
          <a:p>
            <a:r>
              <a:rPr lang="en-IN" dirty="0"/>
              <a:t>Pearson correlation coefficient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875AE-EA25-2F0F-692C-5E3C008B3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150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5EADF-4D7D-6CA1-0BE3-34C9F5976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7CA60-D364-4FEC-EFF8-D46BF99C7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ROUGE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B94EC-F327-C47C-4C9C-F16C1875A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Count the word overlap between the prediction and reference answer.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2DA29-51AF-DB8D-5E08-AE2F423AD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A077A8-9672-A138-56AD-75060F57D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765" y="2661921"/>
            <a:ext cx="9843715" cy="3098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AEE3DD-2329-475A-1711-E4189BE0529C}"/>
              </a:ext>
            </a:extLst>
          </p:cNvPr>
          <p:cNvSpPr txBox="1"/>
          <p:nvPr/>
        </p:nvSpPr>
        <p:spPr>
          <a:xfrm>
            <a:off x="1117600" y="6035040"/>
            <a:ext cx="10099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Lin, C.Y., 2004, July. Rouge: A package for automatic evaluation of summaries. In Text summarization branches out (pp. 74-81)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5407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2CEF8-EABE-ED85-9BC5-286A90805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9B0D5-472B-F2A2-3DF4-67D741006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BertScore</a:t>
            </a:r>
            <a:r>
              <a:rPr lang="en-IN" dirty="0"/>
              <a:t>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74DC5-7DFF-CA01-963C-4E7C81F4A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 the embedding similarity between the prediction &amp; reference answer.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D2227-D524-21E3-70F5-00B8848EA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E98627-B85F-C3DB-ECE4-2CFA0D49C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043" y="2339801"/>
            <a:ext cx="9575914" cy="36952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4DCB82-149C-08C1-1B2E-AD0D303DC13F}"/>
              </a:ext>
            </a:extLst>
          </p:cNvPr>
          <p:cNvSpPr txBox="1"/>
          <p:nvPr/>
        </p:nvSpPr>
        <p:spPr>
          <a:xfrm>
            <a:off x="1117600" y="6035040"/>
            <a:ext cx="10099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Zhang, T., Kishore, V., Wu, F., Weinberger, K.Q. and Artzi, Y.,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BERTScore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: Evaluating Text Generation with BERT. In International Conference on Learning Representations.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4816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E40D1-57DE-3DB5-5ABF-6535B57C2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2D071-8B9A-FA57-57AD-E69A58AD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Knowledge and Language Understanding</a:t>
            </a:r>
          </a:p>
          <a:p>
            <a:r>
              <a:rPr lang="en-IN" dirty="0"/>
              <a:t>Reasoning Capabilities</a:t>
            </a:r>
          </a:p>
          <a:p>
            <a:r>
              <a:rPr lang="en-IN" dirty="0"/>
              <a:t>Multi-turn Open Ended Conversations</a:t>
            </a:r>
          </a:p>
          <a:p>
            <a:r>
              <a:rPr lang="en-IN" dirty="0"/>
              <a:t>Grounding and Abstractive summarization</a:t>
            </a:r>
          </a:p>
          <a:p>
            <a:r>
              <a:rPr lang="en-IN" dirty="0"/>
              <a:t>Content moderation and Narrative control</a:t>
            </a:r>
          </a:p>
          <a:p>
            <a:r>
              <a:rPr lang="en-IN" dirty="0"/>
              <a:t>Coding Capabilities</a:t>
            </a:r>
          </a:p>
          <a:p>
            <a:r>
              <a:rPr lang="en-IN" dirty="0"/>
              <a:t>LLM-Assisted evaluation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DA4A1-5511-1173-327A-758D7675F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2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D0D0D-0F85-0466-4995-427F09208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0AEE6-A8E3-0009-47AC-C44D53F4C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8" y="-167148"/>
            <a:ext cx="11337234" cy="953729"/>
          </a:xfrm>
        </p:spPr>
        <p:txBody>
          <a:bodyPr>
            <a:noAutofit/>
          </a:bodyPr>
          <a:lstStyle/>
          <a:p>
            <a:r>
              <a:rPr lang="en-IN" sz="3200" dirty="0"/>
              <a:t>Benchmarks for Knowledge and Language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029A9-6009-A4FF-8F61-D5D91FB54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85B1F-FEBF-D465-1FC7-B6A482BF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38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24D87FB-4E48-D844-0643-40206EA15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224646"/>
              </p:ext>
            </p:extLst>
          </p:nvPr>
        </p:nvGraphicFramePr>
        <p:xfrm>
          <a:off x="1266592" y="1009970"/>
          <a:ext cx="9596283" cy="557803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24499">
                  <a:extLst>
                    <a:ext uri="{9D8B030D-6E8A-4147-A177-3AD203B41FA5}">
                      <a16:colId xmlns:a16="http://schemas.microsoft.com/office/drawing/2014/main" val="3262405039"/>
                    </a:ext>
                  </a:extLst>
                </a:gridCol>
                <a:gridCol w="1917946">
                  <a:extLst>
                    <a:ext uri="{9D8B030D-6E8A-4147-A177-3AD203B41FA5}">
                      <a16:colId xmlns:a16="http://schemas.microsoft.com/office/drawing/2014/main" val="3157964866"/>
                    </a:ext>
                  </a:extLst>
                </a:gridCol>
                <a:gridCol w="1917946">
                  <a:extLst>
                    <a:ext uri="{9D8B030D-6E8A-4147-A177-3AD203B41FA5}">
                      <a16:colId xmlns:a16="http://schemas.microsoft.com/office/drawing/2014/main" val="3578422472"/>
                    </a:ext>
                  </a:extLst>
                </a:gridCol>
                <a:gridCol w="1917946">
                  <a:extLst>
                    <a:ext uri="{9D8B030D-6E8A-4147-A177-3AD203B41FA5}">
                      <a16:colId xmlns:a16="http://schemas.microsoft.com/office/drawing/2014/main" val="446322061"/>
                    </a:ext>
                  </a:extLst>
                </a:gridCol>
                <a:gridCol w="1917946">
                  <a:extLst>
                    <a:ext uri="{9D8B030D-6E8A-4147-A177-3AD203B41FA5}">
                      <a16:colId xmlns:a16="http://schemas.microsoft.com/office/drawing/2014/main" val="1297772579"/>
                    </a:ext>
                  </a:extLst>
                </a:gridCol>
              </a:tblGrid>
              <a:tr h="457390">
                <a:tc>
                  <a:txBody>
                    <a:bodyPr/>
                    <a:lstStyle/>
                    <a:p>
                      <a:r>
                        <a:rPr lang="en-IN" dirty="0"/>
                        <a:t>Benchmarks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088726"/>
                  </a:ext>
                </a:extLst>
              </a:tr>
              <a:tr h="2361790">
                <a:tc>
                  <a:txBody>
                    <a:bodyPr/>
                    <a:lstStyle/>
                    <a:p>
                      <a:r>
                        <a:rPr lang="en-IN" dirty="0"/>
                        <a:t>Massive Multitask Language Understanding</a:t>
                      </a:r>
                    </a:p>
                    <a:p>
                      <a:r>
                        <a:rPr lang="en-IN" dirty="0"/>
                        <a:t>(MMLU)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Measures general knowledge across 57 different subjects, ranging from STEM to social sciences.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assess the LLM's understanding and reasoning in a wide range of subject areas.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Ideal for multifaceted AI systems that require extensive world knowledge and problem-solving ability.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https://arxiv.org/abs/2009.03300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646715"/>
                  </a:ext>
                </a:extLst>
              </a:tr>
              <a:tr h="2361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AI2 Reasoning Challenge (ARC)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Tests LLMs on grade-school science questions, requiring both deep general knowledge and reasoning abilities.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evaluate the ability to answer complex science questions that require logical reasoning.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Useful for educational AI applications, automated tutoring systems, and general knowledge assessments.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https://arxiv.org/abs/1803.05457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719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40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74F60-0447-EC87-2E74-8FC5C5264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7829A-273C-5757-A00E-030774DB2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8" y="-167148"/>
            <a:ext cx="11337234" cy="953729"/>
          </a:xfrm>
        </p:spPr>
        <p:txBody>
          <a:bodyPr>
            <a:noAutofit/>
          </a:bodyPr>
          <a:lstStyle/>
          <a:p>
            <a:r>
              <a:rPr lang="en-IN" sz="3200" dirty="0"/>
              <a:t>Benchmarks for Knowledge and Language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0A6DC-FAE5-1C30-32BE-06B1D48BC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1BF42-DFA8-EB9F-196A-81EB4F062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39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B1A806-18BF-11F1-340E-3A77A53C8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574929"/>
              </p:ext>
            </p:extLst>
          </p:nvPr>
        </p:nvGraphicFramePr>
        <p:xfrm>
          <a:off x="1266592" y="1009970"/>
          <a:ext cx="9596283" cy="530132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24499">
                  <a:extLst>
                    <a:ext uri="{9D8B030D-6E8A-4147-A177-3AD203B41FA5}">
                      <a16:colId xmlns:a16="http://schemas.microsoft.com/office/drawing/2014/main" val="3262405039"/>
                    </a:ext>
                  </a:extLst>
                </a:gridCol>
                <a:gridCol w="1917946">
                  <a:extLst>
                    <a:ext uri="{9D8B030D-6E8A-4147-A177-3AD203B41FA5}">
                      <a16:colId xmlns:a16="http://schemas.microsoft.com/office/drawing/2014/main" val="3157964866"/>
                    </a:ext>
                  </a:extLst>
                </a:gridCol>
                <a:gridCol w="1917946">
                  <a:extLst>
                    <a:ext uri="{9D8B030D-6E8A-4147-A177-3AD203B41FA5}">
                      <a16:colId xmlns:a16="http://schemas.microsoft.com/office/drawing/2014/main" val="3578422472"/>
                    </a:ext>
                  </a:extLst>
                </a:gridCol>
                <a:gridCol w="1917946">
                  <a:extLst>
                    <a:ext uri="{9D8B030D-6E8A-4147-A177-3AD203B41FA5}">
                      <a16:colId xmlns:a16="http://schemas.microsoft.com/office/drawing/2014/main" val="446322061"/>
                    </a:ext>
                  </a:extLst>
                </a:gridCol>
                <a:gridCol w="1917946">
                  <a:extLst>
                    <a:ext uri="{9D8B030D-6E8A-4147-A177-3AD203B41FA5}">
                      <a16:colId xmlns:a16="http://schemas.microsoft.com/office/drawing/2014/main" val="1297772579"/>
                    </a:ext>
                  </a:extLst>
                </a:gridCol>
              </a:tblGrid>
              <a:tr h="332712">
                <a:tc>
                  <a:txBody>
                    <a:bodyPr/>
                    <a:lstStyle/>
                    <a:p>
                      <a:r>
                        <a:rPr lang="en-IN" dirty="0"/>
                        <a:t>Benchmarks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088726"/>
                  </a:ext>
                </a:extLst>
              </a:tr>
              <a:tr h="21260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General Language Understanding Evaluation (GLUE)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collection of various language tasks from multiple datasets, designed to measure overall language understanding.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provide a comprehensive assessment of language understanding abilities in different contexts.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Crucial for applications requiring advanced language processing, such as chatbots and content analysis.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https://arxiv.org/abs/1804.07461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646715"/>
                  </a:ext>
                </a:extLst>
              </a:tr>
              <a:tr h="28094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LAnguage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Modelling Broadened to Account for Discourse Aspects (LAMBADA)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collection of passages testing the ability of language models to understand and predict text based on long-range context.</a:t>
                      </a:r>
                    </a:p>
                    <a:p>
                      <a:br>
                        <a:rPr lang="en-US" sz="1600" dirty="0"/>
                      </a:b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assess the models' comprehension of narratives and their predictive abilities in text generation.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Important for AI applications in narrative analysis, content creation, and long-form text understanding.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https://arxiv.org/abs/1606.06031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719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87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613B8-0EF8-EC31-8DE5-9B820889C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F60C-BFAB-020B-1E42-F97418E3E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8" y="-167148"/>
            <a:ext cx="11337234" cy="953729"/>
          </a:xfrm>
        </p:spPr>
        <p:txBody>
          <a:bodyPr>
            <a:noAutofit/>
          </a:bodyPr>
          <a:lstStyle/>
          <a:p>
            <a:r>
              <a:rPr lang="en-IN" sz="3200" dirty="0"/>
              <a:t>Benchmarks for Knowledge and Language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B45E8-DBD8-7CEA-1D07-A5659922D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DAEB4-0AFE-F250-46BD-FB14F8545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40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210C8A9-B6C5-AD40-1E84-0A9F05A189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466225"/>
              </p:ext>
            </p:extLst>
          </p:nvPr>
        </p:nvGraphicFramePr>
        <p:xfrm>
          <a:off x="1197766" y="941145"/>
          <a:ext cx="9596283" cy="558689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24499">
                  <a:extLst>
                    <a:ext uri="{9D8B030D-6E8A-4147-A177-3AD203B41FA5}">
                      <a16:colId xmlns:a16="http://schemas.microsoft.com/office/drawing/2014/main" val="3262405039"/>
                    </a:ext>
                  </a:extLst>
                </a:gridCol>
                <a:gridCol w="1917946">
                  <a:extLst>
                    <a:ext uri="{9D8B030D-6E8A-4147-A177-3AD203B41FA5}">
                      <a16:colId xmlns:a16="http://schemas.microsoft.com/office/drawing/2014/main" val="3157964866"/>
                    </a:ext>
                  </a:extLst>
                </a:gridCol>
                <a:gridCol w="1917946">
                  <a:extLst>
                    <a:ext uri="{9D8B030D-6E8A-4147-A177-3AD203B41FA5}">
                      <a16:colId xmlns:a16="http://schemas.microsoft.com/office/drawing/2014/main" val="3578422472"/>
                    </a:ext>
                  </a:extLst>
                </a:gridCol>
                <a:gridCol w="1917946">
                  <a:extLst>
                    <a:ext uri="{9D8B030D-6E8A-4147-A177-3AD203B41FA5}">
                      <a16:colId xmlns:a16="http://schemas.microsoft.com/office/drawing/2014/main" val="446322061"/>
                    </a:ext>
                  </a:extLst>
                </a:gridCol>
                <a:gridCol w="1917946">
                  <a:extLst>
                    <a:ext uri="{9D8B030D-6E8A-4147-A177-3AD203B41FA5}">
                      <a16:colId xmlns:a16="http://schemas.microsoft.com/office/drawing/2014/main" val="1297772579"/>
                    </a:ext>
                  </a:extLst>
                </a:gridCol>
              </a:tblGrid>
              <a:tr h="336847">
                <a:tc>
                  <a:txBody>
                    <a:bodyPr/>
                    <a:lstStyle/>
                    <a:p>
                      <a:r>
                        <a:rPr lang="en-IN" dirty="0"/>
                        <a:t>Benchmarks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088726"/>
                  </a:ext>
                </a:extLst>
              </a:tr>
              <a:tr h="26105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HellaSwag</a:t>
                      </a:r>
                      <a:endParaRPr lang="en-IN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Tests natural language inference by requiring LLMs to complete passages in a way that requires understanding intricate details.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evaluate the model's ability to generate contextually appropriate text continuations.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Useful in content creation, dialogue systems, and applications requiring advanced text generation capabilities.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https://arxiv.org/abs/1905.07830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646715"/>
                  </a:ext>
                </a:extLst>
              </a:tr>
              <a:tr h="26105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Multi-Genre Natural Language Inference (</a:t>
                      </a:r>
                      <a:r>
                        <a:rPr lang="en-IN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MultiNLI</a:t>
                      </a:r>
                      <a:r>
                        <a:rPr lang="en-I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benchmark consisting of 433K sentence pairs across various genres of English data, testing natural language inference.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assess the ability of LLMs to assign correct labels to hypothesis statements based on premises.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Vital for systems requiring advanced text comprehension and inference, such as automated reasoning and text analytics tools.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https://arxiv.org/abs/1704.05426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719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78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344BF-C051-9E4A-992E-B225E5D41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E981-928C-397E-F1CA-4366F292F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8" y="-167148"/>
            <a:ext cx="11337234" cy="953729"/>
          </a:xfrm>
        </p:spPr>
        <p:txBody>
          <a:bodyPr>
            <a:noAutofit/>
          </a:bodyPr>
          <a:lstStyle/>
          <a:p>
            <a:r>
              <a:rPr lang="en-IN" sz="3200" dirty="0"/>
              <a:t>Benchmarks for Knowledge and Language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DDC8D-8587-A09E-AAAF-83CC2FE47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E9C6A-5102-EBFC-EFF0-94691F95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41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C93301A-C8E6-C5EC-8747-D2B7AA2B4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036569"/>
              </p:ext>
            </p:extLst>
          </p:nvPr>
        </p:nvGraphicFramePr>
        <p:xfrm>
          <a:off x="1197766" y="941145"/>
          <a:ext cx="9596283" cy="558689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24499">
                  <a:extLst>
                    <a:ext uri="{9D8B030D-6E8A-4147-A177-3AD203B41FA5}">
                      <a16:colId xmlns:a16="http://schemas.microsoft.com/office/drawing/2014/main" val="3262405039"/>
                    </a:ext>
                  </a:extLst>
                </a:gridCol>
                <a:gridCol w="1917946">
                  <a:extLst>
                    <a:ext uri="{9D8B030D-6E8A-4147-A177-3AD203B41FA5}">
                      <a16:colId xmlns:a16="http://schemas.microsoft.com/office/drawing/2014/main" val="3157964866"/>
                    </a:ext>
                  </a:extLst>
                </a:gridCol>
                <a:gridCol w="1917946">
                  <a:extLst>
                    <a:ext uri="{9D8B030D-6E8A-4147-A177-3AD203B41FA5}">
                      <a16:colId xmlns:a16="http://schemas.microsoft.com/office/drawing/2014/main" val="3578422472"/>
                    </a:ext>
                  </a:extLst>
                </a:gridCol>
                <a:gridCol w="1917946">
                  <a:extLst>
                    <a:ext uri="{9D8B030D-6E8A-4147-A177-3AD203B41FA5}">
                      <a16:colId xmlns:a16="http://schemas.microsoft.com/office/drawing/2014/main" val="446322061"/>
                    </a:ext>
                  </a:extLst>
                </a:gridCol>
                <a:gridCol w="1917946">
                  <a:extLst>
                    <a:ext uri="{9D8B030D-6E8A-4147-A177-3AD203B41FA5}">
                      <a16:colId xmlns:a16="http://schemas.microsoft.com/office/drawing/2014/main" val="1297772579"/>
                    </a:ext>
                  </a:extLst>
                </a:gridCol>
              </a:tblGrid>
              <a:tr h="336847">
                <a:tc>
                  <a:txBody>
                    <a:bodyPr/>
                    <a:lstStyle/>
                    <a:p>
                      <a:r>
                        <a:rPr lang="en-IN" dirty="0"/>
                        <a:t>Benchmarks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088726"/>
                  </a:ext>
                </a:extLst>
              </a:tr>
              <a:tr h="26105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SuperGlue</a:t>
                      </a:r>
                      <a:endParaRPr lang="en-IN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advanced version of the GLUE benchmark, comprising more challenging and diverse language tasks.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evaluate deeper aspects of language understanding and reasoning.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Important for sophisticated AI systems requiring advanced language processing capabilities.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https://arxiv.org/abs/1905.00537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646715"/>
                  </a:ext>
                </a:extLst>
              </a:tr>
              <a:tr h="2610565">
                <a:tc>
                  <a:txBody>
                    <a:bodyPr/>
                    <a:lstStyle/>
                    <a:p>
                      <a:r>
                        <a:rPr lang="en-IN" sz="1600" dirty="0" err="1"/>
                        <a:t>TriviaQA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reading comprehension test with questions from sources like Wikipedia, demanding contextual analysis.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To assess the ability to shift through context and find accurate answers in complex texts.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Suitable for AI systems in knowledge extraction, research, and detailed content analysis.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https://arxiv.org/abs/1705.03551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719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306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A1982-AF6D-B84B-91D8-31E43F11F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1FEA1-7B42-AC0D-A10B-7218534A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8" y="-167148"/>
            <a:ext cx="11337234" cy="953729"/>
          </a:xfrm>
        </p:spPr>
        <p:txBody>
          <a:bodyPr>
            <a:noAutofit/>
          </a:bodyPr>
          <a:lstStyle/>
          <a:p>
            <a:r>
              <a:rPr lang="en-IN" sz="3200" dirty="0"/>
              <a:t>Benchmarks for Reasoning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14498-D10D-101D-0B62-5A9BB9622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89FA5-D7A0-B0E4-CCB2-7D71B39D2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42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C50C95-0118-5791-507C-FBC1E3682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360649"/>
              </p:ext>
            </p:extLst>
          </p:nvPr>
        </p:nvGraphicFramePr>
        <p:xfrm>
          <a:off x="854766" y="973393"/>
          <a:ext cx="9596285" cy="5732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9257">
                  <a:extLst>
                    <a:ext uri="{9D8B030D-6E8A-4147-A177-3AD203B41FA5}">
                      <a16:colId xmlns:a16="http://schemas.microsoft.com/office/drawing/2014/main" val="64863373"/>
                    </a:ext>
                  </a:extLst>
                </a:gridCol>
                <a:gridCol w="1919257">
                  <a:extLst>
                    <a:ext uri="{9D8B030D-6E8A-4147-A177-3AD203B41FA5}">
                      <a16:colId xmlns:a16="http://schemas.microsoft.com/office/drawing/2014/main" val="2883194893"/>
                    </a:ext>
                  </a:extLst>
                </a:gridCol>
                <a:gridCol w="1919257">
                  <a:extLst>
                    <a:ext uri="{9D8B030D-6E8A-4147-A177-3AD203B41FA5}">
                      <a16:colId xmlns:a16="http://schemas.microsoft.com/office/drawing/2014/main" val="1976824511"/>
                    </a:ext>
                  </a:extLst>
                </a:gridCol>
                <a:gridCol w="1919257">
                  <a:extLst>
                    <a:ext uri="{9D8B030D-6E8A-4147-A177-3AD203B41FA5}">
                      <a16:colId xmlns:a16="http://schemas.microsoft.com/office/drawing/2014/main" val="2119371803"/>
                    </a:ext>
                  </a:extLst>
                </a:gridCol>
                <a:gridCol w="1919257">
                  <a:extLst>
                    <a:ext uri="{9D8B030D-6E8A-4147-A177-3AD203B41FA5}">
                      <a16:colId xmlns:a16="http://schemas.microsoft.com/office/drawing/2014/main" val="454488050"/>
                    </a:ext>
                  </a:extLst>
                </a:gridCol>
              </a:tblGrid>
              <a:tr h="429407">
                <a:tc>
                  <a:txBody>
                    <a:bodyPr/>
                    <a:lstStyle/>
                    <a:p>
                      <a:r>
                        <a:rPr lang="en-IN" dirty="0"/>
                        <a:t>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Relevance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09352"/>
                  </a:ext>
                </a:extLst>
              </a:tr>
              <a:tr h="7411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GSM8K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set of 8.5K grade-school math problems that require basic to intermediate math operations.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test LLMs’ ability to work through multistep math problems.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Useful for assessing AI’s capability in solving basic mathematical problems, valuable in educational contexts.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https://arxiv.org/abs/2110.14168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264282"/>
                  </a:ext>
                </a:extLst>
              </a:tr>
              <a:tr h="4294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Discrete Reasoning Over Paragraphs (DROP)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An </a:t>
                      </a: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adversarially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-created reading comprehension benchmark requiring models to navigate through references and execute operations like addition or sorting.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evaluate the ability of models to understand complex texts and perform discrete operations.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Useful in advanced educational tools and text analysis systems requiring logical reasoning.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https://arxiv.org/abs/1903.00161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839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46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D462F-D1A9-F0DD-B7ED-16916F834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68B48-CCF0-3855-693A-BEF6E1DF9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8" y="-167148"/>
            <a:ext cx="11337234" cy="953729"/>
          </a:xfrm>
        </p:spPr>
        <p:txBody>
          <a:bodyPr>
            <a:noAutofit/>
          </a:bodyPr>
          <a:lstStyle/>
          <a:p>
            <a:r>
              <a:rPr lang="en-IN" sz="3200" dirty="0"/>
              <a:t>Benchmarks for Reasoning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91FE8-EDEB-9FB2-8C72-1277FD35B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C9090-3EA9-D4D6-1BA2-D31C04D13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43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9B98C07-6D4B-10CD-15A0-203B4DA19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223807"/>
              </p:ext>
            </p:extLst>
          </p:nvPr>
        </p:nvGraphicFramePr>
        <p:xfrm>
          <a:off x="854766" y="973393"/>
          <a:ext cx="9596285" cy="5001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9257">
                  <a:extLst>
                    <a:ext uri="{9D8B030D-6E8A-4147-A177-3AD203B41FA5}">
                      <a16:colId xmlns:a16="http://schemas.microsoft.com/office/drawing/2014/main" val="64863373"/>
                    </a:ext>
                  </a:extLst>
                </a:gridCol>
                <a:gridCol w="1919257">
                  <a:extLst>
                    <a:ext uri="{9D8B030D-6E8A-4147-A177-3AD203B41FA5}">
                      <a16:colId xmlns:a16="http://schemas.microsoft.com/office/drawing/2014/main" val="2883194893"/>
                    </a:ext>
                  </a:extLst>
                </a:gridCol>
                <a:gridCol w="1919257">
                  <a:extLst>
                    <a:ext uri="{9D8B030D-6E8A-4147-A177-3AD203B41FA5}">
                      <a16:colId xmlns:a16="http://schemas.microsoft.com/office/drawing/2014/main" val="1976824511"/>
                    </a:ext>
                  </a:extLst>
                </a:gridCol>
                <a:gridCol w="1919257">
                  <a:extLst>
                    <a:ext uri="{9D8B030D-6E8A-4147-A177-3AD203B41FA5}">
                      <a16:colId xmlns:a16="http://schemas.microsoft.com/office/drawing/2014/main" val="2119371803"/>
                    </a:ext>
                  </a:extLst>
                </a:gridCol>
                <a:gridCol w="1919257">
                  <a:extLst>
                    <a:ext uri="{9D8B030D-6E8A-4147-A177-3AD203B41FA5}">
                      <a16:colId xmlns:a16="http://schemas.microsoft.com/office/drawing/2014/main" val="454488050"/>
                    </a:ext>
                  </a:extLst>
                </a:gridCol>
              </a:tblGrid>
              <a:tr h="429407">
                <a:tc>
                  <a:txBody>
                    <a:bodyPr/>
                    <a:lstStyle/>
                    <a:p>
                      <a:r>
                        <a:rPr lang="en-IN" dirty="0"/>
                        <a:t>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Relevance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09352"/>
                  </a:ext>
                </a:extLst>
              </a:tr>
              <a:tr h="7411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Counterfactual Reasoning Assessment(CRASS)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Evaluates counterfactual reasoning abilities of LLMs, focusing on "what if" scenarios.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assess models' ability to understand and reason about alternate scenarios based on given data.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Important for AI applications in strategic planning, decision-making, and scenario analysis.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https://arxiv.org/abs/2112.11941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264282"/>
                  </a:ext>
                </a:extLst>
              </a:tr>
              <a:tr h="4294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Large-scale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ReAding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Comprehension Dataset From Examinations (RACE)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set of reading comprehension questions derived from English exams given to Chinese students.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test LLMs' understanding of complex reading material and their ability to answer examination-level questions.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Useful in language learning applications and educational systems for exam preparation.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https://arxiv.org/abs/1704.04683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839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07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9D513-51BD-F008-D76A-138E57739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FE936-CDDD-9551-3CDF-0C1409C07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8" y="-167148"/>
            <a:ext cx="11337234" cy="953729"/>
          </a:xfrm>
        </p:spPr>
        <p:txBody>
          <a:bodyPr>
            <a:noAutofit/>
          </a:bodyPr>
          <a:lstStyle/>
          <a:p>
            <a:r>
              <a:rPr lang="en-IN" sz="3200" dirty="0"/>
              <a:t>Benchmarks for Reasoning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07D6C-71B8-329F-8A4E-215B1AE10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9302C-32EF-7F06-358A-8A43284E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6445292-EEFA-4570-6FFC-40934AF7E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946431"/>
              </p:ext>
            </p:extLst>
          </p:nvPr>
        </p:nvGraphicFramePr>
        <p:xfrm>
          <a:off x="854766" y="973393"/>
          <a:ext cx="9596285" cy="5275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9257">
                  <a:extLst>
                    <a:ext uri="{9D8B030D-6E8A-4147-A177-3AD203B41FA5}">
                      <a16:colId xmlns:a16="http://schemas.microsoft.com/office/drawing/2014/main" val="64863373"/>
                    </a:ext>
                  </a:extLst>
                </a:gridCol>
                <a:gridCol w="1919257">
                  <a:extLst>
                    <a:ext uri="{9D8B030D-6E8A-4147-A177-3AD203B41FA5}">
                      <a16:colId xmlns:a16="http://schemas.microsoft.com/office/drawing/2014/main" val="2883194893"/>
                    </a:ext>
                  </a:extLst>
                </a:gridCol>
                <a:gridCol w="1919257">
                  <a:extLst>
                    <a:ext uri="{9D8B030D-6E8A-4147-A177-3AD203B41FA5}">
                      <a16:colId xmlns:a16="http://schemas.microsoft.com/office/drawing/2014/main" val="1976824511"/>
                    </a:ext>
                  </a:extLst>
                </a:gridCol>
                <a:gridCol w="1919257">
                  <a:extLst>
                    <a:ext uri="{9D8B030D-6E8A-4147-A177-3AD203B41FA5}">
                      <a16:colId xmlns:a16="http://schemas.microsoft.com/office/drawing/2014/main" val="2119371803"/>
                    </a:ext>
                  </a:extLst>
                </a:gridCol>
                <a:gridCol w="1919257">
                  <a:extLst>
                    <a:ext uri="{9D8B030D-6E8A-4147-A177-3AD203B41FA5}">
                      <a16:colId xmlns:a16="http://schemas.microsoft.com/office/drawing/2014/main" val="454488050"/>
                    </a:ext>
                  </a:extLst>
                </a:gridCol>
              </a:tblGrid>
              <a:tr h="429407">
                <a:tc>
                  <a:txBody>
                    <a:bodyPr/>
                    <a:lstStyle/>
                    <a:p>
                      <a:r>
                        <a:rPr lang="en-IN" dirty="0"/>
                        <a:t>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Relevance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09352"/>
                  </a:ext>
                </a:extLst>
              </a:tr>
              <a:tr h="7411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Big-Bench Hard (BBH)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subset of BIG-Bench focusing on the most challenging tasks requiring multi-step reasoning.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challenge LLMs with complex tasks demanding advanced reasoning skills.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Important for evaluating the upper limits of AI capabilities in complex reasoning and problem-solving.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https://arxiv.org/abs/2210.09261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264282"/>
                  </a:ext>
                </a:extLst>
              </a:tr>
              <a:tr h="4294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AGIEval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collection of standardized tests, including GRE, GMAT, SAT, LSAT, and civil service exams.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evaluate LLMs' reasoning abilities and problem-solving skills across various academic and professional scenarios.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Useful for assessing AI capabilities in standardized testing and professional qualification contexts.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https://arxiv.org/abs/2304.06364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839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73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1F7B4-994C-295B-7274-23A161D39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3A134-2CD4-F946-AED7-29AE4B6C7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8" y="-167148"/>
            <a:ext cx="11337234" cy="953729"/>
          </a:xfrm>
        </p:spPr>
        <p:txBody>
          <a:bodyPr>
            <a:noAutofit/>
          </a:bodyPr>
          <a:lstStyle/>
          <a:p>
            <a:r>
              <a:rPr lang="en-IN" sz="3200" dirty="0"/>
              <a:t>Benchmarks for Multi Turn Open Ended Conversations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FB40D-C852-2812-5441-ACC48115C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192C8-9298-0615-A8CD-7E6EEDF2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29FAFE-6F9E-5799-C3C5-EB050C3BB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010469"/>
              </p:ext>
            </p:extLst>
          </p:nvPr>
        </p:nvGraphicFramePr>
        <p:xfrm>
          <a:off x="1081549" y="979293"/>
          <a:ext cx="9531075" cy="545869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06215">
                  <a:extLst>
                    <a:ext uri="{9D8B030D-6E8A-4147-A177-3AD203B41FA5}">
                      <a16:colId xmlns:a16="http://schemas.microsoft.com/office/drawing/2014/main" val="4105155674"/>
                    </a:ext>
                  </a:extLst>
                </a:gridCol>
                <a:gridCol w="1906215">
                  <a:extLst>
                    <a:ext uri="{9D8B030D-6E8A-4147-A177-3AD203B41FA5}">
                      <a16:colId xmlns:a16="http://schemas.microsoft.com/office/drawing/2014/main" val="39895778"/>
                    </a:ext>
                  </a:extLst>
                </a:gridCol>
                <a:gridCol w="1906215">
                  <a:extLst>
                    <a:ext uri="{9D8B030D-6E8A-4147-A177-3AD203B41FA5}">
                      <a16:colId xmlns:a16="http://schemas.microsoft.com/office/drawing/2014/main" val="3342606975"/>
                    </a:ext>
                  </a:extLst>
                </a:gridCol>
                <a:gridCol w="1906215">
                  <a:extLst>
                    <a:ext uri="{9D8B030D-6E8A-4147-A177-3AD203B41FA5}">
                      <a16:colId xmlns:a16="http://schemas.microsoft.com/office/drawing/2014/main" val="2708330100"/>
                    </a:ext>
                  </a:extLst>
                </a:gridCol>
                <a:gridCol w="1906215">
                  <a:extLst>
                    <a:ext uri="{9D8B030D-6E8A-4147-A177-3AD203B41FA5}">
                      <a16:colId xmlns:a16="http://schemas.microsoft.com/office/drawing/2014/main" val="1336675798"/>
                    </a:ext>
                  </a:extLst>
                </a:gridCol>
              </a:tblGrid>
              <a:tr h="326788">
                <a:tc>
                  <a:txBody>
                    <a:bodyPr/>
                    <a:lstStyle/>
                    <a:p>
                      <a:r>
                        <a:rPr lang="en-IN" dirty="0"/>
                        <a:t>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907947"/>
                  </a:ext>
                </a:extLst>
              </a:tr>
              <a:tr h="25326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MT-bench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Tailored for evaluating the proficiency of chat assistants in sustaining multi-turn conversations.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test the ability of models to engage in coherent and contextually relevant dialogues over multiple turns.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Essential for developing sophisticated conversational agents and chatbots.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https://arxiv.org/abs/2306.05685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345956"/>
                  </a:ext>
                </a:extLst>
              </a:tr>
              <a:tr h="25326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Question Answering in Context 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Features 14,000 dialogues with 100,000 question-answer pairs, simulating student-teacher interactions.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challenge LLMs with context-dependent, sometimes unanswerable questions within dialogues.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Useful for conversational AI, educational software, and context-aware information systems.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https://arxiv.org/abs/1808.07036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221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487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A3891-2AF1-0391-51B4-58766C010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C979D-61BF-674C-EABB-BFA782585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8" y="-167148"/>
            <a:ext cx="11337234" cy="953729"/>
          </a:xfrm>
        </p:spPr>
        <p:txBody>
          <a:bodyPr>
            <a:noAutofit/>
          </a:bodyPr>
          <a:lstStyle/>
          <a:p>
            <a:r>
              <a:rPr lang="en-IN" sz="3200" dirty="0"/>
              <a:t>Benchmarks for Grounding and Abstractive Summarizations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C7E23-B61F-7476-B45C-AD1BCA7E5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20ABF-260F-A8FE-9D82-F53A58CD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4B1A5B-356C-4C49-8950-822FD8C77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356224"/>
              </p:ext>
            </p:extLst>
          </p:nvPr>
        </p:nvGraphicFramePr>
        <p:xfrm>
          <a:off x="791817" y="979293"/>
          <a:ext cx="9820805" cy="543098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64161">
                  <a:extLst>
                    <a:ext uri="{9D8B030D-6E8A-4147-A177-3AD203B41FA5}">
                      <a16:colId xmlns:a16="http://schemas.microsoft.com/office/drawing/2014/main" val="4105155674"/>
                    </a:ext>
                  </a:extLst>
                </a:gridCol>
                <a:gridCol w="1964161">
                  <a:extLst>
                    <a:ext uri="{9D8B030D-6E8A-4147-A177-3AD203B41FA5}">
                      <a16:colId xmlns:a16="http://schemas.microsoft.com/office/drawing/2014/main" val="39895778"/>
                    </a:ext>
                  </a:extLst>
                </a:gridCol>
                <a:gridCol w="1964161">
                  <a:extLst>
                    <a:ext uri="{9D8B030D-6E8A-4147-A177-3AD203B41FA5}">
                      <a16:colId xmlns:a16="http://schemas.microsoft.com/office/drawing/2014/main" val="3342606975"/>
                    </a:ext>
                  </a:extLst>
                </a:gridCol>
                <a:gridCol w="1964161">
                  <a:extLst>
                    <a:ext uri="{9D8B030D-6E8A-4147-A177-3AD203B41FA5}">
                      <a16:colId xmlns:a16="http://schemas.microsoft.com/office/drawing/2014/main" val="2708330100"/>
                    </a:ext>
                  </a:extLst>
                </a:gridCol>
                <a:gridCol w="1964161">
                  <a:extLst>
                    <a:ext uri="{9D8B030D-6E8A-4147-A177-3AD203B41FA5}">
                      <a16:colId xmlns:a16="http://schemas.microsoft.com/office/drawing/2014/main" val="1336675798"/>
                    </a:ext>
                  </a:extLst>
                </a:gridCol>
              </a:tblGrid>
              <a:tr h="326788">
                <a:tc>
                  <a:txBody>
                    <a:bodyPr/>
                    <a:lstStyle/>
                    <a:p>
                      <a:r>
                        <a:rPr lang="en-IN" dirty="0"/>
                        <a:t>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907947"/>
                  </a:ext>
                </a:extLst>
              </a:tr>
              <a:tr h="25326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Ambient Clinical Intelligence Benchmark (ACI-BENCH)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Contains full doctor-patient conversations and associated clinical notes from various medical domains.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challenge models to accurately generate clinical notes based on conversational data.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Vital for AI applications in healthcare, especially in automated documentation and medical analysis.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https://arxiv.org/abs/2306.02022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345956"/>
                  </a:ext>
                </a:extLst>
              </a:tr>
              <a:tr h="25326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MAchine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Reading 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COmprehension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Dataset (MS-MARCO)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large-scale collection of natural language questions and answers derived from real web queries.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test the ability of models to accurately understand and respond to real-world queries.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Crucial for search engines, question-answering systems, and other consumer-facing AI applications.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https://arxiv.org/abs/1611.09268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221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60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F7E48-7CC6-C548-FFAF-B6E395496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BD8E8-9E90-D8A8-CB90-BB5671BFC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8" y="-167148"/>
            <a:ext cx="11337234" cy="953729"/>
          </a:xfrm>
        </p:spPr>
        <p:txBody>
          <a:bodyPr>
            <a:noAutofit/>
          </a:bodyPr>
          <a:lstStyle/>
          <a:p>
            <a:r>
              <a:rPr lang="en-IN" sz="3200" dirty="0"/>
              <a:t>Benchmarks for Grounding and Abstractive Summarizations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829E0-3529-2DDE-3AFD-B92A4510A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5841C-83E3-B567-4201-A6EB8CEBD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2E4981-8FF2-CA4F-B904-7F5FAB9E5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141258"/>
              </p:ext>
            </p:extLst>
          </p:nvPr>
        </p:nvGraphicFramePr>
        <p:xfrm>
          <a:off x="791817" y="979293"/>
          <a:ext cx="9820805" cy="545869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64161">
                  <a:extLst>
                    <a:ext uri="{9D8B030D-6E8A-4147-A177-3AD203B41FA5}">
                      <a16:colId xmlns:a16="http://schemas.microsoft.com/office/drawing/2014/main" val="4105155674"/>
                    </a:ext>
                  </a:extLst>
                </a:gridCol>
                <a:gridCol w="1964161">
                  <a:extLst>
                    <a:ext uri="{9D8B030D-6E8A-4147-A177-3AD203B41FA5}">
                      <a16:colId xmlns:a16="http://schemas.microsoft.com/office/drawing/2014/main" val="39895778"/>
                    </a:ext>
                  </a:extLst>
                </a:gridCol>
                <a:gridCol w="1964161">
                  <a:extLst>
                    <a:ext uri="{9D8B030D-6E8A-4147-A177-3AD203B41FA5}">
                      <a16:colId xmlns:a16="http://schemas.microsoft.com/office/drawing/2014/main" val="3342606975"/>
                    </a:ext>
                  </a:extLst>
                </a:gridCol>
                <a:gridCol w="1964161">
                  <a:extLst>
                    <a:ext uri="{9D8B030D-6E8A-4147-A177-3AD203B41FA5}">
                      <a16:colId xmlns:a16="http://schemas.microsoft.com/office/drawing/2014/main" val="2708330100"/>
                    </a:ext>
                  </a:extLst>
                </a:gridCol>
                <a:gridCol w="1964161">
                  <a:extLst>
                    <a:ext uri="{9D8B030D-6E8A-4147-A177-3AD203B41FA5}">
                      <a16:colId xmlns:a16="http://schemas.microsoft.com/office/drawing/2014/main" val="1336675798"/>
                    </a:ext>
                  </a:extLst>
                </a:gridCol>
              </a:tblGrid>
              <a:tr h="326788">
                <a:tc>
                  <a:txBody>
                    <a:bodyPr/>
                    <a:lstStyle/>
                    <a:p>
                      <a:r>
                        <a:rPr lang="en-IN" dirty="0"/>
                        <a:t>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907947"/>
                  </a:ext>
                </a:extLst>
              </a:tr>
              <a:tr h="25326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Query-based Multi-domain Meeting Summarization 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QMSum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benchmark for summarizing relevant spans of meetings in response to specific queries.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evaluate the ability of models to extract and summarize important information from meeting content.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Useful for business intelligence tools, meeting analysis applications, and automated summarization systems.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https://arxiv.org/abs/2104.05938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345956"/>
                  </a:ext>
                </a:extLst>
              </a:tr>
              <a:tr h="25326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Physical Interaction: Question Answering (PIQA)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Tests knowledge and understanding of the physical world through hypothetical scenarios and solutions.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measure the model’s capability in handling physical interaction scenarios.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Important for AI applications in robotics, physical simulations, and practical problem-solving systems.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https://arxiv.org/abs/1911.11641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221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978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42A11-FCD5-B43D-CD43-BF23CDBF3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BB7A0-FD35-05FA-C411-1FB8C9821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8" y="-167148"/>
            <a:ext cx="11337234" cy="953729"/>
          </a:xfrm>
        </p:spPr>
        <p:txBody>
          <a:bodyPr>
            <a:noAutofit/>
          </a:bodyPr>
          <a:lstStyle/>
          <a:p>
            <a:r>
              <a:rPr lang="en-IN" sz="3200" dirty="0"/>
              <a:t>Benchmarks for Content Moderation and Narrative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412AF-CDDB-DF5F-D821-338701680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C200A-4F93-A61A-86A4-1AA68A12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48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2EF303-D7AA-E215-1D8A-1AD2C9F2E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877108"/>
              </p:ext>
            </p:extLst>
          </p:nvPr>
        </p:nvGraphicFramePr>
        <p:xfrm>
          <a:off x="963560" y="935976"/>
          <a:ext cx="10864645" cy="58287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72929">
                  <a:extLst>
                    <a:ext uri="{9D8B030D-6E8A-4147-A177-3AD203B41FA5}">
                      <a16:colId xmlns:a16="http://schemas.microsoft.com/office/drawing/2014/main" val="4188021820"/>
                    </a:ext>
                  </a:extLst>
                </a:gridCol>
                <a:gridCol w="2172929">
                  <a:extLst>
                    <a:ext uri="{9D8B030D-6E8A-4147-A177-3AD203B41FA5}">
                      <a16:colId xmlns:a16="http://schemas.microsoft.com/office/drawing/2014/main" val="2024962420"/>
                    </a:ext>
                  </a:extLst>
                </a:gridCol>
                <a:gridCol w="2172929">
                  <a:extLst>
                    <a:ext uri="{9D8B030D-6E8A-4147-A177-3AD203B41FA5}">
                      <a16:colId xmlns:a16="http://schemas.microsoft.com/office/drawing/2014/main" val="870888007"/>
                    </a:ext>
                  </a:extLst>
                </a:gridCol>
                <a:gridCol w="2172929">
                  <a:extLst>
                    <a:ext uri="{9D8B030D-6E8A-4147-A177-3AD203B41FA5}">
                      <a16:colId xmlns:a16="http://schemas.microsoft.com/office/drawing/2014/main" val="183722775"/>
                    </a:ext>
                  </a:extLst>
                </a:gridCol>
                <a:gridCol w="2172929">
                  <a:extLst>
                    <a:ext uri="{9D8B030D-6E8A-4147-A177-3AD203B41FA5}">
                      <a16:colId xmlns:a16="http://schemas.microsoft.com/office/drawing/2014/main" val="2455911785"/>
                    </a:ext>
                  </a:extLst>
                </a:gridCol>
              </a:tblGrid>
              <a:tr h="336181">
                <a:tc>
                  <a:txBody>
                    <a:bodyPr/>
                    <a:lstStyle/>
                    <a:p>
                      <a:r>
                        <a:rPr lang="en-IN" dirty="0"/>
                        <a:t>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140629"/>
                  </a:ext>
                </a:extLst>
              </a:tr>
              <a:tr h="26054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ToxiGen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dataset of toxic and benign statements about minority groups, focusing on implicit hate speech.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test a model's ability to both identify and avoid generating toxic content.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Crucial for content moderation systems, community management, and AI ethics research.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https://arxiv.org/abs/2203.09509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932670"/>
                  </a:ext>
                </a:extLst>
              </a:tr>
              <a:tr h="28575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Helpfulness, Honesty, Harmlessness (HHH)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Evaluates language models' alignment with ethical standards such as helpfulness, honesty, and harmlessness.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assess the ethical responses of models in interaction scenarios.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Vital for ensuring AI systems promote positive interactions and adhere to ethical standards.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https://arxiv.org/abs/2112.00861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222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371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30C5A-742D-4E6A-6B56-183DAB522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511E4-F5E1-D9CC-E176-80F3D1864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8" y="-167148"/>
            <a:ext cx="11337234" cy="953729"/>
          </a:xfrm>
        </p:spPr>
        <p:txBody>
          <a:bodyPr>
            <a:noAutofit/>
          </a:bodyPr>
          <a:lstStyle/>
          <a:p>
            <a:r>
              <a:rPr lang="en-IN" sz="3200" dirty="0"/>
              <a:t>Benchmarks for Content Moderation and Narrative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0CF84-608E-222A-B86E-1FFBDC171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9DCAD-F514-ECF9-3D76-D9165ED77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49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8D1ED5-27FA-186A-950F-99B014E7F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808924"/>
              </p:ext>
            </p:extLst>
          </p:nvPr>
        </p:nvGraphicFramePr>
        <p:xfrm>
          <a:off x="963560" y="935976"/>
          <a:ext cx="10864645" cy="566307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72929">
                  <a:extLst>
                    <a:ext uri="{9D8B030D-6E8A-4147-A177-3AD203B41FA5}">
                      <a16:colId xmlns:a16="http://schemas.microsoft.com/office/drawing/2014/main" val="4188021820"/>
                    </a:ext>
                  </a:extLst>
                </a:gridCol>
                <a:gridCol w="2172929">
                  <a:extLst>
                    <a:ext uri="{9D8B030D-6E8A-4147-A177-3AD203B41FA5}">
                      <a16:colId xmlns:a16="http://schemas.microsoft.com/office/drawing/2014/main" val="2024962420"/>
                    </a:ext>
                  </a:extLst>
                </a:gridCol>
                <a:gridCol w="2172929">
                  <a:extLst>
                    <a:ext uri="{9D8B030D-6E8A-4147-A177-3AD203B41FA5}">
                      <a16:colId xmlns:a16="http://schemas.microsoft.com/office/drawing/2014/main" val="870888007"/>
                    </a:ext>
                  </a:extLst>
                </a:gridCol>
                <a:gridCol w="2172929">
                  <a:extLst>
                    <a:ext uri="{9D8B030D-6E8A-4147-A177-3AD203B41FA5}">
                      <a16:colId xmlns:a16="http://schemas.microsoft.com/office/drawing/2014/main" val="183722775"/>
                    </a:ext>
                  </a:extLst>
                </a:gridCol>
                <a:gridCol w="2172929">
                  <a:extLst>
                    <a:ext uri="{9D8B030D-6E8A-4147-A177-3AD203B41FA5}">
                      <a16:colId xmlns:a16="http://schemas.microsoft.com/office/drawing/2014/main" val="2455911785"/>
                    </a:ext>
                  </a:extLst>
                </a:gridCol>
              </a:tblGrid>
              <a:tr h="350330">
                <a:tc>
                  <a:txBody>
                    <a:bodyPr/>
                    <a:lstStyle/>
                    <a:p>
                      <a:r>
                        <a:rPr lang="en-IN" dirty="0"/>
                        <a:t>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140629"/>
                  </a:ext>
                </a:extLst>
              </a:tr>
              <a:tr h="24954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TruthfulQA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benchmark for evaluating the truthfulness of LLMs in generating answers to questions prone to false beliefs and biases.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test the ability of models to provide accurate and unbiased information.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Important for AI systems where delivering accurate and unbiased information is critical, such as in educational or advisory roles.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https://arxiv.org/abs/2109.07958v2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932670"/>
                  </a:ext>
                </a:extLst>
              </a:tr>
              <a:tr h="27369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Responsible AI (RAI)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framework for evaluating the safety of chat-optimized models in conversational settings.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assess potential harmful content, IP leakage, and security breaches in AI-driven conversations.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Crucial for developing safe and secure conversational AI applications, particularly in sensitive domains.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https://arxiv.org/abs/2310.17750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222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718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0C504-A37B-FEF2-1E64-535FE3408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CDA4-3EB8-2DD1-EB71-05C3653C8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8" y="-167148"/>
            <a:ext cx="11337234" cy="953729"/>
          </a:xfrm>
        </p:spPr>
        <p:txBody>
          <a:bodyPr>
            <a:noAutofit/>
          </a:bodyPr>
          <a:lstStyle/>
          <a:p>
            <a:r>
              <a:rPr lang="en-IN" sz="3200" dirty="0"/>
              <a:t>Benchmarks for Coding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054A8-3670-8F38-371A-B674CF478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92F08-5972-CEB2-CBAF-9EAE5AF9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6447FB5-55A1-AC29-0844-A9A27E8ED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462317"/>
              </p:ext>
            </p:extLst>
          </p:nvPr>
        </p:nvGraphicFramePr>
        <p:xfrm>
          <a:off x="854766" y="1216345"/>
          <a:ext cx="9816510" cy="4942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63302">
                  <a:extLst>
                    <a:ext uri="{9D8B030D-6E8A-4147-A177-3AD203B41FA5}">
                      <a16:colId xmlns:a16="http://schemas.microsoft.com/office/drawing/2014/main" val="3423377721"/>
                    </a:ext>
                  </a:extLst>
                </a:gridCol>
                <a:gridCol w="1963302">
                  <a:extLst>
                    <a:ext uri="{9D8B030D-6E8A-4147-A177-3AD203B41FA5}">
                      <a16:colId xmlns:a16="http://schemas.microsoft.com/office/drawing/2014/main" val="2875556475"/>
                    </a:ext>
                  </a:extLst>
                </a:gridCol>
                <a:gridCol w="1963302">
                  <a:extLst>
                    <a:ext uri="{9D8B030D-6E8A-4147-A177-3AD203B41FA5}">
                      <a16:colId xmlns:a16="http://schemas.microsoft.com/office/drawing/2014/main" val="3986287564"/>
                    </a:ext>
                  </a:extLst>
                </a:gridCol>
                <a:gridCol w="1963302">
                  <a:extLst>
                    <a:ext uri="{9D8B030D-6E8A-4147-A177-3AD203B41FA5}">
                      <a16:colId xmlns:a16="http://schemas.microsoft.com/office/drawing/2014/main" val="200893266"/>
                    </a:ext>
                  </a:extLst>
                </a:gridCol>
                <a:gridCol w="1963302">
                  <a:extLst>
                    <a:ext uri="{9D8B030D-6E8A-4147-A177-3AD203B41FA5}">
                      <a16:colId xmlns:a16="http://schemas.microsoft.com/office/drawing/2014/main" val="7302116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9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CodeXGLUE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Evaluates LLMs' ability to understand and work with code across various tasks like code completion and translation.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assess code intelligence, including understanding, fixing, and explaining code.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Essential for applications in software development, code analysis, and technical documentation.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https://arxiv.org/abs/2102.04664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890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HumanEval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Contains programming challenges for evaluating LLMs' ability to write functional code based on instructions.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test the generation of correct and efficient code from given requirements.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Important for automated code generation tools, programming assistants, and coding education platforms.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https://arxiv.org/abs/2107.03374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498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967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1470-5B43-1318-1E79-C7FED20C9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Benchmarks for LLM-Assisted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B085A-9081-52D3-546F-BFD0FA3CB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766" y="1097280"/>
            <a:ext cx="10545418" cy="5549326"/>
          </a:xfrm>
        </p:spPr>
        <p:txBody>
          <a:bodyPr>
            <a:normAutofit/>
          </a:bodyPr>
          <a:lstStyle/>
          <a:p>
            <a:r>
              <a:rPr lang="en-IN" sz="1800" b="1" dirty="0"/>
              <a:t>LLM-As-A-Judge:</a:t>
            </a:r>
            <a:r>
              <a:rPr lang="en-IN" sz="1800" dirty="0"/>
              <a:t> Prompt LLM to provide judgement </a:t>
            </a:r>
            <a:r>
              <a:rPr lang="en-US" sz="1800" dirty="0"/>
              <a:t> (e.g., “4 out of 5”, “A is better than B”)</a:t>
            </a:r>
          </a:p>
          <a:p>
            <a:r>
              <a:rPr lang="en-US" sz="1800" b="1" dirty="0">
                <a:solidFill>
                  <a:srgbClr val="FF0000"/>
                </a:solidFill>
              </a:rPr>
              <a:t>Evaluation criteria </a:t>
            </a:r>
            <a:r>
              <a:rPr lang="en-US" sz="1800" dirty="0"/>
              <a:t>can be decided while </a:t>
            </a:r>
            <a:r>
              <a:rPr lang="en-US" sz="1800" b="1" dirty="0">
                <a:solidFill>
                  <a:srgbClr val="FF0000"/>
                </a:solidFill>
              </a:rPr>
              <a:t>assessing the response</a:t>
            </a:r>
            <a:r>
              <a:rPr lang="en-US" sz="1800" dirty="0"/>
              <a:t>!</a:t>
            </a: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73041-320A-8DB8-3E50-06349E5C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8B2A25-1920-C34D-4852-2490CF48E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48" y="2467897"/>
            <a:ext cx="9881420" cy="388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89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B858E-3222-3FC4-71BB-250C0485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A6F2F-98AA-A0ED-9213-B7D54A594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20000" lvl="2" indent="0">
              <a:buNone/>
            </a:pPr>
            <a:endParaRPr lang="en-IN" dirty="0"/>
          </a:p>
          <a:p>
            <a:pPr lvl="1"/>
            <a:r>
              <a:rPr lang="en-US" dirty="0"/>
              <a:t>Datasets for Large Language Models: A Comprehensive Survey (</a:t>
            </a:r>
            <a:r>
              <a:rPr lang="en-US" dirty="0">
                <a:hlinkClick r:id="rId2"/>
              </a:rPr>
              <a:t>https://arxiv.org/pdf/2402.18041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 acknowledge all the images taken from the respective resources.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EA139-E33C-479E-9D2A-0834EF06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49836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AnalogousFromDarkSeedLeftStep">
      <a:dk1>
        <a:srgbClr val="000000"/>
      </a:dk1>
      <a:lt1>
        <a:srgbClr val="FFFFFF"/>
      </a:lt1>
      <a:dk2>
        <a:srgbClr val="1C2B32"/>
      </a:dk2>
      <a:lt2>
        <a:srgbClr val="E2E8E2"/>
      </a:lt2>
      <a:accent1>
        <a:srgbClr val="D838D6"/>
      </a:accent1>
      <a:accent2>
        <a:srgbClr val="8526C6"/>
      </a:accent2>
      <a:accent3>
        <a:srgbClr val="5538D8"/>
      </a:accent3>
      <a:accent4>
        <a:srgbClr val="264CC6"/>
      </a:accent4>
      <a:accent5>
        <a:srgbClr val="38A1D8"/>
      </a:accent5>
      <a:accent6>
        <a:srgbClr val="23B6AC"/>
      </a:accent6>
      <a:hlink>
        <a:srgbClr val="3F7DBF"/>
      </a:hlink>
      <a:folHlink>
        <a:srgbClr val="7F7F7F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C748882-C6E9-4250-B700-63BD5D103D09}">
  <we:reference id="wa200004052" version="1.0.0.2" store="en-US" storeType="OMEX"/>
  <we:alternateReferences>
    <we:reference id="wa200004052" version="1.0.0.2" store="wa200004052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63239</TotalTime>
  <Words>3218</Words>
  <Application>Microsoft Office PowerPoint</Application>
  <PresentationFormat>Widescreen</PresentationFormat>
  <Paragraphs>425</Paragraphs>
  <Slides>52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Avenir Next LT Pro</vt:lpstr>
      <vt:lpstr>Calibri</vt:lpstr>
      <vt:lpstr>Courier New</vt:lpstr>
      <vt:lpstr>Goudy Old Style</vt:lpstr>
      <vt:lpstr>Wingdings</vt:lpstr>
      <vt:lpstr>FrostyVTI</vt:lpstr>
      <vt:lpstr>LLM Benchmarks and Evaluation</vt:lpstr>
      <vt:lpstr>Contents</vt:lpstr>
      <vt:lpstr>What are LLM Benchmarks?</vt:lpstr>
      <vt:lpstr>Need for Benchmarks</vt:lpstr>
      <vt:lpstr>Need for Benchmarks</vt:lpstr>
      <vt:lpstr>Need for Benchmarks</vt:lpstr>
      <vt:lpstr>Core Properties of Good LLM Benchmarks</vt:lpstr>
      <vt:lpstr>Core Properties of Good LLM Benchmarks</vt:lpstr>
      <vt:lpstr>Core Properties of Good LLM Benchmarks</vt:lpstr>
      <vt:lpstr>Core Properties of Good LLM Benchmarks</vt:lpstr>
      <vt:lpstr>Core Properties of Good LLM Benchmarks</vt:lpstr>
      <vt:lpstr>Representative LLM datasets across four dimensions</vt:lpstr>
      <vt:lpstr>Pre-training corpora</vt:lpstr>
      <vt:lpstr>General Pre-training Corpora</vt:lpstr>
      <vt:lpstr>General Pre-training Corpora</vt:lpstr>
      <vt:lpstr>Domain Specific Pre-training Corpora</vt:lpstr>
      <vt:lpstr>Domain Specific Pre-training Corpora</vt:lpstr>
      <vt:lpstr>Domain Specific Pre-training Corpora</vt:lpstr>
      <vt:lpstr>Instruction Fine-tuning Datasets</vt:lpstr>
      <vt:lpstr>Instruction Fine-tuning Datasets</vt:lpstr>
      <vt:lpstr>Summary of Instruction Categories</vt:lpstr>
      <vt:lpstr>Summary of Instruction Categories</vt:lpstr>
      <vt:lpstr>General Instruction Fine-tuning Datasets</vt:lpstr>
      <vt:lpstr>Domain-Specific Instruction Fine-tuning Datasets</vt:lpstr>
      <vt:lpstr>Domain-Specific Instruction Fine-tuning Datasets</vt:lpstr>
      <vt:lpstr>Preference Datasets</vt:lpstr>
      <vt:lpstr>Preference Datasets</vt:lpstr>
      <vt:lpstr>Preference Datasets : An Example</vt:lpstr>
      <vt:lpstr>Preference Datasets</vt:lpstr>
      <vt:lpstr>Preference Evaluation Methods</vt:lpstr>
      <vt:lpstr>Evaluation Datasets</vt:lpstr>
      <vt:lpstr>Evaluation categories of Evaluation Datasets</vt:lpstr>
      <vt:lpstr>Evaluation Methods</vt:lpstr>
      <vt:lpstr>Prominent Evaluation Metrics</vt:lpstr>
      <vt:lpstr>ROUGE Metric</vt:lpstr>
      <vt:lpstr>BertScore Metric</vt:lpstr>
      <vt:lpstr>LLM Capabilities</vt:lpstr>
      <vt:lpstr>Benchmarks for Knowledge and Language Understanding</vt:lpstr>
      <vt:lpstr>Benchmarks for Knowledge and Language Understanding</vt:lpstr>
      <vt:lpstr>Benchmarks for Knowledge and Language Understanding</vt:lpstr>
      <vt:lpstr>Benchmarks for Knowledge and Language Understanding</vt:lpstr>
      <vt:lpstr>Benchmarks for Reasoning Capabilities</vt:lpstr>
      <vt:lpstr>Benchmarks for Reasoning Capabilities</vt:lpstr>
      <vt:lpstr>Benchmarks for Reasoning Capabilities</vt:lpstr>
      <vt:lpstr>Benchmarks for Multi Turn Open Ended Conversations</vt:lpstr>
      <vt:lpstr>Benchmarks for Grounding and Abstractive Summarizations</vt:lpstr>
      <vt:lpstr>Benchmarks for Grounding and Abstractive Summarizations</vt:lpstr>
      <vt:lpstr>Benchmarks for Content Moderation and Narrative Control</vt:lpstr>
      <vt:lpstr>Benchmarks for Content Moderation and Narrative Control</vt:lpstr>
      <vt:lpstr>Benchmarks for Coding Capabilities</vt:lpstr>
      <vt:lpstr>Benchmarks for LLM-Assisted Evaluation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Neural Networks</dc:title>
  <dc:creator>Plaban Kumar Bhowmick</dc:creator>
  <cp:lastModifiedBy>Trishita Mukherjee</cp:lastModifiedBy>
  <cp:revision>763</cp:revision>
  <dcterms:created xsi:type="dcterms:W3CDTF">2021-07-28T12:05:26Z</dcterms:created>
  <dcterms:modified xsi:type="dcterms:W3CDTF">2025-10-16T06:01:55Z</dcterms:modified>
</cp:coreProperties>
</file>