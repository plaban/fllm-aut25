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58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74" r:id="rId11"/>
    <p:sldId id="275" r:id="rId12"/>
    <p:sldId id="267" r:id="rId13"/>
    <p:sldId id="269" r:id="rId14"/>
    <p:sldId id="270" r:id="rId15"/>
    <p:sldId id="268" r:id="rId16"/>
    <p:sldId id="276" r:id="rId17"/>
    <p:sldId id="286" r:id="rId18"/>
    <p:sldId id="271" r:id="rId19"/>
    <p:sldId id="272" r:id="rId20"/>
    <p:sldId id="273" r:id="rId21"/>
    <p:sldId id="277" r:id="rId22"/>
    <p:sldId id="278" r:id="rId23"/>
    <p:sldId id="288" r:id="rId24"/>
    <p:sldId id="304" r:id="rId25"/>
    <p:sldId id="279" r:id="rId26"/>
    <p:sldId id="280" r:id="rId27"/>
    <p:sldId id="281" r:id="rId28"/>
    <p:sldId id="285" r:id="rId29"/>
    <p:sldId id="282" r:id="rId30"/>
    <p:sldId id="283" r:id="rId31"/>
    <p:sldId id="289" r:id="rId32"/>
    <p:sldId id="290" r:id="rId33"/>
    <p:sldId id="284" r:id="rId34"/>
    <p:sldId id="287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7111"/>
    <a:srgbClr val="009900"/>
    <a:srgbClr val="8DD783"/>
    <a:srgbClr val="EA9B26"/>
    <a:srgbClr val="158D82"/>
    <a:srgbClr val="5E861C"/>
    <a:srgbClr val="499200"/>
    <a:srgbClr val="F9DE6B"/>
    <a:srgbClr val="F1BE7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1190FA-5549-48CD-9AB9-6669A000B90C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629BE6-1FFB-48C2-BEF0-792C4CF8AFF8}">
      <dgm:prSet phldrT="[Text]"/>
      <dgm:spPr/>
      <dgm:t>
        <a:bodyPr/>
        <a:lstStyle/>
        <a:p>
          <a:r>
            <a:rPr lang="en-US" dirty="0"/>
            <a:t>Pre-training</a:t>
          </a:r>
        </a:p>
      </dgm:t>
    </dgm:pt>
    <dgm:pt modelId="{7CDC4176-1E90-4D56-8527-54376FCA0B4E}" type="parTrans" cxnId="{DE9BB115-3814-4C16-A988-83B142568BF3}">
      <dgm:prSet/>
      <dgm:spPr/>
      <dgm:t>
        <a:bodyPr/>
        <a:lstStyle/>
        <a:p>
          <a:endParaRPr lang="en-US"/>
        </a:p>
      </dgm:t>
    </dgm:pt>
    <dgm:pt modelId="{E0477A6B-14A6-4E9D-86D7-DA05D60FF2A9}" type="sibTrans" cxnId="{DE9BB115-3814-4C16-A988-83B142568BF3}">
      <dgm:prSet/>
      <dgm:spPr/>
      <dgm:t>
        <a:bodyPr/>
        <a:lstStyle/>
        <a:p>
          <a:endParaRPr lang="en-US"/>
        </a:p>
      </dgm:t>
    </dgm:pt>
    <dgm:pt modelId="{C02C2B76-D816-4706-BEE1-EE57D05E911A}">
      <dgm:prSet phldrT="[Text]"/>
      <dgm:spPr/>
      <dgm:t>
        <a:bodyPr/>
        <a:lstStyle/>
        <a:p>
          <a:r>
            <a:rPr lang="en-US" dirty="0"/>
            <a:t>Fine-Tuning </a:t>
          </a:r>
        </a:p>
      </dgm:t>
    </dgm:pt>
    <dgm:pt modelId="{E84564D6-62A1-4F4F-8C13-F6A7600D5138}" type="parTrans" cxnId="{E85E4378-E5C2-4001-939B-02E9F866A2D7}">
      <dgm:prSet/>
      <dgm:spPr/>
      <dgm:t>
        <a:bodyPr/>
        <a:lstStyle/>
        <a:p>
          <a:endParaRPr lang="en-US"/>
        </a:p>
      </dgm:t>
    </dgm:pt>
    <dgm:pt modelId="{B75F817A-20CB-4768-93CB-3FA43675B1DB}" type="sibTrans" cxnId="{E85E4378-E5C2-4001-939B-02E9F866A2D7}">
      <dgm:prSet/>
      <dgm:spPr/>
      <dgm:t>
        <a:bodyPr/>
        <a:lstStyle/>
        <a:p>
          <a:endParaRPr lang="en-US"/>
        </a:p>
      </dgm:t>
    </dgm:pt>
    <dgm:pt modelId="{33065C9C-D22C-4239-9183-76689765700B}">
      <dgm:prSet phldrT="[Text]"/>
      <dgm:spPr/>
      <dgm:t>
        <a:bodyPr/>
        <a:lstStyle/>
        <a:p>
          <a:r>
            <a:rPr lang="en-US" dirty="0"/>
            <a:t>Alignment</a:t>
          </a:r>
        </a:p>
      </dgm:t>
    </dgm:pt>
    <dgm:pt modelId="{A61FE23D-FE49-40AC-A5CE-CE75631D00AF}" type="parTrans" cxnId="{A351B519-F9BA-465A-A041-4F159C1CA0A8}">
      <dgm:prSet/>
      <dgm:spPr/>
      <dgm:t>
        <a:bodyPr/>
        <a:lstStyle/>
        <a:p>
          <a:endParaRPr lang="en-US"/>
        </a:p>
      </dgm:t>
    </dgm:pt>
    <dgm:pt modelId="{2F31A17F-A7F1-455C-B9C1-A0CC3ED7D93B}" type="sibTrans" cxnId="{A351B519-F9BA-465A-A041-4F159C1CA0A8}">
      <dgm:prSet/>
      <dgm:spPr/>
      <dgm:t>
        <a:bodyPr/>
        <a:lstStyle/>
        <a:p>
          <a:endParaRPr lang="en-US"/>
        </a:p>
      </dgm:t>
    </dgm:pt>
    <dgm:pt modelId="{21354398-3E18-4C9E-A525-3AF59F7A06C8}" type="pres">
      <dgm:prSet presAssocID="{051190FA-5549-48CD-9AB9-6669A000B90C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4A9ED09E-D8C3-4149-9B78-3C24704D29A1}" type="pres">
      <dgm:prSet presAssocID="{33065C9C-D22C-4239-9183-76689765700B}" presName="Accent3" presStyleCnt="0"/>
      <dgm:spPr/>
    </dgm:pt>
    <dgm:pt modelId="{48C61341-C7EB-4B2B-9AA0-6FAAA74CC4B3}" type="pres">
      <dgm:prSet presAssocID="{33065C9C-D22C-4239-9183-76689765700B}" presName="Accent" presStyleLbl="node1" presStyleIdx="0" presStyleCnt="3"/>
      <dgm:spPr/>
    </dgm:pt>
    <dgm:pt modelId="{E77700F2-7465-4A66-B15A-B59343421060}" type="pres">
      <dgm:prSet presAssocID="{33065C9C-D22C-4239-9183-76689765700B}" presName="ParentBackground3" presStyleCnt="0"/>
      <dgm:spPr/>
    </dgm:pt>
    <dgm:pt modelId="{E68D9ED6-BC14-4A75-95D6-DB653A66EE8A}" type="pres">
      <dgm:prSet presAssocID="{33065C9C-D22C-4239-9183-76689765700B}" presName="ParentBackground" presStyleLbl="fgAcc1" presStyleIdx="0" presStyleCnt="3"/>
      <dgm:spPr/>
    </dgm:pt>
    <dgm:pt modelId="{695CFA77-3B44-494F-BDB1-EA8982FE7308}" type="pres">
      <dgm:prSet presAssocID="{33065C9C-D22C-4239-9183-76689765700B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C7CC0F9-6D9D-4333-A7A2-C8F22E312371}" type="pres">
      <dgm:prSet presAssocID="{C02C2B76-D816-4706-BEE1-EE57D05E911A}" presName="Accent2" presStyleCnt="0"/>
      <dgm:spPr/>
    </dgm:pt>
    <dgm:pt modelId="{C9110BDD-E00D-4077-9D13-0FC9A4C8843C}" type="pres">
      <dgm:prSet presAssocID="{C02C2B76-D816-4706-BEE1-EE57D05E911A}" presName="Accent" presStyleLbl="node1" presStyleIdx="1" presStyleCnt="3"/>
      <dgm:spPr/>
    </dgm:pt>
    <dgm:pt modelId="{02FCEB03-3829-4054-AEDB-6A6711B02D48}" type="pres">
      <dgm:prSet presAssocID="{C02C2B76-D816-4706-BEE1-EE57D05E911A}" presName="ParentBackground2" presStyleCnt="0"/>
      <dgm:spPr/>
    </dgm:pt>
    <dgm:pt modelId="{38AB547E-3C4A-4CF3-9562-C0509A9983A5}" type="pres">
      <dgm:prSet presAssocID="{C02C2B76-D816-4706-BEE1-EE57D05E911A}" presName="ParentBackground" presStyleLbl="fgAcc1" presStyleIdx="1" presStyleCnt="3"/>
      <dgm:spPr/>
    </dgm:pt>
    <dgm:pt modelId="{C0A4D034-09A2-4339-A101-316AC76D3D69}" type="pres">
      <dgm:prSet presAssocID="{C02C2B76-D816-4706-BEE1-EE57D05E911A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4511A920-B9AF-4540-8CB8-83387E6353DA}" type="pres">
      <dgm:prSet presAssocID="{C5629BE6-1FFB-48C2-BEF0-792C4CF8AFF8}" presName="Accent1" presStyleCnt="0"/>
      <dgm:spPr/>
    </dgm:pt>
    <dgm:pt modelId="{4089F7EE-A9DD-4066-B792-7F36600D4649}" type="pres">
      <dgm:prSet presAssocID="{C5629BE6-1FFB-48C2-BEF0-792C4CF8AFF8}" presName="Accent" presStyleLbl="node1" presStyleIdx="2" presStyleCnt="3"/>
      <dgm:spPr/>
    </dgm:pt>
    <dgm:pt modelId="{CA905D40-4681-44D7-849E-AFCE10F4109B}" type="pres">
      <dgm:prSet presAssocID="{C5629BE6-1FFB-48C2-BEF0-792C4CF8AFF8}" presName="ParentBackground1" presStyleCnt="0"/>
      <dgm:spPr/>
    </dgm:pt>
    <dgm:pt modelId="{561DC65E-9690-4B9C-AF8F-A7C2E74F53CA}" type="pres">
      <dgm:prSet presAssocID="{C5629BE6-1FFB-48C2-BEF0-792C4CF8AFF8}" presName="ParentBackground" presStyleLbl="fgAcc1" presStyleIdx="2" presStyleCnt="3"/>
      <dgm:spPr/>
    </dgm:pt>
    <dgm:pt modelId="{A9E8836E-5A45-4A9E-9A1C-B24671BA768D}" type="pres">
      <dgm:prSet presAssocID="{C5629BE6-1FFB-48C2-BEF0-792C4CF8AFF8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DE9BB115-3814-4C16-A988-83B142568BF3}" srcId="{051190FA-5549-48CD-9AB9-6669A000B90C}" destId="{C5629BE6-1FFB-48C2-BEF0-792C4CF8AFF8}" srcOrd="0" destOrd="0" parTransId="{7CDC4176-1E90-4D56-8527-54376FCA0B4E}" sibTransId="{E0477A6B-14A6-4E9D-86D7-DA05D60FF2A9}"/>
    <dgm:cxn modelId="{A351B519-F9BA-465A-A041-4F159C1CA0A8}" srcId="{051190FA-5549-48CD-9AB9-6669A000B90C}" destId="{33065C9C-D22C-4239-9183-76689765700B}" srcOrd="2" destOrd="0" parTransId="{A61FE23D-FE49-40AC-A5CE-CE75631D00AF}" sibTransId="{2F31A17F-A7F1-455C-B9C1-A0CC3ED7D93B}"/>
    <dgm:cxn modelId="{74B2E03E-4C24-4C8B-B40C-1F86CA66F309}" type="presOf" srcId="{051190FA-5549-48CD-9AB9-6669A000B90C}" destId="{21354398-3E18-4C9E-A525-3AF59F7A06C8}" srcOrd="0" destOrd="0" presId="urn:microsoft.com/office/officeart/2011/layout/CircleProcess"/>
    <dgm:cxn modelId="{CE57CC40-89EF-449C-93CE-8A8B8A51C356}" type="presOf" srcId="{33065C9C-D22C-4239-9183-76689765700B}" destId="{E68D9ED6-BC14-4A75-95D6-DB653A66EE8A}" srcOrd="0" destOrd="0" presId="urn:microsoft.com/office/officeart/2011/layout/CircleProcess"/>
    <dgm:cxn modelId="{FD6BA974-3B50-45E5-A605-ABBAC285F4A9}" type="presOf" srcId="{C5629BE6-1FFB-48C2-BEF0-792C4CF8AFF8}" destId="{A9E8836E-5A45-4A9E-9A1C-B24671BA768D}" srcOrd="1" destOrd="0" presId="urn:microsoft.com/office/officeart/2011/layout/CircleProcess"/>
    <dgm:cxn modelId="{E85E4378-E5C2-4001-939B-02E9F866A2D7}" srcId="{051190FA-5549-48CD-9AB9-6669A000B90C}" destId="{C02C2B76-D816-4706-BEE1-EE57D05E911A}" srcOrd="1" destOrd="0" parTransId="{E84564D6-62A1-4F4F-8C13-F6A7600D5138}" sibTransId="{B75F817A-20CB-4768-93CB-3FA43675B1DB}"/>
    <dgm:cxn modelId="{FE4789AB-13F3-4E45-8BF5-26ABD9E4585A}" type="presOf" srcId="{33065C9C-D22C-4239-9183-76689765700B}" destId="{695CFA77-3B44-494F-BDB1-EA8982FE7308}" srcOrd="1" destOrd="0" presId="urn:microsoft.com/office/officeart/2011/layout/CircleProcess"/>
    <dgm:cxn modelId="{CB26F1B0-27E6-4B5F-922C-59407B253906}" type="presOf" srcId="{C5629BE6-1FFB-48C2-BEF0-792C4CF8AFF8}" destId="{561DC65E-9690-4B9C-AF8F-A7C2E74F53CA}" srcOrd="0" destOrd="0" presId="urn:microsoft.com/office/officeart/2011/layout/CircleProcess"/>
    <dgm:cxn modelId="{EA6500C6-7E17-4339-9E85-E8398ADEB6BA}" type="presOf" srcId="{C02C2B76-D816-4706-BEE1-EE57D05E911A}" destId="{38AB547E-3C4A-4CF3-9562-C0509A9983A5}" srcOrd="0" destOrd="0" presId="urn:microsoft.com/office/officeart/2011/layout/CircleProcess"/>
    <dgm:cxn modelId="{4D9060F3-6531-4187-AFD1-831599D9B50B}" type="presOf" srcId="{C02C2B76-D816-4706-BEE1-EE57D05E911A}" destId="{C0A4D034-09A2-4339-A101-316AC76D3D69}" srcOrd="1" destOrd="0" presId="urn:microsoft.com/office/officeart/2011/layout/CircleProcess"/>
    <dgm:cxn modelId="{49283981-0A59-40D1-B8E9-C6403739FF40}" type="presParOf" srcId="{21354398-3E18-4C9E-A525-3AF59F7A06C8}" destId="{4A9ED09E-D8C3-4149-9B78-3C24704D29A1}" srcOrd="0" destOrd="0" presId="urn:microsoft.com/office/officeart/2011/layout/CircleProcess"/>
    <dgm:cxn modelId="{7F672A51-D440-42CD-82F8-F40B173DF3FF}" type="presParOf" srcId="{4A9ED09E-D8C3-4149-9B78-3C24704D29A1}" destId="{48C61341-C7EB-4B2B-9AA0-6FAAA74CC4B3}" srcOrd="0" destOrd="0" presId="urn:microsoft.com/office/officeart/2011/layout/CircleProcess"/>
    <dgm:cxn modelId="{DCB499E2-AEDB-423A-90A5-9513D3289F6B}" type="presParOf" srcId="{21354398-3E18-4C9E-A525-3AF59F7A06C8}" destId="{E77700F2-7465-4A66-B15A-B59343421060}" srcOrd="1" destOrd="0" presId="urn:microsoft.com/office/officeart/2011/layout/CircleProcess"/>
    <dgm:cxn modelId="{4935519E-79A2-4E3B-84A3-FB40FF6C1880}" type="presParOf" srcId="{E77700F2-7465-4A66-B15A-B59343421060}" destId="{E68D9ED6-BC14-4A75-95D6-DB653A66EE8A}" srcOrd="0" destOrd="0" presId="urn:microsoft.com/office/officeart/2011/layout/CircleProcess"/>
    <dgm:cxn modelId="{8B4B813F-A933-4695-B195-C3A53F46F03B}" type="presParOf" srcId="{21354398-3E18-4C9E-A525-3AF59F7A06C8}" destId="{695CFA77-3B44-494F-BDB1-EA8982FE7308}" srcOrd="2" destOrd="0" presId="urn:microsoft.com/office/officeart/2011/layout/CircleProcess"/>
    <dgm:cxn modelId="{BE82522B-24D4-4E45-8228-352A496CFE54}" type="presParOf" srcId="{21354398-3E18-4C9E-A525-3AF59F7A06C8}" destId="{0C7CC0F9-6D9D-4333-A7A2-C8F22E312371}" srcOrd="3" destOrd="0" presId="urn:microsoft.com/office/officeart/2011/layout/CircleProcess"/>
    <dgm:cxn modelId="{65A1CC26-0FD9-4CDB-A8E6-336A9B652C0A}" type="presParOf" srcId="{0C7CC0F9-6D9D-4333-A7A2-C8F22E312371}" destId="{C9110BDD-E00D-4077-9D13-0FC9A4C8843C}" srcOrd="0" destOrd="0" presId="urn:microsoft.com/office/officeart/2011/layout/CircleProcess"/>
    <dgm:cxn modelId="{5745011A-0683-4560-8C96-FBCB079A6C34}" type="presParOf" srcId="{21354398-3E18-4C9E-A525-3AF59F7A06C8}" destId="{02FCEB03-3829-4054-AEDB-6A6711B02D48}" srcOrd="4" destOrd="0" presId="urn:microsoft.com/office/officeart/2011/layout/CircleProcess"/>
    <dgm:cxn modelId="{74C7152E-D1F9-4216-9169-E23F7EA63ED8}" type="presParOf" srcId="{02FCEB03-3829-4054-AEDB-6A6711B02D48}" destId="{38AB547E-3C4A-4CF3-9562-C0509A9983A5}" srcOrd="0" destOrd="0" presId="urn:microsoft.com/office/officeart/2011/layout/CircleProcess"/>
    <dgm:cxn modelId="{DC9D5F4A-D2AD-4158-A082-DB02F3E91472}" type="presParOf" srcId="{21354398-3E18-4C9E-A525-3AF59F7A06C8}" destId="{C0A4D034-09A2-4339-A101-316AC76D3D69}" srcOrd="5" destOrd="0" presId="urn:microsoft.com/office/officeart/2011/layout/CircleProcess"/>
    <dgm:cxn modelId="{1DAE2A57-44B9-4A12-A0E9-864B94DB111C}" type="presParOf" srcId="{21354398-3E18-4C9E-A525-3AF59F7A06C8}" destId="{4511A920-B9AF-4540-8CB8-83387E6353DA}" srcOrd="6" destOrd="0" presId="urn:microsoft.com/office/officeart/2011/layout/CircleProcess"/>
    <dgm:cxn modelId="{96CB6EA5-884D-4F0A-A3A1-3DA9C35E5A7A}" type="presParOf" srcId="{4511A920-B9AF-4540-8CB8-83387E6353DA}" destId="{4089F7EE-A9DD-4066-B792-7F36600D4649}" srcOrd="0" destOrd="0" presId="urn:microsoft.com/office/officeart/2011/layout/CircleProcess"/>
    <dgm:cxn modelId="{586543D2-D673-42D8-9F48-1E31AD428E51}" type="presParOf" srcId="{21354398-3E18-4C9E-A525-3AF59F7A06C8}" destId="{CA905D40-4681-44D7-849E-AFCE10F4109B}" srcOrd="7" destOrd="0" presId="urn:microsoft.com/office/officeart/2011/layout/CircleProcess"/>
    <dgm:cxn modelId="{9EC0CD99-21F1-4B0F-8CFD-861675242058}" type="presParOf" srcId="{CA905D40-4681-44D7-849E-AFCE10F4109B}" destId="{561DC65E-9690-4B9C-AF8F-A7C2E74F53CA}" srcOrd="0" destOrd="0" presId="urn:microsoft.com/office/officeart/2011/layout/CircleProcess"/>
    <dgm:cxn modelId="{83C597D8-1ECC-41B9-8B6D-C1A0E8DCBEB9}" type="presParOf" srcId="{21354398-3E18-4C9E-A525-3AF59F7A06C8}" destId="{A9E8836E-5A45-4A9E-9A1C-B24671BA768D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C61341-C7EB-4B2B-9AA0-6FAAA74CC4B3}">
      <dsp:nvSpPr>
        <dsp:cNvPr id="0" name=""/>
        <dsp:cNvSpPr/>
      </dsp:nvSpPr>
      <dsp:spPr>
        <a:xfrm>
          <a:off x="5859719" y="1130766"/>
          <a:ext cx="2556112" cy="25565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D9ED6-BC14-4A75-95D6-DB653A66EE8A}">
      <dsp:nvSpPr>
        <dsp:cNvPr id="0" name=""/>
        <dsp:cNvSpPr/>
      </dsp:nvSpPr>
      <dsp:spPr>
        <a:xfrm>
          <a:off x="5944590" y="1216000"/>
          <a:ext cx="2386371" cy="238611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Alignment</a:t>
          </a:r>
        </a:p>
      </dsp:txBody>
      <dsp:txXfrm>
        <a:off x="6285738" y="1556938"/>
        <a:ext cx="1704075" cy="1704241"/>
      </dsp:txXfrm>
    </dsp:sp>
    <dsp:sp modelId="{C9110BDD-E00D-4077-9D13-0FC9A4C8843C}">
      <dsp:nvSpPr>
        <dsp:cNvPr id="0" name=""/>
        <dsp:cNvSpPr/>
      </dsp:nvSpPr>
      <dsp:spPr>
        <a:xfrm rot="2700000">
          <a:off x="3220981" y="1133856"/>
          <a:ext cx="2549956" cy="2549956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B547E-3C4A-4CF3-9562-C0509A9983A5}">
      <dsp:nvSpPr>
        <dsp:cNvPr id="0" name=""/>
        <dsp:cNvSpPr/>
      </dsp:nvSpPr>
      <dsp:spPr>
        <a:xfrm>
          <a:off x="3302774" y="1216000"/>
          <a:ext cx="2386371" cy="238611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Fine-Tuning </a:t>
          </a:r>
        </a:p>
      </dsp:txBody>
      <dsp:txXfrm>
        <a:off x="3643922" y="1556938"/>
        <a:ext cx="1704075" cy="1704241"/>
      </dsp:txXfrm>
    </dsp:sp>
    <dsp:sp modelId="{4089F7EE-A9DD-4066-B792-7F36600D4649}">
      <dsp:nvSpPr>
        <dsp:cNvPr id="0" name=""/>
        <dsp:cNvSpPr/>
      </dsp:nvSpPr>
      <dsp:spPr>
        <a:xfrm rot="2700000">
          <a:off x="579165" y="1133856"/>
          <a:ext cx="2549956" cy="2549956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DC65E-9690-4B9C-AF8F-A7C2E74F53CA}">
      <dsp:nvSpPr>
        <dsp:cNvPr id="0" name=""/>
        <dsp:cNvSpPr/>
      </dsp:nvSpPr>
      <dsp:spPr>
        <a:xfrm>
          <a:off x="660958" y="1216000"/>
          <a:ext cx="2386371" cy="238611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Pre-training</a:t>
          </a:r>
        </a:p>
      </dsp:txBody>
      <dsp:txXfrm>
        <a:off x="1002106" y="1556938"/>
        <a:ext cx="1704075" cy="17042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72402-DDD5-4AA4-B67D-84D287CD135A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3684B-A4BC-40E1-95BF-E6FD9523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4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9836" y="1096965"/>
            <a:ext cx="8567530" cy="2085696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>
                <a:solidFill>
                  <a:schemeClr val="accent5">
                    <a:lumMod val="50000"/>
                    <a:alpha val="6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D0C487A-D036-4525-9F6D-E5DCC81B692F}"/>
              </a:ext>
            </a:extLst>
          </p:cNvPr>
          <p:cNvSpPr txBox="1"/>
          <p:nvPr userDrawn="1"/>
        </p:nvSpPr>
        <p:spPr>
          <a:xfrm>
            <a:off x="1735490" y="849093"/>
            <a:ext cx="8406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Foundation of Large Language Models (FLLM)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455E08-B879-420B-A99D-356579E89058}"/>
              </a:ext>
            </a:extLst>
          </p:cNvPr>
          <p:cNvSpPr txBox="1"/>
          <p:nvPr userDrawn="1"/>
        </p:nvSpPr>
        <p:spPr>
          <a:xfrm>
            <a:off x="4948333" y="1384536"/>
            <a:ext cx="1417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AI60213</a:t>
            </a:r>
          </a:p>
        </p:txBody>
      </p:sp>
    </p:spTree>
    <p:extLst>
      <p:ext uri="{BB962C8B-B14F-4D97-AF65-F5344CB8AC3E}">
        <p14:creationId xmlns:p14="http://schemas.microsoft.com/office/powerpoint/2010/main" val="1088301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66" y="-204151"/>
            <a:ext cx="10545418" cy="1112836"/>
          </a:xfrm>
        </p:spPr>
        <p:txBody>
          <a:bodyPr>
            <a:normAutofit/>
          </a:bodyPr>
          <a:lstStyle>
            <a:lvl1pPr>
              <a:defRPr sz="48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66" y="1097280"/>
            <a:ext cx="10545418" cy="5180971"/>
          </a:xfrm>
        </p:spPr>
        <p:txBody>
          <a:bodyPr/>
          <a:lstStyle>
            <a:lvl1pPr marL="36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702900" indent="-342900">
              <a:buClr>
                <a:schemeClr val="tx1"/>
              </a:buClr>
              <a:buFont typeface="Courier New" panose="02070309020205020404" pitchFamily="49" charset="0"/>
              <a:buChar char="o"/>
              <a:defRPr sz="2400" i="0">
                <a:solidFill>
                  <a:schemeClr val="tx1"/>
                </a:solidFill>
              </a:defRPr>
            </a:lvl2pPr>
            <a:lvl3pPr marL="108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3pPr>
            <a:lvl4pPr marL="1422900" indent="-342900">
              <a:buClr>
                <a:schemeClr val="bg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4pPr>
            <a:lvl5pPr marL="1800000" indent="-360000"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B105E-D291-4F14-B83F-344D1A4D0A27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>
                <a:solidFill>
                  <a:srgbClr val="000000">
                    <a:alpha val="60000"/>
                  </a:srgbClr>
                </a:solidFill>
              </a:rPr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58E440-80E3-4674-868F-16E3FD812262}"/>
              </a:ext>
            </a:extLst>
          </p:cNvPr>
          <p:cNvCxnSpPr/>
          <p:nvPr userDrawn="1"/>
        </p:nvCxnSpPr>
        <p:spPr>
          <a:xfrm>
            <a:off x="932873" y="868045"/>
            <a:ext cx="5421745" cy="0"/>
          </a:xfrm>
          <a:prstGeom prst="line">
            <a:avLst/>
          </a:prstGeom>
          <a:ln w="317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940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537E9-86D0-44A7-A0ED-EDDA30C3C5AA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2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582D1-F736-4095-9778-F7BC872664AD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4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0BA-BCFA-461D-B1E4-75355B87CE53}" type="datetime1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9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250E-7243-49D9-9EE1-CDD7CEC3C9DC}" type="datetime1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4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31780-62A7-4065-B15C-16FEE64FCE05}" type="datetime1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6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FDD58-8592-4A6A-836D-0E35C354EDF7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49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BB06-1D41-4420-820F-B73A9A09BC28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924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980B-E693-4EA3-9046-65F1495C9307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9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A516-8344-4269-9CD2-8B76EF291C3B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1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BA4D4E7B-4493-4CEA-A8F8-D2AD2DCAE9DB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Indian Oil Training on AI and ML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66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Courier New" panose="02070309020205020404" pitchFamily="49" charset="0"/>
        <a:buChar char="o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§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3pPr>
      <a:lvl4pPr marL="1422900" indent="-3429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hyperlink" Target="https://arxiv.org/pdf/2503.06072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57210-9334-4A18-A6C0-80B658DD84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LLM Post-Training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5A4C8-F94D-4F5D-B4F9-508689224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Plaban Kumar Bhowmick</a:t>
            </a:r>
          </a:p>
          <a:p>
            <a:r>
              <a:rPr lang="en-IN" dirty="0"/>
              <a:t>Department of AI</a:t>
            </a:r>
          </a:p>
          <a:p>
            <a:r>
              <a:rPr lang="en-IN" dirty="0"/>
              <a:t>plaban@ai.iitkgp.ac.in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6D040-688E-4CDE-B3E0-268C6E0DA1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982800" y="6357600"/>
            <a:ext cx="1760150" cy="460800"/>
          </a:xfrm>
        </p:spPr>
        <p:txBody>
          <a:bodyPr/>
          <a:lstStyle/>
          <a:p>
            <a:fld id="{FF2BD96E-3838-45D2-9031-D3AF67C920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31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24400-99F5-404A-BCDA-AC42ECE4D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LLM Training Stages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126DB-A9A1-485A-9D3B-5C62020A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5DD348E-0A5D-451D-8E16-1A5BC3D033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4078563"/>
              </p:ext>
            </p:extLst>
          </p:nvPr>
        </p:nvGraphicFramePr>
        <p:xfrm>
          <a:off x="1711197" y="817817"/>
          <a:ext cx="8466885" cy="4817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Left Bracket 6">
            <a:extLst>
              <a:ext uri="{FF2B5EF4-FFF2-40B4-BE49-F238E27FC236}">
                <a16:creationId xmlns:a16="http://schemas.microsoft.com/office/drawing/2014/main" id="{0350AEF2-E5C7-4227-827B-99A91962B1C4}"/>
              </a:ext>
            </a:extLst>
          </p:cNvPr>
          <p:cNvSpPr/>
          <p:nvPr/>
        </p:nvSpPr>
        <p:spPr>
          <a:xfrm rot="16200000">
            <a:off x="7392683" y="2373870"/>
            <a:ext cx="308495" cy="4544965"/>
          </a:xfrm>
          <a:prstGeom prst="leftBracket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E6E2E3-449A-424B-8530-786C41AA87F1}"/>
              </a:ext>
            </a:extLst>
          </p:cNvPr>
          <p:cNvSpPr txBox="1"/>
          <p:nvPr/>
        </p:nvSpPr>
        <p:spPr>
          <a:xfrm>
            <a:off x="6691746" y="4831773"/>
            <a:ext cx="1518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Post-Training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388DEE-E3C5-481C-BF13-84AC658F7144}"/>
              </a:ext>
            </a:extLst>
          </p:cNvPr>
          <p:cNvSpPr txBox="1"/>
          <p:nvPr/>
        </p:nvSpPr>
        <p:spPr>
          <a:xfrm>
            <a:off x="2339678" y="6172934"/>
            <a:ext cx="7209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Tie et al., </a:t>
            </a:r>
            <a:r>
              <a:rPr lang="en-IN" dirty="0">
                <a:hlinkClick r:id="rId7"/>
              </a:rPr>
              <a:t>A survey on post-training of large language models</a:t>
            </a:r>
            <a:r>
              <a:rPr lang="en-IN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4220007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3AC76-C48C-43C3-96BF-6230297A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Post-Training Language Models (</a:t>
            </a:r>
            <a:r>
              <a:rPr lang="en-IN" dirty="0" err="1"/>
              <a:t>PoLMs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309D1-C43C-4796-89FC-2394CFA87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Fine-Tuning</a:t>
            </a:r>
          </a:p>
          <a:p>
            <a:pPr lvl="1"/>
            <a:r>
              <a:rPr lang="en-US" dirty="0"/>
              <a:t>Adjusts model parameters using labeled datasets or specific task data</a:t>
            </a:r>
          </a:p>
          <a:p>
            <a:r>
              <a:rPr lang="en-US" dirty="0"/>
              <a:t>Alignment</a:t>
            </a:r>
          </a:p>
          <a:p>
            <a:pPr lvl="1"/>
            <a:r>
              <a:rPr lang="en-US" dirty="0"/>
              <a:t>Optimizes models to better align with user preferences</a:t>
            </a:r>
          </a:p>
          <a:p>
            <a:r>
              <a:rPr lang="en-IN" dirty="0"/>
              <a:t>Knowledge Adaptation</a:t>
            </a:r>
          </a:p>
          <a:p>
            <a:pPr lvl="1"/>
            <a:r>
              <a:rPr lang="en-US" dirty="0"/>
              <a:t>Enables models to incorporate domain-specific knowledge</a:t>
            </a:r>
          </a:p>
          <a:p>
            <a:r>
              <a:rPr lang="en-IN" dirty="0"/>
              <a:t>Reasoning</a:t>
            </a:r>
          </a:p>
          <a:p>
            <a:pPr lvl="1"/>
            <a:r>
              <a:rPr lang="en-US" dirty="0"/>
              <a:t> Ability to make logical inferences and decision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E744A-0440-4B6F-B54E-078DBA6A1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55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1C5AD-9210-46CF-B082-64D8E9910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Evolution of </a:t>
            </a:r>
            <a:r>
              <a:rPr lang="en-IN" dirty="0" err="1"/>
              <a:t>PoLMs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317B3-83E8-4AC8-87D2-463B68331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1C017D-AD63-43DF-8122-A1DA43AC7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77" y="1677552"/>
            <a:ext cx="11502618" cy="350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00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728A-39E2-4E40-BF81-BD5FD6D68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PoLM</a:t>
            </a:r>
            <a:r>
              <a:rPr lang="en-IN" dirty="0"/>
              <a:t>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C75F5-05EC-4198-BB9C-8B4A52FA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0200D0-2E19-411C-B836-14326958C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57" y="1027801"/>
            <a:ext cx="11400829" cy="540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26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2DF6D-885F-422B-B140-BE1AE8792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Fine Tuning </a:t>
            </a:r>
            <a:r>
              <a:rPr lang="en-IN" dirty="0" err="1"/>
              <a:t>PoLMs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2402D-C80D-4CBD-AEDD-660572DCA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Supervised Fine-Tuning</a:t>
            </a:r>
          </a:p>
          <a:p>
            <a:r>
              <a:rPr lang="en-IN" dirty="0"/>
              <a:t>Adaptive Fine-Tuning</a:t>
            </a:r>
          </a:p>
          <a:p>
            <a:pPr lvl="1"/>
            <a:r>
              <a:rPr lang="en-IN" dirty="0"/>
              <a:t>Instruction Tuning</a:t>
            </a:r>
          </a:p>
          <a:p>
            <a:pPr lvl="1"/>
            <a:r>
              <a:rPr lang="en-IN" dirty="0"/>
              <a:t>Prompt Tuning</a:t>
            </a:r>
          </a:p>
          <a:p>
            <a:r>
              <a:rPr lang="en-IN" dirty="0"/>
              <a:t>Reinforcement Fine-Tuning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C5645-C1A1-4BCC-A075-757B3B8A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87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028CF-0804-43C7-8F63-580C21C77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Supervised Fine-Tuning (SFT)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EEE13-E585-44AE-87B3-5D26F458E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Require task specific annotated dataset</a:t>
            </a:r>
          </a:p>
          <a:p>
            <a:r>
              <a:rPr lang="en-IN" dirty="0"/>
              <a:t>Directly adjusts model parameters using annotated data</a:t>
            </a:r>
          </a:p>
          <a:p>
            <a:pPr lvl="1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67E4C-63DC-454C-BACA-6C94CE1A4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7DE43D-8CD2-4299-AC66-4766540E6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591" y="3330078"/>
            <a:ext cx="6606817" cy="133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227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83DE0-DB30-4529-B95B-9A9EA2948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Instruction Tuning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E6CD2-C1CB-4363-B3C5-B705728DE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AF6AFFE-B31E-4ED5-B53A-D7EDDCE31051}"/>
              </a:ext>
            </a:extLst>
          </p:cNvPr>
          <p:cNvSpPr/>
          <p:nvPr/>
        </p:nvSpPr>
        <p:spPr>
          <a:xfrm>
            <a:off x="1987827" y="1659834"/>
            <a:ext cx="1987826" cy="71561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Pre-Trained language model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A4FE31-F911-4566-B629-4C56EB94A239}"/>
              </a:ext>
            </a:extLst>
          </p:cNvPr>
          <p:cNvSpPr/>
          <p:nvPr/>
        </p:nvSpPr>
        <p:spPr>
          <a:xfrm>
            <a:off x="5004353" y="1659834"/>
            <a:ext cx="1987826" cy="71561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Fine tune on tasks B,C,D,….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CAE793-88B5-412B-BA23-6B170C529612}"/>
              </a:ext>
            </a:extLst>
          </p:cNvPr>
          <p:cNvSpPr/>
          <p:nvPr/>
        </p:nvSpPr>
        <p:spPr>
          <a:xfrm>
            <a:off x="8188189" y="1659834"/>
            <a:ext cx="1987826" cy="71561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Inference on task 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75638E-267A-47F4-8487-B4F64DBCF71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975653" y="2017643"/>
            <a:ext cx="1028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F77E0C-F559-42D4-B88B-F6BBFF95EE63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6992179" y="2017643"/>
            <a:ext cx="11960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B11506C-F243-44FA-84C7-2506DA351C8E}"/>
              </a:ext>
            </a:extLst>
          </p:cNvPr>
          <p:cNvSpPr txBox="1"/>
          <p:nvPr/>
        </p:nvSpPr>
        <p:spPr>
          <a:xfrm>
            <a:off x="1297777" y="2748914"/>
            <a:ext cx="6890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How to create dataset of instruction fine tuning?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4800DC-E652-461E-95D2-9FE1C3A8287D}"/>
              </a:ext>
            </a:extLst>
          </p:cNvPr>
          <p:cNvSpPr txBox="1"/>
          <p:nvPr/>
        </p:nvSpPr>
        <p:spPr>
          <a:xfrm>
            <a:off x="2196548" y="3429000"/>
            <a:ext cx="778625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Transforming existing NLP training datasets using prompt templates</a:t>
            </a:r>
          </a:p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Collecting human generated prompts and generate answers manually</a:t>
            </a:r>
          </a:p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Collecting human-generated prompts and generating answers using existing LLM</a:t>
            </a:r>
          </a:p>
        </p:txBody>
      </p:sp>
    </p:spTree>
    <p:extLst>
      <p:ext uri="{BB962C8B-B14F-4D97-AF65-F5344CB8AC3E}">
        <p14:creationId xmlns:p14="http://schemas.microsoft.com/office/powerpoint/2010/main" val="79222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05E36-AA88-4C06-B376-21B8BD79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Instruction Tuning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898FD-E3FF-43E5-8298-D5C8F3E1A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49C090-C90D-49B7-8B09-A5C43AAFBFDE}"/>
              </a:ext>
            </a:extLst>
          </p:cNvPr>
          <p:cNvSpPr txBox="1"/>
          <p:nvPr/>
        </p:nvSpPr>
        <p:spPr>
          <a:xfrm>
            <a:off x="2331447" y="908685"/>
            <a:ext cx="7363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Generating datasets from existing NLP benchmarks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132EF-F223-4298-A8D3-7675978280FE}"/>
              </a:ext>
            </a:extLst>
          </p:cNvPr>
          <p:cNvSpPr txBox="1"/>
          <p:nvPr/>
        </p:nvSpPr>
        <p:spPr>
          <a:xfrm>
            <a:off x="1174476" y="1883021"/>
            <a:ext cx="108518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"sentence": "A stirring, funny and finally transporting re-imagining of Beauty and the Beast.", "label": 1</a:t>
            </a:r>
          </a:p>
          <a:p>
            <a:r>
              <a:rPr lang="en-IN" dirty="0"/>
              <a:t>"sentence": "A visually flashy but narratively opaque and emotionally vapid exercise.", "label":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2F6444-9EE6-4C47-8C61-05BA6E3F467A}"/>
              </a:ext>
            </a:extLst>
          </p:cNvPr>
          <p:cNvSpPr txBox="1"/>
          <p:nvPr/>
        </p:nvSpPr>
        <p:spPr>
          <a:xfrm>
            <a:off x="1503289" y="2529352"/>
            <a:ext cx="96384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  "instruction": "Classify the sentiment of the given sentence as Positive or Negative.",</a:t>
            </a:r>
          </a:p>
          <a:p>
            <a:r>
              <a:rPr lang="en-IN" dirty="0"/>
              <a:t>  "input": "A stirring, funny and finally transporting re-imagining of Beauty and the Beast.",</a:t>
            </a:r>
          </a:p>
          <a:p>
            <a:r>
              <a:rPr lang="en-IN" dirty="0"/>
              <a:t>  "output": "Positive"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704412-8BE7-4A79-A3F7-DF592333DF8A}"/>
              </a:ext>
            </a:extLst>
          </p:cNvPr>
          <p:cNvSpPr txBox="1"/>
          <p:nvPr/>
        </p:nvSpPr>
        <p:spPr>
          <a:xfrm>
            <a:off x="1503289" y="3704812"/>
            <a:ext cx="100111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  "instruction": "Decide whether the sentiment expressed in the text is positive or negative.",</a:t>
            </a:r>
          </a:p>
          <a:p>
            <a:r>
              <a:rPr lang="en-IN" dirty="0"/>
              <a:t>  "input": "A visually flashy but narratively opaque and emotionally vapid exercise.",</a:t>
            </a:r>
          </a:p>
          <a:p>
            <a:r>
              <a:rPr lang="en-IN" dirty="0"/>
              <a:t>  "output": "Negative"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BC7207-6C47-449A-9BCE-B0B12DAFF85E}"/>
              </a:ext>
            </a:extLst>
          </p:cNvPr>
          <p:cNvSpPr txBox="1"/>
          <p:nvPr/>
        </p:nvSpPr>
        <p:spPr>
          <a:xfrm>
            <a:off x="1503289" y="4880272"/>
            <a:ext cx="98273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  "instruction": "Is the movie review written with a positive or a negative tone?",</a:t>
            </a:r>
          </a:p>
          <a:p>
            <a:r>
              <a:rPr lang="en-IN" dirty="0"/>
              <a:t>  "input": "The film drags on with no sense of direction or purpose.",</a:t>
            </a:r>
          </a:p>
          <a:p>
            <a:r>
              <a:rPr lang="en-IN" dirty="0"/>
              <a:t>  "output": "Negative"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4470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61D12-AB3D-4AD2-94F5-A892B8732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Instruction Tuning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9539C-C2D7-4EFE-8DCB-420E196E9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FLAN / FLAN-T5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99C9A-6ABC-4159-A42E-F08BED60D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10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3F3A0F9-15F8-40F2-944D-760D11A55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473" y="2000249"/>
            <a:ext cx="10341873" cy="3545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8614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68421-B48E-4EFD-BEC1-AD55EC19B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Instruction Tuning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6E13B-79B5-4CCA-A366-B4E20E17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Alpaca (Stanford): </a:t>
            </a:r>
            <a:r>
              <a:rPr lang="en-US" dirty="0"/>
              <a:t>response pairs generated by prompting GPT-3</a:t>
            </a:r>
            <a:r>
              <a:rPr lang="en-IN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FD60C-C5E7-4ABF-BFAB-B2DA21BB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82FDDC-0D7F-4213-893D-473FEDD71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11" y="2605585"/>
            <a:ext cx="10556123" cy="334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34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39732-C3AB-4B95-AF8D-D72BE6569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Parameter Efficient Fine-Tuning (PEFT)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D71E4-64D4-4BDC-BFAA-894C7A90B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Additive PEFT</a:t>
            </a:r>
          </a:p>
          <a:p>
            <a:pPr lvl="1"/>
            <a:r>
              <a:rPr lang="en-US" dirty="0"/>
              <a:t>introduces additional trainable components or parameters into the pre-existing model</a:t>
            </a:r>
            <a:endParaRPr lang="en-IN" dirty="0"/>
          </a:p>
          <a:p>
            <a:r>
              <a:rPr lang="en-IN" dirty="0" err="1"/>
              <a:t>Reparameterized</a:t>
            </a:r>
            <a:r>
              <a:rPr lang="en-IN" dirty="0"/>
              <a:t> PEFT</a:t>
            </a:r>
          </a:p>
          <a:p>
            <a:pPr lvl="1"/>
            <a:r>
              <a:rPr lang="en-US" dirty="0"/>
              <a:t>Restructures the model’s parameters during the training phase</a:t>
            </a:r>
          </a:p>
          <a:p>
            <a:pPr lvl="1"/>
            <a:r>
              <a:rPr lang="en-US" dirty="0"/>
              <a:t>Reverts to the original form for inference</a:t>
            </a:r>
          </a:p>
          <a:p>
            <a:r>
              <a:rPr lang="en-IN" dirty="0"/>
              <a:t>Selective PEFT</a:t>
            </a:r>
            <a:endParaRPr lang="en-US" dirty="0"/>
          </a:p>
          <a:p>
            <a:pPr lvl="1"/>
            <a:r>
              <a:rPr lang="en-US" dirty="0"/>
              <a:t>Optimizing a specific subset of the model’s parameters</a:t>
            </a:r>
          </a:p>
          <a:p>
            <a:r>
              <a:rPr lang="en-IN" dirty="0"/>
              <a:t>Quantization PEFT</a:t>
            </a:r>
          </a:p>
          <a:p>
            <a:pPr lvl="1"/>
            <a:r>
              <a:rPr lang="en-IN" dirty="0"/>
              <a:t>Quantization for efficiency</a:t>
            </a:r>
          </a:p>
          <a:p>
            <a:r>
              <a:rPr lang="en-IN" dirty="0"/>
              <a:t>Multi-task PEFT</a:t>
            </a:r>
          </a:p>
          <a:p>
            <a:pPr lvl="1"/>
            <a:r>
              <a:rPr lang="en-US" dirty="0"/>
              <a:t>Enhancing multi-task learning capabilities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9DA59-8336-4104-8445-F2595DC98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16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F1724-BA34-481B-A468-894A84D29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Adapter: General Setup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0472E-A919-4F62-83F5-19432CF02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13</a:t>
            </a:fld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347A473-BAE0-424F-AEA0-F2DA6A30FF79}"/>
              </a:ext>
            </a:extLst>
          </p:cNvPr>
          <p:cNvGrpSpPr/>
          <p:nvPr/>
        </p:nvGrpSpPr>
        <p:grpSpPr>
          <a:xfrm>
            <a:off x="795132" y="1333962"/>
            <a:ext cx="4999375" cy="5023638"/>
            <a:chOff x="795132" y="1333962"/>
            <a:chExt cx="4999375" cy="502363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D3F2B4F-D9B6-4442-BEF2-D5B1ECCED8E1}"/>
                </a:ext>
              </a:extLst>
            </p:cNvPr>
            <p:cNvSpPr/>
            <p:nvPr/>
          </p:nvSpPr>
          <p:spPr>
            <a:xfrm>
              <a:off x="854766" y="4303646"/>
              <a:ext cx="4899991" cy="59634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ED4492F-2911-4035-98B7-B4D00CB7213F}"/>
                </a:ext>
              </a:extLst>
            </p:cNvPr>
            <p:cNvSpPr/>
            <p:nvPr/>
          </p:nvSpPr>
          <p:spPr>
            <a:xfrm>
              <a:off x="795132" y="3126246"/>
              <a:ext cx="1381540" cy="596348"/>
            </a:xfrm>
            <a:prstGeom prst="roundRect">
              <a:avLst/>
            </a:prstGeom>
            <a:solidFill>
              <a:schemeClr val="accent5"/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Adapter Task1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B326DB9-731C-467B-85BB-F913A0CCE0D4}"/>
                </a:ext>
              </a:extLst>
            </p:cNvPr>
            <p:cNvSpPr/>
            <p:nvPr/>
          </p:nvSpPr>
          <p:spPr>
            <a:xfrm>
              <a:off x="4412967" y="3128537"/>
              <a:ext cx="1381540" cy="596348"/>
            </a:xfrm>
            <a:prstGeom prst="roundRect">
              <a:avLst/>
            </a:prstGeom>
            <a:solidFill>
              <a:schemeClr val="accent5"/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Adapter Task N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0CA0BC7-B4D6-4F1D-B6B5-0765CF786555}"/>
                </a:ext>
              </a:extLst>
            </p:cNvPr>
            <p:cNvSpPr/>
            <p:nvPr/>
          </p:nvSpPr>
          <p:spPr>
            <a:xfrm>
              <a:off x="1316939" y="1333962"/>
              <a:ext cx="3841470" cy="59634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Arrow: Up 9">
              <a:extLst>
                <a:ext uri="{FF2B5EF4-FFF2-40B4-BE49-F238E27FC236}">
                  <a16:creationId xmlns:a16="http://schemas.microsoft.com/office/drawing/2014/main" id="{F6527D1B-00EA-47E1-A4FE-336B96F16DDC}"/>
                </a:ext>
              </a:extLst>
            </p:cNvPr>
            <p:cNvSpPr/>
            <p:nvPr/>
          </p:nvSpPr>
          <p:spPr>
            <a:xfrm>
              <a:off x="3079469" y="3849761"/>
              <a:ext cx="397565" cy="467139"/>
            </a:xfrm>
            <a:prstGeom prst="upArrow">
              <a:avLst/>
            </a:prstGeom>
            <a:noFill/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6EE2DA3-31D3-45EC-8868-592D19BBAA61}"/>
                </a:ext>
              </a:extLst>
            </p:cNvPr>
            <p:cNvCxnSpPr>
              <a:cxnSpLocks/>
            </p:cNvCxnSpPr>
            <p:nvPr/>
          </p:nvCxnSpPr>
          <p:spPr>
            <a:xfrm>
              <a:off x="2237129" y="3434359"/>
              <a:ext cx="257592" cy="0"/>
            </a:xfrm>
            <a:prstGeom prst="line">
              <a:avLst/>
            </a:prstGeom>
            <a:ln w="2540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6A16EBC-49E2-41E4-BD06-D7A15F398DD8}"/>
                </a:ext>
              </a:extLst>
            </p:cNvPr>
            <p:cNvSpPr/>
            <p:nvPr/>
          </p:nvSpPr>
          <p:spPr>
            <a:xfrm>
              <a:off x="2744856" y="5256158"/>
              <a:ext cx="1144660" cy="5996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Task with task ID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2A28E4D-D2FD-4770-B215-E4E7EEE7648A}"/>
                </a:ext>
              </a:extLst>
            </p:cNvPr>
            <p:cNvSpPr/>
            <p:nvPr/>
          </p:nvSpPr>
          <p:spPr>
            <a:xfrm>
              <a:off x="2565953" y="3122476"/>
              <a:ext cx="1381540" cy="596348"/>
            </a:xfrm>
            <a:prstGeom prst="roundRect">
              <a:avLst/>
            </a:prstGeom>
            <a:solidFill>
              <a:schemeClr val="accent5"/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Adapter Task K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177373A-4AC1-4DAB-B26E-85D3AA8B9B00}"/>
                </a:ext>
              </a:extLst>
            </p:cNvPr>
            <p:cNvCxnSpPr>
              <a:cxnSpLocks/>
            </p:cNvCxnSpPr>
            <p:nvPr/>
          </p:nvCxnSpPr>
          <p:spPr>
            <a:xfrm>
              <a:off x="4044805" y="3434359"/>
              <a:ext cx="257592" cy="0"/>
            </a:xfrm>
            <a:prstGeom prst="line">
              <a:avLst/>
            </a:prstGeom>
            <a:ln w="2540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97BB03CF-F03B-4F4D-9862-6E3634DEFC28}"/>
                </a:ext>
              </a:extLst>
            </p:cNvPr>
            <p:cNvCxnSpPr>
              <a:stCxn id="27" idx="0"/>
              <a:endCxn id="8" idx="2"/>
            </p:cNvCxnSpPr>
            <p:nvPr/>
          </p:nvCxnSpPr>
          <p:spPr>
            <a:xfrm flipH="1" flipV="1">
              <a:off x="3237674" y="1930310"/>
              <a:ext cx="19049" cy="1192166"/>
            </a:xfrm>
            <a:prstGeom prst="straightConnector1">
              <a:avLst/>
            </a:prstGeom>
            <a:ln w="22225">
              <a:solidFill>
                <a:schemeClr val="accent1">
                  <a:lumMod val="75000"/>
                </a:schemeClr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66989ABF-DA9E-4FC0-B49E-4A928FF08ECA}"/>
                </a:ext>
              </a:extLst>
            </p:cNvPr>
            <p:cNvCxnSpPr>
              <a:cxnSpLocks/>
              <a:stCxn id="24" idx="0"/>
              <a:endCxn id="5" idx="2"/>
            </p:cNvCxnSpPr>
            <p:nvPr/>
          </p:nvCxnSpPr>
          <p:spPr>
            <a:xfrm flipH="1" flipV="1">
              <a:off x="3304762" y="4899994"/>
              <a:ext cx="12424" cy="356164"/>
            </a:xfrm>
            <a:prstGeom prst="straightConnector1">
              <a:avLst/>
            </a:prstGeom>
            <a:ln w="22225">
              <a:solidFill>
                <a:schemeClr val="accent1">
                  <a:lumMod val="75000"/>
                </a:schemeClr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66E3873-A1B1-41EB-BB82-6C95772A7262}"/>
                </a:ext>
              </a:extLst>
            </p:cNvPr>
            <p:cNvSpPr txBox="1"/>
            <p:nvPr/>
          </p:nvSpPr>
          <p:spPr>
            <a:xfrm>
              <a:off x="1729090" y="5957490"/>
              <a:ext cx="31761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>
                  <a:solidFill>
                    <a:srgbClr val="C00000"/>
                  </a:solidFill>
                </a:rPr>
                <a:t>Explicit Task Identification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2863FED-AB40-4ED4-8399-8DCBDCC10B9F}"/>
              </a:ext>
            </a:extLst>
          </p:cNvPr>
          <p:cNvGrpSpPr/>
          <p:nvPr/>
        </p:nvGrpSpPr>
        <p:grpSpPr>
          <a:xfrm>
            <a:off x="6301413" y="1350533"/>
            <a:ext cx="5098771" cy="5014725"/>
            <a:chOff x="6301413" y="1350533"/>
            <a:chExt cx="5098771" cy="5014725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FAD0F74-2C64-421D-955B-BEE31B54C8AE}"/>
                </a:ext>
              </a:extLst>
            </p:cNvPr>
            <p:cNvSpPr/>
            <p:nvPr/>
          </p:nvSpPr>
          <p:spPr>
            <a:xfrm>
              <a:off x="6500193" y="4320217"/>
              <a:ext cx="4899991" cy="59634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BDB0EA9F-6D5E-4A0F-AA07-D3B53A78D4FD}"/>
                </a:ext>
              </a:extLst>
            </p:cNvPr>
            <p:cNvSpPr/>
            <p:nvPr/>
          </p:nvSpPr>
          <p:spPr>
            <a:xfrm>
              <a:off x="6301413" y="3142817"/>
              <a:ext cx="1381540" cy="596348"/>
            </a:xfrm>
            <a:prstGeom prst="roundRect">
              <a:avLst/>
            </a:prstGeom>
            <a:solidFill>
              <a:schemeClr val="accent5"/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Adapter Task1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E38D5630-7B3F-4F79-A89F-E54A622AF16C}"/>
                </a:ext>
              </a:extLst>
            </p:cNvPr>
            <p:cNvSpPr/>
            <p:nvPr/>
          </p:nvSpPr>
          <p:spPr>
            <a:xfrm>
              <a:off x="9919248" y="3145108"/>
              <a:ext cx="1381540" cy="596348"/>
            </a:xfrm>
            <a:prstGeom prst="roundRect">
              <a:avLst/>
            </a:prstGeom>
            <a:solidFill>
              <a:schemeClr val="accent5"/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Adapter Task N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1C7B23C-6DE8-40D6-A24C-39B53434D5DC}"/>
                </a:ext>
              </a:extLst>
            </p:cNvPr>
            <p:cNvSpPr/>
            <p:nvPr/>
          </p:nvSpPr>
          <p:spPr>
            <a:xfrm>
              <a:off x="6833159" y="1350533"/>
              <a:ext cx="3841470" cy="59634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Arrow: Up 34">
              <a:extLst>
                <a:ext uri="{FF2B5EF4-FFF2-40B4-BE49-F238E27FC236}">
                  <a16:creationId xmlns:a16="http://schemas.microsoft.com/office/drawing/2014/main" id="{09305DEF-DF1E-4881-88E1-7FDC8D11BAB1}"/>
                </a:ext>
              </a:extLst>
            </p:cNvPr>
            <p:cNvSpPr/>
            <p:nvPr/>
          </p:nvSpPr>
          <p:spPr>
            <a:xfrm>
              <a:off x="6793398" y="3853078"/>
              <a:ext cx="397565" cy="467139"/>
            </a:xfrm>
            <a:prstGeom prst="upArrow">
              <a:avLst/>
            </a:prstGeom>
            <a:noFill/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Arrow: Up 35">
              <a:extLst>
                <a:ext uri="{FF2B5EF4-FFF2-40B4-BE49-F238E27FC236}">
                  <a16:creationId xmlns:a16="http://schemas.microsoft.com/office/drawing/2014/main" id="{8DB3B29B-E30C-4AC7-A17D-35AA424B9988}"/>
                </a:ext>
              </a:extLst>
            </p:cNvPr>
            <p:cNvSpPr/>
            <p:nvPr/>
          </p:nvSpPr>
          <p:spPr>
            <a:xfrm>
              <a:off x="8655325" y="3866332"/>
              <a:ext cx="397565" cy="467139"/>
            </a:xfrm>
            <a:prstGeom prst="upArrow">
              <a:avLst/>
            </a:prstGeom>
            <a:noFill/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Arrow: Up 36">
              <a:extLst>
                <a:ext uri="{FF2B5EF4-FFF2-40B4-BE49-F238E27FC236}">
                  <a16:creationId xmlns:a16="http://schemas.microsoft.com/office/drawing/2014/main" id="{DBFC0556-2015-4EB1-AF2E-55D7F171E277}"/>
                </a:ext>
              </a:extLst>
            </p:cNvPr>
            <p:cNvSpPr/>
            <p:nvPr/>
          </p:nvSpPr>
          <p:spPr>
            <a:xfrm>
              <a:off x="10457615" y="3849769"/>
              <a:ext cx="397565" cy="467139"/>
            </a:xfrm>
            <a:prstGeom prst="upArrow">
              <a:avLst/>
            </a:prstGeom>
            <a:noFill/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5DAC768-C0CE-42B3-BD94-359C5DA23E44}"/>
                </a:ext>
              </a:extLst>
            </p:cNvPr>
            <p:cNvCxnSpPr>
              <a:cxnSpLocks/>
            </p:cNvCxnSpPr>
            <p:nvPr/>
          </p:nvCxnSpPr>
          <p:spPr>
            <a:xfrm>
              <a:off x="7743410" y="3450930"/>
              <a:ext cx="257592" cy="0"/>
            </a:xfrm>
            <a:prstGeom prst="line">
              <a:avLst/>
            </a:prstGeom>
            <a:ln w="2540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785767E-A6E9-40E5-A7C6-8221D0189863}"/>
                </a:ext>
              </a:extLst>
            </p:cNvPr>
            <p:cNvCxnSpPr/>
            <p:nvPr/>
          </p:nvCxnSpPr>
          <p:spPr>
            <a:xfrm>
              <a:off x="9455428" y="4083338"/>
              <a:ext cx="646044" cy="0"/>
            </a:xfrm>
            <a:prstGeom prst="line">
              <a:avLst/>
            </a:prstGeom>
            <a:ln w="2540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Flowchart: Or 39">
              <a:extLst>
                <a:ext uri="{FF2B5EF4-FFF2-40B4-BE49-F238E27FC236}">
                  <a16:creationId xmlns:a16="http://schemas.microsoft.com/office/drawing/2014/main" id="{E311A3CC-2CAF-46BF-99DE-EC0DB66C9353}"/>
                </a:ext>
              </a:extLst>
            </p:cNvPr>
            <p:cNvSpPr/>
            <p:nvPr/>
          </p:nvSpPr>
          <p:spPr>
            <a:xfrm>
              <a:off x="8496296" y="2312513"/>
              <a:ext cx="521805" cy="521805"/>
            </a:xfrm>
            <a:prstGeom prst="flowChartOr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C36E0E7-A9B3-4FD8-AE45-512D80BE48B6}"/>
                </a:ext>
              </a:extLst>
            </p:cNvPr>
            <p:cNvCxnSpPr>
              <a:cxnSpLocks/>
              <a:stCxn id="32" idx="0"/>
              <a:endCxn id="40" idx="2"/>
            </p:cNvCxnSpPr>
            <p:nvPr/>
          </p:nvCxnSpPr>
          <p:spPr>
            <a:xfrm flipV="1">
              <a:off x="6992183" y="2573416"/>
              <a:ext cx="1504113" cy="56940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FD108AD-37DB-43EF-9620-BD5C7D478F64}"/>
                </a:ext>
              </a:extLst>
            </p:cNvPr>
            <p:cNvCxnSpPr>
              <a:stCxn id="33" idx="0"/>
              <a:endCxn id="40" idx="6"/>
            </p:cNvCxnSpPr>
            <p:nvPr/>
          </p:nvCxnSpPr>
          <p:spPr>
            <a:xfrm flipH="1" flipV="1">
              <a:off x="9018101" y="2573416"/>
              <a:ext cx="1591917" cy="57169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0199C38-3209-488B-A2EF-18423E36E482}"/>
                </a:ext>
              </a:extLst>
            </p:cNvPr>
            <p:cNvCxnSpPr>
              <a:cxnSpLocks/>
              <a:stCxn id="40" idx="0"/>
              <a:endCxn id="34" idx="2"/>
            </p:cNvCxnSpPr>
            <p:nvPr/>
          </p:nvCxnSpPr>
          <p:spPr>
            <a:xfrm flipH="1" flipV="1">
              <a:off x="8753894" y="1946881"/>
              <a:ext cx="3305" cy="3656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66DDA59-5BA9-4B1E-AB43-21BC826DF2BA}"/>
                </a:ext>
              </a:extLst>
            </p:cNvPr>
            <p:cNvSpPr/>
            <p:nvPr/>
          </p:nvSpPr>
          <p:spPr>
            <a:xfrm>
              <a:off x="8374549" y="5276039"/>
              <a:ext cx="1144660" cy="5996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Only Task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C397342-EFA9-49DE-838C-AC6FF359B52A}"/>
                </a:ext>
              </a:extLst>
            </p:cNvPr>
            <p:cNvSpPr/>
            <p:nvPr/>
          </p:nvSpPr>
          <p:spPr>
            <a:xfrm>
              <a:off x="8072234" y="3139047"/>
              <a:ext cx="1381540" cy="596348"/>
            </a:xfrm>
            <a:prstGeom prst="roundRect">
              <a:avLst/>
            </a:prstGeom>
            <a:solidFill>
              <a:schemeClr val="accent5"/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Adapter Task K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3ABF4FA-3F4E-41A0-8FD1-16B71EFE7AA4}"/>
                </a:ext>
              </a:extLst>
            </p:cNvPr>
            <p:cNvCxnSpPr>
              <a:cxnSpLocks/>
            </p:cNvCxnSpPr>
            <p:nvPr/>
          </p:nvCxnSpPr>
          <p:spPr>
            <a:xfrm>
              <a:off x="9551086" y="3450930"/>
              <a:ext cx="257592" cy="0"/>
            </a:xfrm>
            <a:prstGeom prst="line">
              <a:avLst/>
            </a:prstGeom>
            <a:ln w="2540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E7F4B32-5EF8-4294-8CBE-F74979337122}"/>
                </a:ext>
              </a:extLst>
            </p:cNvPr>
            <p:cNvCxnSpPr/>
            <p:nvPr/>
          </p:nvCxnSpPr>
          <p:spPr>
            <a:xfrm>
              <a:off x="7611723" y="4083338"/>
              <a:ext cx="646044" cy="0"/>
            </a:xfrm>
            <a:prstGeom prst="line">
              <a:avLst/>
            </a:prstGeom>
            <a:ln w="2540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985D6C22-792B-419B-B0D1-A9D57F470E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37764" y="4919874"/>
              <a:ext cx="12424" cy="356164"/>
            </a:xfrm>
            <a:prstGeom prst="straightConnector1">
              <a:avLst/>
            </a:prstGeom>
            <a:ln w="22225">
              <a:solidFill>
                <a:schemeClr val="accent1">
                  <a:lumMod val="75000"/>
                </a:schemeClr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D1EC499-6C77-40A4-ADA0-2B45C4E5A6CB}"/>
                </a:ext>
              </a:extLst>
            </p:cNvPr>
            <p:cNvSpPr txBox="1"/>
            <p:nvPr/>
          </p:nvSpPr>
          <p:spPr>
            <a:xfrm>
              <a:off x="8003925" y="5965148"/>
              <a:ext cx="197887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>
                  <a:solidFill>
                    <a:srgbClr val="C00000"/>
                  </a:solidFill>
                </a:rPr>
                <a:t>Adapter Fusion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137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3080A-AB00-440B-A7CB-4FF11C5B2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Adapter: General Setup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3003A-4154-48F5-B744-DF843B313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14</a:t>
            </a:fld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6A44BCA-1329-4604-A8B4-D9A56E6636F3}"/>
              </a:ext>
            </a:extLst>
          </p:cNvPr>
          <p:cNvGrpSpPr/>
          <p:nvPr/>
        </p:nvGrpSpPr>
        <p:grpSpPr>
          <a:xfrm>
            <a:off x="6441978" y="2174453"/>
            <a:ext cx="4899991" cy="4179838"/>
            <a:chOff x="6441978" y="2174453"/>
            <a:chExt cx="4899991" cy="4179838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682ABBD3-F2B9-411A-904E-2A1BFFE2A057}"/>
                </a:ext>
              </a:extLst>
            </p:cNvPr>
            <p:cNvSpPr/>
            <p:nvPr/>
          </p:nvSpPr>
          <p:spPr>
            <a:xfrm>
              <a:off x="6441978" y="4309250"/>
              <a:ext cx="4899991" cy="59634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654245B-8F0B-43D3-A417-FFDEE97E129C}"/>
                </a:ext>
              </a:extLst>
            </p:cNvPr>
            <p:cNvSpPr/>
            <p:nvPr/>
          </p:nvSpPr>
          <p:spPr>
            <a:xfrm>
              <a:off x="6874334" y="2174453"/>
              <a:ext cx="3841470" cy="59634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Arrow: Up 27">
              <a:extLst>
                <a:ext uri="{FF2B5EF4-FFF2-40B4-BE49-F238E27FC236}">
                  <a16:creationId xmlns:a16="http://schemas.microsoft.com/office/drawing/2014/main" id="{8659D74C-F4A5-4870-978B-EC4A9CA116F9}"/>
                </a:ext>
              </a:extLst>
            </p:cNvPr>
            <p:cNvSpPr/>
            <p:nvPr/>
          </p:nvSpPr>
          <p:spPr>
            <a:xfrm>
              <a:off x="6735183" y="3842111"/>
              <a:ext cx="397565" cy="467139"/>
            </a:xfrm>
            <a:prstGeom prst="upArrow">
              <a:avLst/>
            </a:prstGeom>
            <a:noFill/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Arrow: Up 28">
              <a:extLst>
                <a:ext uri="{FF2B5EF4-FFF2-40B4-BE49-F238E27FC236}">
                  <a16:creationId xmlns:a16="http://schemas.microsoft.com/office/drawing/2014/main" id="{643A70BD-0C19-4FAB-856A-0508F7AFF2BF}"/>
                </a:ext>
              </a:extLst>
            </p:cNvPr>
            <p:cNvSpPr/>
            <p:nvPr/>
          </p:nvSpPr>
          <p:spPr>
            <a:xfrm>
              <a:off x="8597110" y="3855365"/>
              <a:ext cx="397565" cy="467139"/>
            </a:xfrm>
            <a:prstGeom prst="upArrow">
              <a:avLst/>
            </a:prstGeom>
            <a:noFill/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Arrow: Up 29">
              <a:extLst>
                <a:ext uri="{FF2B5EF4-FFF2-40B4-BE49-F238E27FC236}">
                  <a16:creationId xmlns:a16="http://schemas.microsoft.com/office/drawing/2014/main" id="{29431906-48CA-420C-9435-B850FDD965E7}"/>
                </a:ext>
              </a:extLst>
            </p:cNvPr>
            <p:cNvSpPr/>
            <p:nvPr/>
          </p:nvSpPr>
          <p:spPr>
            <a:xfrm>
              <a:off x="10399400" y="3838802"/>
              <a:ext cx="397565" cy="467139"/>
            </a:xfrm>
            <a:prstGeom prst="upArrow">
              <a:avLst/>
            </a:prstGeom>
            <a:noFill/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66307F1-D3A0-4046-AC7B-2C1B4F6BDE5D}"/>
                </a:ext>
              </a:extLst>
            </p:cNvPr>
            <p:cNvCxnSpPr/>
            <p:nvPr/>
          </p:nvCxnSpPr>
          <p:spPr>
            <a:xfrm>
              <a:off x="9397213" y="4072371"/>
              <a:ext cx="646044" cy="0"/>
            </a:xfrm>
            <a:prstGeom prst="line">
              <a:avLst/>
            </a:prstGeom>
            <a:ln w="2540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5AFA427-9395-4961-A2AC-015D6615E9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85130" y="2770801"/>
              <a:ext cx="3305" cy="3656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129B4C2-88F1-4F91-8D08-0918F7E92968}"/>
                </a:ext>
              </a:extLst>
            </p:cNvPr>
            <p:cNvSpPr/>
            <p:nvPr/>
          </p:nvSpPr>
          <p:spPr>
            <a:xfrm>
              <a:off x="8316334" y="5265072"/>
              <a:ext cx="1144660" cy="5996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Only Task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299AAB2-BD36-4D9F-8C2D-07A77EC973D2}"/>
                </a:ext>
              </a:extLst>
            </p:cNvPr>
            <p:cNvSpPr/>
            <p:nvPr/>
          </p:nvSpPr>
          <p:spPr>
            <a:xfrm>
              <a:off x="6735184" y="3128080"/>
              <a:ext cx="4217738" cy="596348"/>
            </a:xfrm>
            <a:prstGeom prst="roundRect">
              <a:avLst/>
            </a:prstGeom>
            <a:solidFill>
              <a:schemeClr val="accent5"/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Adapter Task1, Task2, …, Task N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F9FA74C-BB9D-4240-8908-A4A96A87E7D2}"/>
                </a:ext>
              </a:extLst>
            </p:cNvPr>
            <p:cNvCxnSpPr/>
            <p:nvPr/>
          </p:nvCxnSpPr>
          <p:spPr>
            <a:xfrm>
              <a:off x="7553508" y="4072371"/>
              <a:ext cx="646044" cy="0"/>
            </a:xfrm>
            <a:prstGeom prst="line">
              <a:avLst/>
            </a:prstGeom>
            <a:ln w="2540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00CFC0D-69E9-487C-8DE7-F96BD74121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79549" y="4908907"/>
              <a:ext cx="12424" cy="356164"/>
            </a:xfrm>
            <a:prstGeom prst="straightConnector1">
              <a:avLst/>
            </a:prstGeom>
            <a:ln w="22225">
              <a:solidFill>
                <a:schemeClr val="accent1">
                  <a:lumMod val="75000"/>
                </a:schemeClr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987940D-BA4F-4759-AD8B-F07AEEDDB912}"/>
                </a:ext>
              </a:extLst>
            </p:cNvPr>
            <p:cNvSpPr txBox="1"/>
            <p:nvPr/>
          </p:nvSpPr>
          <p:spPr>
            <a:xfrm>
              <a:off x="7945710" y="5954181"/>
              <a:ext cx="23557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>
                  <a:solidFill>
                    <a:srgbClr val="C00000"/>
                  </a:solidFill>
                </a:rPr>
                <a:t>Multi-Task Adapter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E9B2AA6-CE70-4ADF-ADC8-934E2A154829}"/>
              </a:ext>
            </a:extLst>
          </p:cNvPr>
          <p:cNvGrpSpPr/>
          <p:nvPr/>
        </p:nvGrpSpPr>
        <p:grpSpPr>
          <a:xfrm>
            <a:off x="323020" y="1342875"/>
            <a:ext cx="5098771" cy="5014725"/>
            <a:chOff x="323020" y="1342875"/>
            <a:chExt cx="5098771" cy="501472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5BA64B9-B0FD-4CAC-9FE6-C717DF01874C}"/>
                </a:ext>
              </a:extLst>
            </p:cNvPr>
            <p:cNvSpPr/>
            <p:nvPr/>
          </p:nvSpPr>
          <p:spPr>
            <a:xfrm>
              <a:off x="521800" y="4312559"/>
              <a:ext cx="4899991" cy="59634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25103FB-9C2F-44CC-9604-9A9F6EBC2743}"/>
                </a:ext>
              </a:extLst>
            </p:cNvPr>
            <p:cNvSpPr/>
            <p:nvPr/>
          </p:nvSpPr>
          <p:spPr>
            <a:xfrm>
              <a:off x="323020" y="3135159"/>
              <a:ext cx="1381540" cy="596348"/>
            </a:xfrm>
            <a:prstGeom prst="roundRect">
              <a:avLst/>
            </a:prstGeom>
            <a:solidFill>
              <a:schemeClr val="accent5"/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Adapter Task1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37E3787-B0BD-4E72-BE7D-D73503BA4D40}"/>
                </a:ext>
              </a:extLst>
            </p:cNvPr>
            <p:cNvSpPr/>
            <p:nvPr/>
          </p:nvSpPr>
          <p:spPr>
            <a:xfrm>
              <a:off x="3940855" y="3137450"/>
              <a:ext cx="1381540" cy="596348"/>
            </a:xfrm>
            <a:prstGeom prst="roundRect">
              <a:avLst/>
            </a:prstGeom>
            <a:solidFill>
              <a:schemeClr val="accent5"/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Adapter Task N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967F20D-F9CC-42A0-BA4B-FADC38EAE915}"/>
                </a:ext>
              </a:extLst>
            </p:cNvPr>
            <p:cNvSpPr/>
            <p:nvPr/>
          </p:nvSpPr>
          <p:spPr>
            <a:xfrm>
              <a:off x="854766" y="1342875"/>
              <a:ext cx="3841470" cy="596348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Arrow: Up 8">
              <a:extLst>
                <a:ext uri="{FF2B5EF4-FFF2-40B4-BE49-F238E27FC236}">
                  <a16:creationId xmlns:a16="http://schemas.microsoft.com/office/drawing/2014/main" id="{402E8586-A64D-4DF5-99E9-B17926619E2E}"/>
                </a:ext>
              </a:extLst>
            </p:cNvPr>
            <p:cNvSpPr/>
            <p:nvPr/>
          </p:nvSpPr>
          <p:spPr>
            <a:xfrm>
              <a:off x="815005" y="3845420"/>
              <a:ext cx="397565" cy="467139"/>
            </a:xfrm>
            <a:prstGeom prst="upArrow">
              <a:avLst/>
            </a:prstGeom>
            <a:noFill/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Arrow: Up 9">
              <a:extLst>
                <a:ext uri="{FF2B5EF4-FFF2-40B4-BE49-F238E27FC236}">
                  <a16:creationId xmlns:a16="http://schemas.microsoft.com/office/drawing/2014/main" id="{C0237FA7-2BF6-44C8-86DB-48E2C21006DA}"/>
                </a:ext>
              </a:extLst>
            </p:cNvPr>
            <p:cNvSpPr/>
            <p:nvPr/>
          </p:nvSpPr>
          <p:spPr>
            <a:xfrm>
              <a:off x="2676932" y="3858674"/>
              <a:ext cx="397565" cy="467139"/>
            </a:xfrm>
            <a:prstGeom prst="upArrow">
              <a:avLst/>
            </a:prstGeom>
            <a:noFill/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Arrow: Up 10">
              <a:extLst>
                <a:ext uri="{FF2B5EF4-FFF2-40B4-BE49-F238E27FC236}">
                  <a16:creationId xmlns:a16="http://schemas.microsoft.com/office/drawing/2014/main" id="{54EF17B7-C156-49DE-89DE-AF16C78AB40A}"/>
                </a:ext>
              </a:extLst>
            </p:cNvPr>
            <p:cNvSpPr/>
            <p:nvPr/>
          </p:nvSpPr>
          <p:spPr>
            <a:xfrm>
              <a:off x="4479222" y="3842111"/>
              <a:ext cx="397565" cy="467139"/>
            </a:xfrm>
            <a:prstGeom prst="upArrow">
              <a:avLst/>
            </a:prstGeom>
            <a:noFill/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4E3C5FF-CD0E-44CE-97C6-983D9C474E9B}"/>
                </a:ext>
              </a:extLst>
            </p:cNvPr>
            <p:cNvCxnSpPr>
              <a:cxnSpLocks/>
            </p:cNvCxnSpPr>
            <p:nvPr/>
          </p:nvCxnSpPr>
          <p:spPr>
            <a:xfrm>
              <a:off x="1765017" y="3443272"/>
              <a:ext cx="257592" cy="0"/>
            </a:xfrm>
            <a:prstGeom prst="line">
              <a:avLst/>
            </a:prstGeom>
            <a:ln w="2540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68A40B-822C-4AC5-830A-BB30AE18DA4E}"/>
                </a:ext>
              </a:extLst>
            </p:cNvPr>
            <p:cNvCxnSpPr/>
            <p:nvPr/>
          </p:nvCxnSpPr>
          <p:spPr>
            <a:xfrm>
              <a:off x="3477035" y="4075680"/>
              <a:ext cx="646044" cy="0"/>
            </a:xfrm>
            <a:prstGeom prst="line">
              <a:avLst/>
            </a:prstGeom>
            <a:ln w="2540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EEF6D4D-4D0F-415C-BADD-ACDCD4BF35E0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1013790" y="2565758"/>
              <a:ext cx="1504113" cy="56940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4E75C09-8D52-4643-921B-A36840114E9C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H="1" flipV="1">
              <a:off x="3039708" y="2565758"/>
              <a:ext cx="1591917" cy="57169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4E85125-9007-4664-9335-BB456A4C1516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H="1" flipV="1">
              <a:off x="2775501" y="1939223"/>
              <a:ext cx="3305" cy="3656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3E039A-7307-4B12-B745-AF2631192A37}"/>
                </a:ext>
              </a:extLst>
            </p:cNvPr>
            <p:cNvSpPr/>
            <p:nvPr/>
          </p:nvSpPr>
          <p:spPr>
            <a:xfrm>
              <a:off x="2396156" y="5268381"/>
              <a:ext cx="1144660" cy="5996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Only Task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0C34B67-2BCD-45CF-AD14-C69C08A0022D}"/>
                </a:ext>
              </a:extLst>
            </p:cNvPr>
            <p:cNvSpPr/>
            <p:nvPr/>
          </p:nvSpPr>
          <p:spPr>
            <a:xfrm>
              <a:off x="2093841" y="3131389"/>
              <a:ext cx="1381540" cy="596348"/>
            </a:xfrm>
            <a:prstGeom prst="roundRect">
              <a:avLst/>
            </a:prstGeom>
            <a:solidFill>
              <a:schemeClr val="accent5"/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Adapter Task K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70F92D7-B088-4825-A988-F99C5BBE8EA3}"/>
                </a:ext>
              </a:extLst>
            </p:cNvPr>
            <p:cNvCxnSpPr>
              <a:cxnSpLocks/>
            </p:cNvCxnSpPr>
            <p:nvPr/>
          </p:nvCxnSpPr>
          <p:spPr>
            <a:xfrm>
              <a:off x="3572693" y="3443272"/>
              <a:ext cx="257592" cy="0"/>
            </a:xfrm>
            <a:prstGeom prst="line">
              <a:avLst/>
            </a:prstGeom>
            <a:ln w="25400">
              <a:solidFill>
                <a:schemeClr val="accent6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6AE2385-BBC1-410A-A71B-957983E339B0}"/>
                </a:ext>
              </a:extLst>
            </p:cNvPr>
            <p:cNvCxnSpPr/>
            <p:nvPr/>
          </p:nvCxnSpPr>
          <p:spPr>
            <a:xfrm>
              <a:off x="1633330" y="4075680"/>
              <a:ext cx="646044" cy="0"/>
            </a:xfrm>
            <a:prstGeom prst="line">
              <a:avLst/>
            </a:prstGeom>
            <a:ln w="2540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E0E643D-2938-4A02-8138-C415149272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9371" y="4912216"/>
              <a:ext cx="12424" cy="356164"/>
            </a:xfrm>
            <a:prstGeom prst="straightConnector1">
              <a:avLst/>
            </a:prstGeom>
            <a:ln w="22225">
              <a:solidFill>
                <a:schemeClr val="accent1">
                  <a:lumMod val="75000"/>
                </a:schemeClr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02FDC49-D9B3-4EC2-8E55-A2D211B3AB50}"/>
                </a:ext>
              </a:extLst>
            </p:cNvPr>
            <p:cNvSpPr txBox="1"/>
            <p:nvPr/>
          </p:nvSpPr>
          <p:spPr>
            <a:xfrm>
              <a:off x="2025532" y="5957490"/>
              <a:ext cx="21259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>
                  <a:solidFill>
                    <a:srgbClr val="C00000"/>
                  </a:solidFill>
                </a:rPr>
                <a:t>Adapter Routing</a:t>
              </a:r>
            </a:p>
          </p:txBody>
        </p:sp>
        <p:sp>
          <p:nvSpPr>
            <p:cNvPr id="44" name="Flowchart: Summing Junction 43">
              <a:extLst>
                <a:ext uri="{FF2B5EF4-FFF2-40B4-BE49-F238E27FC236}">
                  <a16:creationId xmlns:a16="http://schemas.microsoft.com/office/drawing/2014/main" id="{C4170B8D-5E48-47CC-A167-088882A1D96C}"/>
                </a:ext>
              </a:extLst>
            </p:cNvPr>
            <p:cNvSpPr/>
            <p:nvPr/>
          </p:nvSpPr>
          <p:spPr>
            <a:xfrm>
              <a:off x="2504659" y="2274919"/>
              <a:ext cx="521805" cy="521805"/>
            </a:xfrm>
            <a:prstGeom prst="flowChartSummingJunction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671774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27A8D-84AE-494F-8798-681F73CA2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Additive PEFT: Adapter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F5DFD-752F-409A-855F-779B578ED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4DD891-4457-4B89-B9CA-FA24FF46A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364" y="1642943"/>
            <a:ext cx="2514818" cy="37112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DF7FEA-64F4-4A6D-B0E6-E3ECD518D844}"/>
              </a:ext>
            </a:extLst>
          </p:cNvPr>
          <p:cNvSpPr txBox="1"/>
          <p:nvPr/>
        </p:nvSpPr>
        <p:spPr>
          <a:xfrm>
            <a:off x="934285" y="5486401"/>
            <a:ext cx="309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 general form of Adapter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49A3C1-3CC7-4B55-935E-882ADD15F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697" y="1519055"/>
            <a:ext cx="6408711" cy="441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859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5A90-3F3E-429B-BD9E-BA9F56DD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 Requirements of Adapters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51C811-3786-4F14-879E-50CD71FA59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A small no of parameters</a:t>
                </a:r>
              </a:p>
              <a:p>
                <a:pPr lvl="1"/>
                <a:r>
                  <a:rPr lang="en-US" dirty="0"/>
                  <a:t>Total model size grows relatively slowly when more tasks are added</a:t>
                </a:r>
                <a:endParaRPr lang="en-IN" dirty="0"/>
              </a:p>
              <a:p>
                <a:r>
                  <a:rPr lang="en-IN" dirty="0"/>
                  <a:t>A near-identity initialization</a:t>
                </a:r>
              </a:p>
              <a:p>
                <a:pPr lvl="1"/>
                <a:r>
                  <a:rPr lang="en-IN" dirty="0"/>
                  <a:t>Adapter block: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≈0, 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endParaRPr lang="en-IN" dirty="0"/>
              </a:p>
              <a:p>
                <a:pPr lvl="1"/>
                <a:r>
                  <a:rPr lang="en-US" dirty="0"/>
                  <a:t>Parameters of the projection layers are initialized to near-zero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51C811-3786-4F14-879E-50CD71FA59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045A4-895F-44DD-A9ED-5BDDAEE3D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1C93E-073B-4E6B-A412-48D226CC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2F67BC2-DC3E-4133-8A12-B18C79C02F56}"/>
              </a:ext>
            </a:extLst>
          </p:cNvPr>
          <p:cNvSpPr txBox="1">
            <a:spLocks/>
          </p:cNvSpPr>
          <p:nvPr/>
        </p:nvSpPr>
        <p:spPr>
          <a:xfrm>
            <a:off x="3806688" y="2693677"/>
            <a:ext cx="4721086" cy="11128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6000" dirty="0">
                <a:solidFill>
                  <a:srgbClr val="002060"/>
                </a:solidFill>
              </a:rPr>
              <a:t>Additive PEFT</a:t>
            </a:r>
          </a:p>
        </p:txBody>
      </p:sp>
    </p:spTree>
    <p:extLst>
      <p:ext uri="{BB962C8B-B14F-4D97-AF65-F5344CB8AC3E}">
        <p14:creationId xmlns:p14="http://schemas.microsoft.com/office/powerpoint/2010/main" val="398657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90CAD-A068-466F-92CD-FC11DA049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Sequential Adapters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59AC1-E067-47B6-B46B-0F18B19A4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26D740-C2AB-4878-B04B-FC43BD189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45" y="977868"/>
            <a:ext cx="7372685" cy="52807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E22412-FC9B-43D1-B6D2-311B156938EF}"/>
                  </a:ext>
                </a:extLst>
              </p:cNvPr>
              <p:cNvSpPr txBox="1"/>
              <p:nvPr/>
            </p:nvSpPr>
            <p:spPr>
              <a:xfrm>
                <a:off x="4855263" y="5262769"/>
                <a:ext cx="26462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IN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E22412-FC9B-43D1-B6D2-311B15693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263" y="5262769"/>
                <a:ext cx="264624" cy="369332"/>
              </a:xfrm>
              <a:prstGeom prst="rect">
                <a:avLst/>
              </a:prstGeom>
              <a:blipFill>
                <a:blip r:embed="rId3"/>
                <a:stretch>
                  <a:fillRect l="-27273" r="-20455" b="-81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663151-C6EA-44F3-966B-6E36689EE75C}"/>
                  </a:ext>
                </a:extLst>
              </p:cNvPr>
              <p:cNvSpPr txBox="1"/>
              <p:nvPr/>
            </p:nvSpPr>
            <p:spPr>
              <a:xfrm>
                <a:off x="5455406" y="3934238"/>
                <a:ext cx="3402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IN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663151-C6EA-44F3-966B-6E36689EE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406" y="3934238"/>
                <a:ext cx="340286" cy="369332"/>
              </a:xfrm>
              <a:prstGeom prst="rect">
                <a:avLst/>
              </a:prstGeom>
              <a:blipFill>
                <a:blip r:embed="rId4"/>
                <a:stretch>
                  <a:fillRect l="-12500" r="-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B8CA48D-38F0-452F-BF42-D897515DDD3E}"/>
                  </a:ext>
                </a:extLst>
              </p:cNvPr>
              <p:cNvSpPr txBox="1"/>
              <p:nvPr/>
            </p:nvSpPr>
            <p:spPr>
              <a:xfrm>
                <a:off x="4866443" y="1894187"/>
                <a:ext cx="26462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IN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B8CA48D-38F0-452F-BF42-D897515DD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443" y="1894187"/>
                <a:ext cx="264624" cy="369332"/>
              </a:xfrm>
              <a:prstGeom prst="rect">
                <a:avLst/>
              </a:prstGeom>
              <a:blipFill>
                <a:blip r:embed="rId5"/>
                <a:stretch>
                  <a:fillRect l="-27273" r="-20455" b="-1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5FD8C5-3D23-4592-80BD-92FC8C03B662}"/>
                  </a:ext>
                </a:extLst>
              </p:cNvPr>
              <p:cNvSpPr txBox="1"/>
              <p:nvPr/>
            </p:nvSpPr>
            <p:spPr>
              <a:xfrm>
                <a:off x="8517837" y="3248151"/>
                <a:ext cx="271338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Number of additional parameter per task: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𝑑𝑚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IN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5FD8C5-3D23-4592-80BD-92FC8C03B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7837" y="3248151"/>
                <a:ext cx="2713381" cy="1015663"/>
              </a:xfrm>
              <a:prstGeom prst="rect">
                <a:avLst/>
              </a:prstGeom>
              <a:blipFill>
                <a:blip r:embed="rId6"/>
                <a:stretch>
                  <a:fillRect l="-2247" t="-3012" r="-35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8498AF5-B6DD-46D7-984C-5850DA0DF858}"/>
              </a:ext>
            </a:extLst>
          </p:cNvPr>
          <p:cNvSpPr txBox="1"/>
          <p:nvPr/>
        </p:nvSpPr>
        <p:spPr>
          <a:xfrm>
            <a:off x="3243471" y="6357600"/>
            <a:ext cx="2421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Sequential Adapter</a:t>
            </a:r>
          </a:p>
        </p:txBody>
      </p:sp>
    </p:spTree>
    <p:extLst>
      <p:ext uri="{BB962C8B-B14F-4D97-AF65-F5344CB8AC3E}">
        <p14:creationId xmlns:p14="http://schemas.microsoft.com/office/powerpoint/2010/main" val="3481954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9C21D-A972-4C14-943E-C19CD895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Sequential Adapters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A618D-1E2D-429F-BE30-FCE046C51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80B52B-7001-4D0F-BDDC-739F521B9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43" y="2663123"/>
            <a:ext cx="11697714" cy="15317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590162C-AE25-4E6E-B777-EF8F9EF90D2C}"/>
              </a:ext>
            </a:extLst>
          </p:cNvPr>
          <p:cNvSpPr/>
          <p:nvPr/>
        </p:nvSpPr>
        <p:spPr>
          <a:xfrm>
            <a:off x="3140765" y="2662561"/>
            <a:ext cx="1152939" cy="1531753"/>
          </a:xfrm>
          <a:prstGeom prst="rect">
            <a:avLst/>
          </a:prstGeom>
          <a:solidFill>
            <a:srgbClr val="C00000">
              <a:alpha val="2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EAF9AD-74BE-432E-9017-6B51735A6AC1}"/>
              </a:ext>
            </a:extLst>
          </p:cNvPr>
          <p:cNvSpPr/>
          <p:nvPr/>
        </p:nvSpPr>
        <p:spPr>
          <a:xfrm>
            <a:off x="11330609" y="2662561"/>
            <a:ext cx="685205" cy="1531753"/>
          </a:xfrm>
          <a:prstGeom prst="rect">
            <a:avLst/>
          </a:prstGeom>
          <a:solidFill>
            <a:srgbClr val="C00000">
              <a:alpha val="2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22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7C4B5-B2CE-4485-9090-42565E47D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Residual Adapter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D54AE-CCD5-458E-AEB6-A3295DA13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5CF32E-A1AE-4FCB-BCCA-30EAF7E49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29" y="1189588"/>
            <a:ext cx="3784019" cy="4887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4D52C4-DC78-4DA5-A382-173575CBF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193" y="1967763"/>
            <a:ext cx="7753722" cy="29224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F734B6-9870-484D-AAFD-ABFDF358A669}"/>
              </a:ext>
            </a:extLst>
          </p:cNvPr>
          <p:cNvSpPr txBox="1"/>
          <p:nvPr/>
        </p:nvSpPr>
        <p:spPr>
          <a:xfrm>
            <a:off x="5185580" y="5180768"/>
            <a:ext cx="65573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task specific tokens used for QA to form task/segment embeddings –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["&lt;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bos_qa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&gt;", "&lt;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eos_qa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&gt;", "&lt;question&gt;", "&lt;answer&gt;", "&lt;document&gt;"]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DB225E-6CFD-47EF-B55F-42EC0057D53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74086" y="1353934"/>
            <a:ext cx="6180356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417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4AE73-5E1A-465E-A2C2-A621EBC39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Tiny-Attention Adapter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851B0-C14E-4579-8843-11557D3D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027EFD-CC90-4AC6-8C45-F5B6D7F00755}"/>
              </a:ext>
            </a:extLst>
          </p:cNvPr>
          <p:cNvSpPr txBox="1"/>
          <p:nvPr/>
        </p:nvSpPr>
        <p:spPr>
          <a:xfrm>
            <a:off x="1846278" y="1113182"/>
            <a:ext cx="8499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Adding context in the embedding computation in adapter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48ADFC-29C5-4DCC-B3AD-CF206E369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90" y="1937146"/>
            <a:ext cx="4734459" cy="45431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9AEDB0-B40D-41E1-8A7C-7593C5545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262" y="1995453"/>
            <a:ext cx="4287790" cy="438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80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C2AD9-B5B6-41A5-B0CF-06064F113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Tiny-Attention Adapter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ADC93-C3D1-4D5D-8759-E9A907A19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009125-A6BE-446A-9951-7E177AC7A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98" y="1478110"/>
            <a:ext cx="4974898" cy="42665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B028A0-C7DE-4A8F-A98C-553D955C8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458" y="1478110"/>
            <a:ext cx="4597533" cy="429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05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1C93E-073B-4E6B-A412-48D226CC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2F67BC2-DC3E-4133-8A12-B18C79C02F56}"/>
              </a:ext>
            </a:extLst>
          </p:cNvPr>
          <p:cNvSpPr txBox="1">
            <a:spLocks/>
          </p:cNvSpPr>
          <p:nvPr/>
        </p:nvSpPr>
        <p:spPr>
          <a:xfrm>
            <a:off x="3806688" y="2693677"/>
            <a:ext cx="4721086" cy="11128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6000" dirty="0">
                <a:solidFill>
                  <a:srgbClr val="002060"/>
                </a:solidFill>
              </a:rPr>
              <a:t>Soft Prompt</a:t>
            </a:r>
          </a:p>
        </p:txBody>
      </p:sp>
    </p:spTree>
    <p:extLst>
      <p:ext uri="{BB962C8B-B14F-4D97-AF65-F5344CB8AC3E}">
        <p14:creationId xmlns:p14="http://schemas.microsoft.com/office/powerpoint/2010/main" val="2412113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EE0EED-C39D-4562-98AD-BEA99614D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 Prompt as Continuous Prompt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8D4546-FA07-4F44-B0C1-07A751826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B425DB-2B3B-4D91-871C-CF5359272F66}"/>
              </a:ext>
            </a:extLst>
          </p:cNvPr>
          <p:cNvSpPr txBox="1"/>
          <p:nvPr/>
        </p:nvSpPr>
        <p:spPr>
          <a:xfrm>
            <a:off x="2619789" y="2315026"/>
            <a:ext cx="66236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Why do we need continuous prefix tuning?</a:t>
            </a:r>
            <a:endParaRPr lang="en-IN" sz="2400" dirty="0">
              <a:solidFill>
                <a:srgbClr val="0070C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D2E198-F112-4571-9B88-315F571D1F90}"/>
              </a:ext>
            </a:extLst>
          </p:cNvPr>
          <p:cNvSpPr txBox="1"/>
          <p:nvPr/>
        </p:nvSpPr>
        <p:spPr>
          <a:xfrm>
            <a:off x="854766" y="1121771"/>
            <a:ext cx="7879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Discrete Prompt: </a:t>
            </a:r>
            <a:r>
              <a:rPr lang="en-IN" sz="2400" dirty="0"/>
              <a:t>Sequence of real token embeddings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2599E1-2C60-453B-85F3-CC641EC72CFA}"/>
              </a:ext>
            </a:extLst>
          </p:cNvPr>
          <p:cNvSpPr txBox="1"/>
          <p:nvPr/>
        </p:nvSpPr>
        <p:spPr>
          <a:xfrm>
            <a:off x="864705" y="1640275"/>
            <a:ext cx="10181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Continuous Prompt:</a:t>
            </a:r>
            <a:r>
              <a:rPr lang="en-IN" sz="2400" dirty="0"/>
              <a:t> Sequence of virtual (trainable) token embeddings 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02367E-4249-475D-88A3-A2679CA182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78972" y="3065941"/>
            <a:ext cx="6964419" cy="23276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28D2D4D-4BCF-4E42-AC8D-7C53921EC724}"/>
              </a:ext>
            </a:extLst>
          </p:cNvPr>
          <p:cNvSpPr txBox="1"/>
          <p:nvPr/>
        </p:nvSpPr>
        <p:spPr>
          <a:xfrm>
            <a:off x="1474744" y="5895935"/>
            <a:ext cx="8961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Manual prompt: Performance greatly varies with small changes</a:t>
            </a:r>
          </a:p>
        </p:txBody>
      </p:sp>
    </p:spTree>
    <p:extLst>
      <p:ext uri="{BB962C8B-B14F-4D97-AF65-F5344CB8AC3E}">
        <p14:creationId xmlns:p14="http://schemas.microsoft.com/office/powerpoint/2010/main" val="39169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BB85-23B0-4182-AF5C-89178AB81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Soft-Prompt: Prefix-Tuning or Prompt Tuning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34179-3BA2-4AF2-BE6A-AEB79E6B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C252FE-D41E-46A6-94AC-B24EDBABE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693" y="1096193"/>
            <a:ext cx="7617959" cy="549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1154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FB754-4062-43F4-8FB8-565227F8F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Soft-Prompt: Prefix-Tuning or Prompt Tuning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C7698-5DA0-402A-99C9-9AE18FFDB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A9637A-6F78-47A5-9444-1C00CC623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1914"/>
            <a:ext cx="12037131" cy="424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9598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C0BC0-D4A9-4CFA-A380-8B9B0C3E2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Soft-Prompt: Prefix-Tuning or Prompt Tuning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D7DF1-DC3A-48A7-83EF-BF3157D10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27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6BF0A25-DB61-4D44-B500-1E850E038A2E}"/>
              </a:ext>
            </a:extLst>
          </p:cNvPr>
          <p:cNvGrpSpPr/>
          <p:nvPr/>
        </p:nvGrpSpPr>
        <p:grpSpPr>
          <a:xfrm>
            <a:off x="2006048" y="3657600"/>
            <a:ext cx="8179904" cy="1043609"/>
            <a:chOff x="1131405" y="3677478"/>
            <a:chExt cx="8179904" cy="10436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F512BE-623E-47CA-97C5-3A15198715E2}"/>
                </a:ext>
              </a:extLst>
            </p:cNvPr>
            <p:cNvSpPr/>
            <p:nvPr/>
          </p:nvSpPr>
          <p:spPr>
            <a:xfrm>
              <a:off x="1131405" y="3677478"/>
              <a:ext cx="8179904" cy="104360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83F28F0-49B5-4C07-9420-B43281FE59EE}"/>
                </a:ext>
              </a:extLst>
            </p:cNvPr>
            <p:cNvSpPr/>
            <p:nvPr/>
          </p:nvSpPr>
          <p:spPr>
            <a:xfrm>
              <a:off x="1411357" y="3856383"/>
              <a:ext cx="228600" cy="73549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BF242D9-C1D2-458B-AE28-A111AA40EAA7}"/>
                </a:ext>
              </a:extLst>
            </p:cNvPr>
            <p:cNvSpPr/>
            <p:nvPr/>
          </p:nvSpPr>
          <p:spPr>
            <a:xfrm>
              <a:off x="1883466" y="3856383"/>
              <a:ext cx="228600" cy="73549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272AE82-114C-44EF-90AA-022433E2FD49}"/>
                </a:ext>
              </a:extLst>
            </p:cNvPr>
            <p:cNvSpPr/>
            <p:nvPr/>
          </p:nvSpPr>
          <p:spPr>
            <a:xfrm>
              <a:off x="2408583" y="3856383"/>
              <a:ext cx="228600" cy="73549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B5756B8-83BA-48B1-982D-B2D790E362CA}"/>
                </a:ext>
              </a:extLst>
            </p:cNvPr>
            <p:cNvSpPr/>
            <p:nvPr/>
          </p:nvSpPr>
          <p:spPr>
            <a:xfrm>
              <a:off x="2880692" y="3856383"/>
              <a:ext cx="228600" cy="73549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4514D2E-7173-4B01-8291-892F24D687DA}"/>
                </a:ext>
              </a:extLst>
            </p:cNvPr>
            <p:cNvSpPr/>
            <p:nvPr/>
          </p:nvSpPr>
          <p:spPr>
            <a:xfrm>
              <a:off x="3422374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6FF8A29-5B44-4D4E-8F91-5C883E9F3A6A}"/>
                </a:ext>
              </a:extLst>
            </p:cNvPr>
            <p:cNvSpPr/>
            <p:nvPr/>
          </p:nvSpPr>
          <p:spPr>
            <a:xfrm>
              <a:off x="3894483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53148D1-6A47-42A1-A118-5A62CE007FCF}"/>
                </a:ext>
              </a:extLst>
            </p:cNvPr>
            <p:cNvSpPr/>
            <p:nvPr/>
          </p:nvSpPr>
          <p:spPr>
            <a:xfrm>
              <a:off x="4419600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872A12F-9789-4382-88A6-AAE6C76139A6}"/>
                </a:ext>
              </a:extLst>
            </p:cNvPr>
            <p:cNvSpPr/>
            <p:nvPr/>
          </p:nvSpPr>
          <p:spPr>
            <a:xfrm>
              <a:off x="4891709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D47D9F-8E37-4F71-A8F4-AB0ED59FBAE3}"/>
                </a:ext>
              </a:extLst>
            </p:cNvPr>
            <p:cNvSpPr/>
            <p:nvPr/>
          </p:nvSpPr>
          <p:spPr>
            <a:xfrm>
              <a:off x="5352223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88D180C-C045-42C1-A1F1-AACE09B1A49C}"/>
                </a:ext>
              </a:extLst>
            </p:cNvPr>
            <p:cNvSpPr/>
            <p:nvPr/>
          </p:nvSpPr>
          <p:spPr>
            <a:xfrm>
              <a:off x="5824332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D850A23-1478-41BD-812D-7B99C93D4593}"/>
                </a:ext>
              </a:extLst>
            </p:cNvPr>
            <p:cNvSpPr/>
            <p:nvPr/>
          </p:nvSpPr>
          <p:spPr>
            <a:xfrm>
              <a:off x="6349449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10B9FF9-A451-4DE1-A383-9483865677CE}"/>
                </a:ext>
              </a:extLst>
            </p:cNvPr>
            <p:cNvSpPr/>
            <p:nvPr/>
          </p:nvSpPr>
          <p:spPr>
            <a:xfrm>
              <a:off x="6821558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963800-56EF-4559-91E7-64D2BF02E54A}"/>
                </a:ext>
              </a:extLst>
            </p:cNvPr>
            <p:cNvSpPr/>
            <p:nvPr/>
          </p:nvSpPr>
          <p:spPr>
            <a:xfrm>
              <a:off x="7363240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1E7BED1-272F-433B-A4BC-BBF2CB8140C3}"/>
                </a:ext>
              </a:extLst>
            </p:cNvPr>
            <p:cNvSpPr/>
            <p:nvPr/>
          </p:nvSpPr>
          <p:spPr>
            <a:xfrm>
              <a:off x="7835349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2A18B45-9D31-4222-A2D3-F3C60B604E10}"/>
                </a:ext>
              </a:extLst>
            </p:cNvPr>
            <p:cNvSpPr/>
            <p:nvPr/>
          </p:nvSpPr>
          <p:spPr>
            <a:xfrm>
              <a:off x="8360466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9AA0A42-E9C1-4E60-83D4-C06A23F50AD2}"/>
                </a:ext>
              </a:extLst>
            </p:cNvPr>
            <p:cNvSpPr/>
            <p:nvPr/>
          </p:nvSpPr>
          <p:spPr>
            <a:xfrm>
              <a:off x="8832575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Flowchart: Manual Operation 22">
                <a:extLst>
                  <a:ext uri="{FF2B5EF4-FFF2-40B4-BE49-F238E27FC236}">
                    <a16:creationId xmlns:a16="http://schemas.microsoft.com/office/drawing/2014/main" id="{3C963329-35BA-451E-8D85-7F7900DE7AD6}"/>
                  </a:ext>
                </a:extLst>
              </p:cNvPr>
              <p:cNvSpPr/>
              <p:nvPr/>
            </p:nvSpPr>
            <p:spPr>
              <a:xfrm>
                <a:off x="2286000" y="2584174"/>
                <a:ext cx="1878495" cy="844826"/>
              </a:xfrm>
              <a:prstGeom prst="flowChartManualOperation">
                <a:avLst/>
              </a:prstGeom>
              <a:solidFill>
                <a:schemeClr val="accent5">
                  <a:lumMod val="75000"/>
                  <a:alpha val="56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3" name="Flowchart: Manual Operation 22">
                <a:extLst>
                  <a:ext uri="{FF2B5EF4-FFF2-40B4-BE49-F238E27FC236}">
                    <a16:creationId xmlns:a16="http://schemas.microsoft.com/office/drawing/2014/main" id="{3C963329-35BA-451E-8D85-7F7900DE7A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2584174"/>
                <a:ext cx="1878495" cy="844826"/>
              </a:xfrm>
              <a:prstGeom prst="flowChartManualOperation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576D2A32-6026-424C-9535-43AD7B37D714}"/>
              </a:ext>
            </a:extLst>
          </p:cNvPr>
          <p:cNvSpPr/>
          <p:nvPr/>
        </p:nvSpPr>
        <p:spPr>
          <a:xfrm>
            <a:off x="2186609" y="3756991"/>
            <a:ext cx="1958008" cy="914400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Up 24">
            <a:extLst>
              <a:ext uri="{FF2B5EF4-FFF2-40B4-BE49-F238E27FC236}">
                <a16:creationId xmlns:a16="http://schemas.microsoft.com/office/drawing/2014/main" id="{3524C515-7A4F-4A9B-AD87-9DD49B7CA1D8}"/>
              </a:ext>
            </a:extLst>
          </p:cNvPr>
          <p:cNvSpPr/>
          <p:nvPr/>
        </p:nvSpPr>
        <p:spPr>
          <a:xfrm>
            <a:off x="3054626" y="3429000"/>
            <a:ext cx="228600" cy="327991"/>
          </a:xfrm>
          <a:prstGeom prst="up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C710F1E-FD33-4C27-BD38-51F4BA7FEC29}"/>
              </a:ext>
            </a:extLst>
          </p:cNvPr>
          <p:cNvGrpSpPr/>
          <p:nvPr/>
        </p:nvGrpSpPr>
        <p:grpSpPr>
          <a:xfrm>
            <a:off x="2006048" y="1272209"/>
            <a:ext cx="8179904" cy="1043609"/>
            <a:chOff x="1131405" y="3677478"/>
            <a:chExt cx="8179904" cy="104360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A63A1F2-0D3C-4CF8-A5B4-B17822CC7371}"/>
                </a:ext>
              </a:extLst>
            </p:cNvPr>
            <p:cNvSpPr/>
            <p:nvPr/>
          </p:nvSpPr>
          <p:spPr>
            <a:xfrm>
              <a:off x="1131405" y="3677478"/>
              <a:ext cx="8179904" cy="104360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87628BD-E6F3-4E4A-BA5C-2EB9124ABDE3}"/>
                </a:ext>
              </a:extLst>
            </p:cNvPr>
            <p:cNvSpPr/>
            <p:nvPr/>
          </p:nvSpPr>
          <p:spPr>
            <a:xfrm>
              <a:off x="1411357" y="3856383"/>
              <a:ext cx="228600" cy="73549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6D2B9D5-26B0-4C9A-B1EF-44626A74F8BF}"/>
                </a:ext>
              </a:extLst>
            </p:cNvPr>
            <p:cNvSpPr/>
            <p:nvPr/>
          </p:nvSpPr>
          <p:spPr>
            <a:xfrm>
              <a:off x="1883466" y="3856383"/>
              <a:ext cx="228600" cy="73549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89EC301-6EEC-4DA6-B7F4-56F3A31BE531}"/>
                </a:ext>
              </a:extLst>
            </p:cNvPr>
            <p:cNvSpPr/>
            <p:nvPr/>
          </p:nvSpPr>
          <p:spPr>
            <a:xfrm>
              <a:off x="2408583" y="3856383"/>
              <a:ext cx="228600" cy="73549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2BBC155-89F7-48D8-9A4F-42DE5E9D48C9}"/>
                </a:ext>
              </a:extLst>
            </p:cNvPr>
            <p:cNvSpPr/>
            <p:nvPr/>
          </p:nvSpPr>
          <p:spPr>
            <a:xfrm>
              <a:off x="2880692" y="3856383"/>
              <a:ext cx="228600" cy="73549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4D60C7E-7FA5-473F-93C6-19A306548763}"/>
                </a:ext>
              </a:extLst>
            </p:cNvPr>
            <p:cNvSpPr/>
            <p:nvPr/>
          </p:nvSpPr>
          <p:spPr>
            <a:xfrm>
              <a:off x="3422374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12827D5-72E7-4452-B56D-E74AEF372B5C}"/>
                </a:ext>
              </a:extLst>
            </p:cNvPr>
            <p:cNvSpPr/>
            <p:nvPr/>
          </p:nvSpPr>
          <p:spPr>
            <a:xfrm>
              <a:off x="3894483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FB75A36-796D-42EA-A02F-A5C384456FBC}"/>
                </a:ext>
              </a:extLst>
            </p:cNvPr>
            <p:cNvSpPr/>
            <p:nvPr/>
          </p:nvSpPr>
          <p:spPr>
            <a:xfrm>
              <a:off x="4419600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958945B-5279-42D3-A8E4-85786DA132DA}"/>
                </a:ext>
              </a:extLst>
            </p:cNvPr>
            <p:cNvSpPr/>
            <p:nvPr/>
          </p:nvSpPr>
          <p:spPr>
            <a:xfrm>
              <a:off x="4891709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1624C9D-ECE0-4EE6-9249-A589CF6B8DC0}"/>
                </a:ext>
              </a:extLst>
            </p:cNvPr>
            <p:cNvSpPr/>
            <p:nvPr/>
          </p:nvSpPr>
          <p:spPr>
            <a:xfrm>
              <a:off x="5352223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0CD4772-4474-4D85-A72F-5B197835801B}"/>
                </a:ext>
              </a:extLst>
            </p:cNvPr>
            <p:cNvSpPr/>
            <p:nvPr/>
          </p:nvSpPr>
          <p:spPr>
            <a:xfrm>
              <a:off x="5824332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56DE9DC-303E-4AEF-92F7-BF6921CDFB0E}"/>
                </a:ext>
              </a:extLst>
            </p:cNvPr>
            <p:cNvSpPr/>
            <p:nvPr/>
          </p:nvSpPr>
          <p:spPr>
            <a:xfrm>
              <a:off x="6349449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7942203-2D5B-4840-81F7-ACAC2D567F08}"/>
                </a:ext>
              </a:extLst>
            </p:cNvPr>
            <p:cNvSpPr/>
            <p:nvPr/>
          </p:nvSpPr>
          <p:spPr>
            <a:xfrm>
              <a:off x="6821558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7F864CE-AC19-42CB-BD5C-7F64B1E59CF2}"/>
                </a:ext>
              </a:extLst>
            </p:cNvPr>
            <p:cNvSpPr/>
            <p:nvPr/>
          </p:nvSpPr>
          <p:spPr>
            <a:xfrm>
              <a:off x="7363240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4287F51-4173-4F66-81A9-53C7F7C2853E}"/>
                </a:ext>
              </a:extLst>
            </p:cNvPr>
            <p:cNvSpPr/>
            <p:nvPr/>
          </p:nvSpPr>
          <p:spPr>
            <a:xfrm>
              <a:off x="7835349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BBF2C28-EDB6-4C5C-B7F0-72EB46038C38}"/>
                </a:ext>
              </a:extLst>
            </p:cNvPr>
            <p:cNvSpPr/>
            <p:nvPr/>
          </p:nvSpPr>
          <p:spPr>
            <a:xfrm>
              <a:off x="8360466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9606D75-91C6-4898-BC99-739D3030CD72}"/>
                </a:ext>
              </a:extLst>
            </p:cNvPr>
            <p:cNvSpPr/>
            <p:nvPr/>
          </p:nvSpPr>
          <p:spPr>
            <a:xfrm>
              <a:off x="8832575" y="3856383"/>
              <a:ext cx="228600" cy="73549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A899F86-B745-4341-820E-7ECF85C9AA90}"/>
                  </a:ext>
                </a:extLst>
              </p:cNvPr>
              <p:cNvSpPr txBox="1"/>
              <p:nvPr/>
            </p:nvSpPr>
            <p:spPr>
              <a:xfrm>
                <a:off x="3589617" y="4709327"/>
                <a:ext cx="821700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A899F86-B745-4341-820E-7ECF85C9A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617" y="4709327"/>
                <a:ext cx="821700" cy="281937"/>
              </a:xfrm>
              <a:prstGeom prst="rect">
                <a:avLst/>
              </a:prstGeom>
              <a:blipFill>
                <a:blip r:embed="rId3"/>
                <a:stretch>
                  <a:fillRect l="-6667" t="-4348" r="-1481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A4A470E-8D55-494A-AE3A-ADA994B10FF7}"/>
                  </a:ext>
                </a:extLst>
              </p:cNvPr>
              <p:cNvSpPr txBox="1"/>
              <p:nvPr/>
            </p:nvSpPr>
            <p:spPr>
              <a:xfrm>
                <a:off x="2782666" y="960454"/>
                <a:ext cx="826893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A4A470E-8D55-494A-AE3A-ADA994B10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666" y="960454"/>
                <a:ext cx="826893" cy="281937"/>
              </a:xfrm>
              <a:prstGeom prst="rect">
                <a:avLst/>
              </a:prstGeom>
              <a:blipFill>
                <a:blip r:embed="rId4"/>
                <a:stretch>
                  <a:fillRect l="-6618" t="-4348" r="-1471" b="-19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DF426AD-5E07-4C8F-B978-5D6E524D3BF8}"/>
                  </a:ext>
                </a:extLst>
              </p:cNvPr>
              <p:cNvSpPr txBox="1"/>
              <p:nvPr/>
            </p:nvSpPr>
            <p:spPr>
              <a:xfrm>
                <a:off x="6516469" y="4750905"/>
                <a:ext cx="826893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DF426AD-5E07-4C8F-B978-5D6E524D3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469" y="4750905"/>
                <a:ext cx="826893" cy="281937"/>
              </a:xfrm>
              <a:prstGeom prst="rect">
                <a:avLst/>
              </a:prstGeom>
              <a:blipFill>
                <a:blip r:embed="rId5"/>
                <a:stretch>
                  <a:fillRect l="-6618" t="-2128" r="-1471" b="-191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676F8D7-8910-4282-B8EC-B1C44FFDB920}"/>
                  </a:ext>
                </a:extLst>
              </p:cNvPr>
              <p:cNvSpPr txBox="1"/>
              <p:nvPr/>
            </p:nvSpPr>
            <p:spPr>
              <a:xfrm>
                <a:off x="6289815" y="2353754"/>
                <a:ext cx="826893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676F8D7-8910-4282-B8EC-B1C44FFDB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815" y="2353754"/>
                <a:ext cx="826893" cy="281937"/>
              </a:xfrm>
              <a:prstGeom prst="rect">
                <a:avLst/>
              </a:prstGeom>
              <a:blipFill>
                <a:blip r:embed="rId6"/>
                <a:stretch>
                  <a:fillRect l="-6667" t="-2174" r="-2222" b="-217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Picture 50">
            <a:extLst>
              <a:ext uri="{FF2B5EF4-FFF2-40B4-BE49-F238E27FC236}">
                <a16:creationId xmlns:a16="http://schemas.microsoft.com/office/drawing/2014/main" id="{A34B62BF-2942-4319-8F61-7B142DBB5F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5833" y="5422039"/>
            <a:ext cx="4397121" cy="116596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42639545-AD9F-49C9-B029-973F12B4A5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9125" y="2937423"/>
            <a:ext cx="2276061" cy="2710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0BCC7D0-1C32-4B92-B423-3B4ED8284C56}"/>
                  </a:ext>
                </a:extLst>
              </p:cNvPr>
              <p:cNvSpPr txBox="1"/>
              <p:nvPr/>
            </p:nvSpPr>
            <p:spPr>
              <a:xfrm>
                <a:off x="2763044" y="4701209"/>
                <a:ext cx="724750" cy="2788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,:]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0BCC7D0-1C32-4B92-B423-3B4ED8284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044" y="4701209"/>
                <a:ext cx="724750" cy="278859"/>
              </a:xfrm>
              <a:prstGeom prst="rect">
                <a:avLst/>
              </a:prstGeom>
              <a:blipFill>
                <a:blip r:embed="rId9"/>
                <a:stretch>
                  <a:fillRect l="-6723" r="-11765" b="-391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3883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52B0C-93C9-48C3-83A6-D117A72F5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Soft-Prompt: Prefix-Tuning or Prompt Tuning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C75C4-F57F-45E6-8A80-33A5F897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C4DE4E-306D-4FDA-95EA-12E274AE6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77" y="1891441"/>
            <a:ext cx="5281118" cy="32540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7161BF-6855-4AA3-AE4C-F105DC4D2F3D}"/>
                  </a:ext>
                </a:extLst>
              </p:cNvPr>
              <p:cNvSpPr txBox="1"/>
              <p:nvPr/>
            </p:nvSpPr>
            <p:spPr>
              <a:xfrm>
                <a:off x="720586" y="5799483"/>
                <a:ext cx="45157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IN" dirty="0">
                    <a:sym typeface="Wingdings" panose="05000000000000000000" pitchFamily="2" charset="2"/>
                  </a:rPr>
                  <a:t> Prefix Key and Value representation</a:t>
                </a:r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7161BF-6855-4AA3-AE4C-F105DC4D2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586" y="5799483"/>
                <a:ext cx="4515788" cy="276999"/>
              </a:xfrm>
              <a:prstGeom prst="rect">
                <a:avLst/>
              </a:prstGeom>
              <a:blipFill>
                <a:blip r:embed="rId3"/>
                <a:stretch>
                  <a:fillRect l="-1754" t="-28261" r="-2699" b="-521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A986E18-8E97-4CF1-A6D8-BD5F3DEAC33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96000" y="1891441"/>
            <a:ext cx="5464013" cy="10059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163298-7284-4EC7-82D5-12AB970C2BA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07887" y="3096957"/>
            <a:ext cx="6081287" cy="17375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FF669DB-D970-4435-8825-A021C6A9A4F9}"/>
                  </a:ext>
                </a:extLst>
              </p:cNvPr>
              <p:cNvSpPr txBox="1"/>
              <p:nvPr/>
            </p:nvSpPr>
            <p:spPr>
              <a:xfrm>
                <a:off x="7546800" y="5288256"/>
                <a:ext cx="280346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IN" sz="2000" dirty="0"/>
                  <a:t>denotes concatenation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FF669DB-D970-4435-8825-A021C6A9A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800" y="5288256"/>
                <a:ext cx="2803460" cy="307777"/>
              </a:xfrm>
              <a:prstGeom prst="rect">
                <a:avLst/>
              </a:prstGeom>
              <a:blipFill>
                <a:blip r:embed="rId6"/>
                <a:stretch>
                  <a:fillRect l="-2826" t="-23529" r="-4783" b="-509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31813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F1DBD-EEF3-4445-B9A1-DEEE78671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Sparse Mixture of Prompts (</a:t>
            </a:r>
            <a:r>
              <a:rPr lang="en-IN" dirty="0" err="1"/>
              <a:t>SMoP</a:t>
            </a:r>
            <a:r>
              <a:rPr lang="en-IN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6F4FC-03D8-446C-8939-A99C5CDC9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BEEB0B-9729-4069-B630-5CD629B03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326" y="1224793"/>
            <a:ext cx="8817104" cy="468670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9040C1-6F66-462E-BDC4-1D025BC052EF}"/>
              </a:ext>
            </a:extLst>
          </p:cNvPr>
          <p:cNvSpPr/>
          <p:nvPr/>
        </p:nvSpPr>
        <p:spPr>
          <a:xfrm>
            <a:off x="1371600" y="3140765"/>
            <a:ext cx="4253948" cy="27707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3E3E7B0-EB96-46C6-ACB8-1279089A473D}"/>
              </a:ext>
            </a:extLst>
          </p:cNvPr>
          <p:cNvGrpSpPr/>
          <p:nvPr/>
        </p:nvGrpSpPr>
        <p:grpSpPr>
          <a:xfrm>
            <a:off x="5625548" y="3995522"/>
            <a:ext cx="2219739" cy="1173848"/>
            <a:chOff x="5625548" y="4082050"/>
            <a:chExt cx="2219739" cy="10873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2F9179E-42CE-4746-A3C6-7BE90A901B15}"/>
                </a:ext>
              </a:extLst>
            </p:cNvPr>
            <p:cNvSpPr/>
            <p:nvPr/>
          </p:nvSpPr>
          <p:spPr>
            <a:xfrm>
              <a:off x="5625548" y="4082050"/>
              <a:ext cx="2219739" cy="6735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6B44382-93EA-44B4-B336-98161CBA105B}"/>
                </a:ext>
              </a:extLst>
            </p:cNvPr>
            <p:cNvSpPr/>
            <p:nvPr/>
          </p:nvSpPr>
          <p:spPr>
            <a:xfrm>
              <a:off x="6331226" y="4731022"/>
              <a:ext cx="606288" cy="4383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A26C27C-319C-4974-8199-0FFBA39B535E}"/>
              </a:ext>
            </a:extLst>
          </p:cNvPr>
          <p:cNvGrpSpPr/>
          <p:nvPr/>
        </p:nvGrpSpPr>
        <p:grpSpPr>
          <a:xfrm>
            <a:off x="6115878" y="3072330"/>
            <a:ext cx="3634409" cy="1768027"/>
            <a:chOff x="6115878" y="3072330"/>
            <a:chExt cx="3634409" cy="176802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93BC677-F821-4813-8236-FBDEA2F3A0DD}"/>
                </a:ext>
              </a:extLst>
            </p:cNvPr>
            <p:cNvSpPr/>
            <p:nvPr/>
          </p:nvSpPr>
          <p:spPr>
            <a:xfrm>
              <a:off x="6115878" y="3072330"/>
              <a:ext cx="3634409" cy="9606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954108C-2860-459B-955C-F066EDD072CF}"/>
                </a:ext>
              </a:extLst>
            </p:cNvPr>
            <p:cNvSpPr/>
            <p:nvPr/>
          </p:nvSpPr>
          <p:spPr>
            <a:xfrm>
              <a:off x="7877869" y="3995531"/>
              <a:ext cx="606288" cy="844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36D17B73-DDD1-4E69-9C4A-985EC1E9D42A}"/>
              </a:ext>
            </a:extLst>
          </p:cNvPr>
          <p:cNvSpPr/>
          <p:nvPr/>
        </p:nvSpPr>
        <p:spPr>
          <a:xfrm>
            <a:off x="4403035" y="2524539"/>
            <a:ext cx="5227982" cy="552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CB65B6-58FC-497C-8678-0D473201DEF5}"/>
              </a:ext>
            </a:extLst>
          </p:cNvPr>
          <p:cNvSpPr/>
          <p:nvPr/>
        </p:nvSpPr>
        <p:spPr>
          <a:xfrm>
            <a:off x="6115877" y="1693878"/>
            <a:ext cx="1761991" cy="813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99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8749F-5DB7-4AF2-B7A1-5858221F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Sparse Mixture of Prompts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D8602-B997-4CE8-A0A2-47918946C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C7E241-5916-4E02-877B-25F0D7504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65" y="2144112"/>
            <a:ext cx="3138535" cy="25869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0AF4FB-612D-4B46-974C-4BED62BE7D2F}"/>
                  </a:ext>
                </a:extLst>
              </p:cNvPr>
              <p:cNvSpPr txBox="1"/>
              <p:nvPr/>
            </p:nvSpPr>
            <p:spPr>
              <a:xfrm>
                <a:off x="5387009" y="1570383"/>
                <a:ext cx="4140236" cy="4374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/>
                  <a:t>Router 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IN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0AF4FB-612D-4B46-974C-4BED62BE7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009" y="1570383"/>
                <a:ext cx="4140236" cy="437427"/>
              </a:xfrm>
              <a:prstGeom prst="rect">
                <a:avLst/>
              </a:prstGeom>
              <a:blipFill>
                <a:blip r:embed="rId3"/>
                <a:stretch>
                  <a:fillRect l="-1620" t="-4225" b="-211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44CF14-AC96-4C0C-BBBC-DD4B5793BF6D}"/>
                  </a:ext>
                </a:extLst>
              </p:cNvPr>
              <p:cNvSpPr txBox="1"/>
              <p:nvPr/>
            </p:nvSpPr>
            <p:spPr>
              <a:xfrm>
                <a:off x="5347253" y="1992286"/>
                <a:ext cx="34238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000" dirty="0">
                    <a:sym typeface="Wingdings" panose="05000000000000000000" pitchFamily="2" charset="2"/>
                  </a:rPr>
                  <a:t> No of soft prompt units</a:t>
                </a:r>
                <a:endParaRPr lang="en-IN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344CF14-AC96-4C0C-BBBC-DD4B5793B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253" y="1992286"/>
                <a:ext cx="3423822" cy="400110"/>
              </a:xfrm>
              <a:prstGeom prst="rect">
                <a:avLst/>
              </a:prstGeom>
              <a:blipFill>
                <a:blip r:embed="rId4"/>
                <a:stretch>
                  <a:fillRect t="-9231" r="-890" b="-292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6303A6-2605-4237-A0A5-B66D2D33A794}"/>
                  </a:ext>
                </a:extLst>
              </p:cNvPr>
              <p:cNvSpPr txBox="1"/>
              <p:nvPr/>
            </p:nvSpPr>
            <p:spPr>
              <a:xfrm>
                <a:off x="5337313" y="2480886"/>
                <a:ext cx="6304546" cy="428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sz="2000" dirty="0">
                    <a:sym typeface="Wingdings" panose="05000000000000000000" pitchFamily="2" charset="2"/>
                  </a:rPr>
                  <a:t> soft prompt embeddings of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000" dirty="0"/>
                  <a:t> units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6303A6-2605-4237-A0A5-B66D2D33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313" y="2480886"/>
                <a:ext cx="6304546" cy="428707"/>
              </a:xfrm>
              <a:prstGeom prst="rect">
                <a:avLst/>
              </a:prstGeom>
              <a:blipFill>
                <a:blip r:embed="rId5"/>
                <a:stretch>
                  <a:fillRect t="-8571" r="-97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17B17C-1D61-4187-955A-C061665AEC06}"/>
                  </a:ext>
                </a:extLst>
              </p:cNvPr>
              <p:cNvSpPr txBox="1"/>
              <p:nvPr/>
            </p:nvSpPr>
            <p:spPr>
              <a:xfrm>
                <a:off x="5330905" y="3008862"/>
                <a:ext cx="294317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IN" sz="20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sym typeface="Wingdings" panose="05000000000000000000" pitchFamily="2" charset="2"/>
                  </a:rPr>
                  <a:t> average of input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𝑋</m:t>
                    </m:r>
                  </m:oMath>
                </a14:m>
                <a:endParaRPr lang="en-IN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17B17C-1D61-4187-955A-C061665AE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905" y="3008862"/>
                <a:ext cx="2943178" cy="400110"/>
              </a:xfrm>
              <a:prstGeom prst="rect">
                <a:avLst/>
              </a:prstGeom>
              <a:blipFill>
                <a:blip r:embed="rId6"/>
                <a:stretch>
                  <a:fillRect t="-9231" b="-292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E9F3B8-7C80-4612-B689-1B7D2153830B}"/>
                  </a:ext>
                </a:extLst>
              </p:cNvPr>
              <p:cNvSpPr txBox="1"/>
              <p:nvPr/>
            </p:nvSpPr>
            <p:spPr>
              <a:xfrm>
                <a:off x="5387008" y="3480432"/>
                <a:ext cx="5676490" cy="5234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/>
                  <a:t>Routing probability: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𝑠𝑜𝑓𝑡𝑚𝑎𝑥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sub>
                            </m:s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</m:d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IN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E9F3B8-7C80-4612-B689-1B7D21538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008" y="3480432"/>
                <a:ext cx="5676490" cy="523477"/>
              </a:xfrm>
              <a:prstGeom prst="rect">
                <a:avLst/>
              </a:prstGeom>
              <a:blipFill>
                <a:blip r:embed="rId7"/>
                <a:stretch>
                  <a:fillRect l="-1182" t="-2326" b="-69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9F19D3-AB35-4BB3-89D3-800812533D81}"/>
                  </a:ext>
                </a:extLst>
              </p:cNvPr>
              <p:cNvSpPr txBox="1"/>
              <p:nvPr/>
            </p:nvSpPr>
            <p:spPr>
              <a:xfrm>
                <a:off x="5212830" y="3868421"/>
                <a:ext cx="29858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=1,2, …,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9F19D3-AB35-4BB3-89D3-800812533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830" y="3868421"/>
                <a:ext cx="2985872" cy="400110"/>
              </a:xfrm>
              <a:prstGeom prst="rect">
                <a:avLst/>
              </a:prstGeom>
              <a:blipFill>
                <a:blip r:embed="rId8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D2D587-9C4A-48B1-92DB-852C9F2F3811}"/>
                  </a:ext>
                </a:extLst>
              </p:cNvPr>
              <p:cNvSpPr txBox="1"/>
              <p:nvPr/>
            </p:nvSpPr>
            <p:spPr>
              <a:xfrm>
                <a:off x="5330905" y="4359774"/>
                <a:ext cx="4355231" cy="8947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/>
                  <a:t>Training Objective: </a:t>
                </a:r>
              </a:p>
              <a:p>
                <a:r>
                  <a:rPr lang="en-IN" sz="2000" b="0" dirty="0"/>
                  <a:t>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2000" b="0" i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a:rPr lang="en-IN" sz="20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IN" sz="20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|[</m:t>
                            </m:r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])</m:t>
                            </m:r>
                          </m:e>
                        </m:func>
                      </m:e>
                    </m:func>
                  </m:oMath>
                </a14:m>
                <a:endParaRPr lang="en-IN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D2D587-9C4A-48B1-92DB-852C9F2F3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905" y="4359774"/>
                <a:ext cx="4355231" cy="894797"/>
              </a:xfrm>
              <a:prstGeom prst="rect">
                <a:avLst/>
              </a:prstGeom>
              <a:blipFill>
                <a:blip r:embed="rId9"/>
                <a:stretch>
                  <a:fillRect l="-1399" t="-2721" b="-13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4BC0CB-21A7-4A6C-8F46-586F340477AC}"/>
                  </a:ext>
                </a:extLst>
              </p:cNvPr>
              <p:cNvSpPr txBox="1"/>
              <p:nvPr/>
            </p:nvSpPr>
            <p:spPr>
              <a:xfrm>
                <a:off x="5387008" y="5299206"/>
                <a:ext cx="4707571" cy="8556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dirty="0"/>
                  <a:t>Load balancing in router: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𝑠𝑜𝑓𝑡𝑚𝑎𝑥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∘(</m:t>
                              </m:r>
                              <m:acc>
                                <m:accPr>
                                  <m:chr m:val="⃗"/>
                                  <m:ctrlP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acc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d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E4BC0CB-21A7-4A6C-8F46-586F34047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008" y="5299206"/>
                <a:ext cx="4707571" cy="855619"/>
              </a:xfrm>
              <a:prstGeom prst="rect">
                <a:avLst/>
              </a:prstGeom>
              <a:blipFill>
                <a:blip r:embed="rId10"/>
                <a:stretch>
                  <a:fillRect l="-1425" t="-2837" b="-42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74394A-3131-4159-A656-68C93C69F05A}"/>
                  </a:ext>
                </a:extLst>
              </p:cNvPr>
              <p:cNvSpPr txBox="1"/>
              <p:nvPr/>
            </p:nvSpPr>
            <p:spPr>
              <a:xfrm>
                <a:off x="10094579" y="5727015"/>
                <a:ext cx="10840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74394A-3131-4159-A656-68C93C69F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4579" y="5727015"/>
                <a:ext cx="1084079" cy="276999"/>
              </a:xfrm>
              <a:prstGeom prst="rect">
                <a:avLst/>
              </a:prstGeom>
              <a:blipFill>
                <a:blip r:embed="rId11"/>
                <a:stretch>
                  <a:fillRect l="-5056" r="-7303" b="-347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C606B9-626D-4B73-9989-9F790B5AB365}"/>
                  </a:ext>
                </a:extLst>
              </p:cNvPr>
              <p:cNvSpPr txBox="1"/>
              <p:nvPr/>
            </p:nvSpPr>
            <p:spPr>
              <a:xfrm>
                <a:off x="3772405" y="2921979"/>
                <a:ext cx="21268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C606B9-626D-4B73-9989-9F790B5AB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2405" y="2921979"/>
                <a:ext cx="212686" cy="307777"/>
              </a:xfrm>
              <a:prstGeom prst="rect">
                <a:avLst/>
              </a:prstGeom>
              <a:blipFill>
                <a:blip r:embed="rId12"/>
                <a:stretch>
                  <a:fillRect l="-28571" r="-22857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Brace 4">
            <a:extLst>
              <a:ext uri="{FF2B5EF4-FFF2-40B4-BE49-F238E27FC236}">
                <a16:creationId xmlns:a16="http://schemas.microsoft.com/office/drawing/2014/main" id="{C84F21E3-9324-49F6-A337-CB8A14EAB685}"/>
              </a:ext>
            </a:extLst>
          </p:cNvPr>
          <p:cNvSpPr/>
          <p:nvPr/>
        </p:nvSpPr>
        <p:spPr>
          <a:xfrm rot="5400000">
            <a:off x="3352281" y="2489469"/>
            <a:ext cx="228602" cy="61164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89C0792-AFC6-45C3-B944-91F30492AE20}"/>
                  </a:ext>
                </a:extLst>
              </p:cNvPr>
              <p:cNvSpPr txBox="1"/>
              <p:nvPr/>
            </p:nvSpPr>
            <p:spPr>
              <a:xfrm>
                <a:off x="3404717" y="2396585"/>
                <a:ext cx="1540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89C0792-AFC6-45C3-B944-91F30492A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717" y="2396585"/>
                <a:ext cx="154017" cy="307777"/>
              </a:xfrm>
              <a:prstGeom prst="rect">
                <a:avLst/>
              </a:prstGeom>
              <a:blipFill>
                <a:blip r:embed="rId13"/>
                <a:stretch>
                  <a:fillRect l="-40000" r="-32000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64E9AD-9896-4663-9B55-0A01F14F61BE}"/>
                  </a:ext>
                </a:extLst>
              </p:cNvPr>
              <p:cNvSpPr txBox="1"/>
              <p:nvPr/>
            </p:nvSpPr>
            <p:spPr>
              <a:xfrm>
                <a:off x="2238570" y="4695243"/>
                <a:ext cx="37092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64E9AD-9896-4663-9B55-0A01F14F6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570" y="4695243"/>
                <a:ext cx="370924" cy="369332"/>
              </a:xfrm>
              <a:prstGeom prst="rect">
                <a:avLst/>
              </a:prstGeom>
              <a:blipFill>
                <a:blip r:embed="rId14"/>
                <a:stretch>
                  <a:fillRect r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A74A55E-B71A-41B1-8BEA-E39B3C5EF2BF}"/>
                  </a:ext>
                </a:extLst>
              </p:cNvPr>
              <p:cNvSpPr txBox="1"/>
              <p:nvPr/>
            </p:nvSpPr>
            <p:spPr>
              <a:xfrm>
                <a:off x="2832669" y="3949197"/>
                <a:ext cx="1452130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A74A55E-B71A-41B1-8BEA-E39B3C5EF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2669" y="3949197"/>
                <a:ext cx="1452130" cy="391646"/>
              </a:xfrm>
              <a:prstGeom prst="rect">
                <a:avLst/>
              </a:prstGeom>
              <a:blipFill>
                <a:blip r:embed="rId15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560D0C-8BBD-4989-B364-AD09B87F03C2}"/>
                  </a:ext>
                </a:extLst>
              </p:cNvPr>
              <p:cNvSpPr txBox="1"/>
              <p:nvPr/>
            </p:nvSpPr>
            <p:spPr>
              <a:xfrm>
                <a:off x="2832669" y="3284609"/>
                <a:ext cx="511600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I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560D0C-8BBD-4989-B364-AD09B87F0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2669" y="3284609"/>
                <a:ext cx="511600" cy="391646"/>
              </a:xfrm>
              <a:prstGeom prst="rect">
                <a:avLst/>
              </a:prstGeom>
              <a:blipFill>
                <a:blip r:embed="rId16"/>
                <a:stretch>
                  <a:fillRect r="-23810" b="-78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4725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3" grpId="0"/>
      <p:bldP spid="5" grpId="0" animBg="1"/>
      <p:bldP spid="17" grpId="0"/>
      <p:bldP spid="20" grpId="0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8B577-CEAD-4379-86A7-0F60CD9BD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Soft Prompt: Adaptive Prefix Tuning (APT)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16547-4F9B-4D04-846C-98ECE79AC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Length of prefix tokens (or the number of trainable parameters) is usually </a:t>
            </a:r>
            <a:r>
              <a:rPr lang="en-US" dirty="0">
                <a:solidFill>
                  <a:srgbClr val="C00000"/>
                </a:solidFill>
              </a:rPr>
              <a:t>the same </a:t>
            </a:r>
            <a:r>
              <a:rPr lang="en-US" dirty="0"/>
              <a:t>at each layer.</a:t>
            </a:r>
          </a:p>
          <a:p>
            <a:r>
              <a:rPr lang="en-US" dirty="0"/>
              <a:t>Bottom layers of the language model tend to capture </a:t>
            </a:r>
            <a:r>
              <a:rPr lang="en-US" dirty="0">
                <a:solidFill>
                  <a:srgbClr val="C00000"/>
                </a:solidFill>
              </a:rPr>
              <a:t>concrete and shallow phrase-level features</a:t>
            </a:r>
          </a:p>
          <a:p>
            <a:pPr lvl="1"/>
            <a:r>
              <a:rPr lang="en-US" dirty="0"/>
              <a:t>More information: Greater prefix length</a:t>
            </a:r>
          </a:p>
          <a:p>
            <a:r>
              <a:rPr lang="en-US" dirty="0"/>
              <a:t>Top layers concerns more with </a:t>
            </a:r>
            <a:r>
              <a:rPr lang="en-US" dirty="0">
                <a:solidFill>
                  <a:srgbClr val="C00000"/>
                </a:solidFill>
              </a:rPr>
              <a:t>abstract semantic information</a:t>
            </a:r>
          </a:p>
          <a:p>
            <a:pPr lvl="1"/>
            <a:r>
              <a:rPr lang="en-US" dirty="0"/>
              <a:t>Average information: Shorter prefix length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E2EF4-403E-4F47-97C0-0E96B69D2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1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20B6F-8DA1-42B3-B46B-1AF9FE0DF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Soft Prompt: Adaptive Prefix Tuning (APT)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7B1F9-E0B9-43C7-8EFC-DDCE949A29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Adaptive Prefix Tuning (APT) with an adaptive gate mechanism </a:t>
                </a:r>
              </a:p>
              <a:p>
                <a:pPr lvl="1"/>
                <a:r>
                  <a:rPr lang="en-US" dirty="0"/>
                  <a:t>Fine-grained </a:t>
                </a:r>
                <a:r>
                  <a:rPr lang="en-US" dirty="0">
                    <a:solidFill>
                      <a:srgbClr val="C00000"/>
                    </a:solidFill>
                  </a:rPr>
                  <a:t>token level</a:t>
                </a:r>
              </a:p>
              <a:p>
                <a:pPr lvl="1"/>
                <a:r>
                  <a:rPr lang="en-US" dirty="0"/>
                  <a:t>Coarse-grained </a:t>
                </a:r>
                <a:r>
                  <a:rPr lang="en-US" dirty="0">
                    <a:solidFill>
                      <a:srgbClr val="C00000"/>
                    </a:solidFill>
                  </a:rPr>
                  <a:t>layer level </a:t>
                </a:r>
                <a:endParaRPr lang="en-IN" dirty="0">
                  <a:solidFill>
                    <a:srgbClr val="C00000"/>
                  </a:solidFill>
                </a:endParaRPr>
              </a:p>
              <a:p>
                <a:r>
                  <a:rPr lang="en-US" dirty="0"/>
                  <a:t>APT scores each individual prefix token via </a:t>
                </a:r>
                <a:r>
                  <a:rPr lang="en-US" dirty="0">
                    <a:solidFill>
                      <a:srgbClr val="C00000"/>
                    </a:solidFill>
                  </a:rPr>
                  <a:t>gated weight assignment</a:t>
                </a:r>
              </a:p>
              <a:p>
                <a:r>
                  <a:rPr lang="en-US" dirty="0"/>
                  <a:t>APT models both fine grained token level computation (via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 and coarse grained layer level computation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7B1F9-E0B9-43C7-8EFC-DDCE949A29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 r="-751" b="-2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38248-6BBE-4516-BB5B-18742DCB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90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47F5-0894-4BEE-A6AE-6F346D4DA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Soft Prompt: Adaptive Prefix Tuning (APT)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5872B-6E7A-43C3-9A5E-3F1847348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7149FE-C9FC-4BBC-A134-010300B3B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14" y="1171669"/>
            <a:ext cx="10760372" cy="49229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B2F28E-6A73-41D9-9CEF-5508A4A8C6ED}"/>
              </a:ext>
            </a:extLst>
          </p:cNvPr>
          <p:cNvSpPr txBox="1"/>
          <p:nvPr/>
        </p:nvSpPr>
        <p:spPr>
          <a:xfrm>
            <a:off x="3170582" y="6172934"/>
            <a:ext cx="4259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Dynamic prefix prompt length in layers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E1AB4E-611B-418A-96A2-47C5DA7F1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467" y="6094616"/>
            <a:ext cx="3452159" cy="54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528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35C51-8F5E-4182-A792-8B3517793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APT: Fine-Grained Weighting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9B481D-D449-497E-AFD8-AD431F5DA3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Token-level gate can dictate on how many trainable parameters (i.e. </a:t>
                </a:r>
                <a:r>
                  <a:rPr lang="en-US" dirty="0">
                    <a:solidFill>
                      <a:srgbClr val="C00000"/>
                    </a:solidFill>
                  </a:rPr>
                  <a:t>pseudo tokens in prefix tuning</a:t>
                </a:r>
                <a:r>
                  <a:rPr lang="en-US" dirty="0"/>
                  <a:t>) are required for a layer</a:t>
                </a:r>
              </a:p>
              <a:p>
                <a:r>
                  <a:rPr lang="en-US" dirty="0"/>
                  <a:t>The gated weights at the </a:t>
                </a:r>
                <a:r>
                  <a:rPr lang="en-US" dirty="0" err="1"/>
                  <a:t>i-th</a:t>
                </a:r>
                <a:r>
                  <a:rPr lang="en-US" dirty="0"/>
                  <a:t> layer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𝜶</m:t>
                        </m:r>
                      </m:e>
                      <m:sub>
                        <m:r>
                          <a:rPr lang="en-IN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  <m:r>
                      <a:rPr lang="en-IN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IN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n-IN" i="1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IN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IN" i="1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𝑖𝑙</m:t>
                            </m:r>
                          </m:sub>
                        </m:sSub>
                      </m:e>
                    </m:d>
                  </m:oMath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𝜶</m:t>
                          </m:r>
                        </m:e>
                        <m:sub>
                          <m:r>
                            <a:rPr lang="en-IN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  <m:r>
                        <a:rPr lang="en-IN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IN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𝑠𝑖𝑔𝑚𝑜𝑖𝑑</m:t>
                      </m:r>
                      <m:r>
                        <a:rPr lang="en-IN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en-IN" b="1" i="1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𝒉</m:t>
                          </m:r>
                        </m:e>
                        <m:sub>
                          <m:r>
                            <a:rPr lang="en-IN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𝒊</m:t>
                          </m:r>
                          <m:r>
                            <a:rPr lang="en-IN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IN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IN" b="1" i="1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IN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𝑾</m:t>
                          </m:r>
                        </m:e>
                        <m:sub>
                          <m:r>
                            <a:rPr lang="en-IN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  <m:r>
                        <a:rPr lang="en-IN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9B481D-D449-497E-AFD8-AD431F5DA3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70334-100D-40DE-93BB-5BABF5C6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5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35C51-8F5E-4182-A792-8B3517793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APT: Coarse-Grained Weighting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9B481D-D449-497E-AFD8-AD431F5DA3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Coarse-level gate is used to balance the information brought from </a:t>
                </a:r>
                <a:r>
                  <a:rPr lang="en-US" dirty="0">
                    <a:solidFill>
                      <a:srgbClr val="C00000"/>
                    </a:solidFill>
                  </a:rPr>
                  <a:t>task-specific prefix tokens and original input tokens </a:t>
                </a:r>
                <a:r>
                  <a:rPr lang="en-US" dirty="0"/>
                  <a:t>by learning a layer-level weight. </a:t>
                </a:r>
              </a:p>
              <a:p>
                <a:r>
                  <a:rPr lang="en-IN" dirty="0"/>
                  <a:t>Keys-values pair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𝑖𝑣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N" dirty="0"/>
                  <a:t> derived from pseudo prefix tokens in </a:t>
                </a:r>
                <a:r>
                  <a:rPr lang="en-IN" dirty="0" err="1"/>
                  <a:t>i-th</a:t>
                </a:r>
                <a:r>
                  <a:rPr lang="en-IN" dirty="0"/>
                  <a:t> layer is updated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IN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N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𝜆</m:t>
                          </m:r>
                        </m:e>
                        <m:sub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IN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IN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𝜶</m:t>
                          </m:r>
                        </m:e>
                        <m:sub>
                          <m:r>
                            <a:rPr lang="en-IN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[</m:t>
                      </m:r>
                      <m:sSub>
                        <m:sSubPr>
                          <m:ctrlP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𝑖𝑘</m:t>
                          </m:r>
                        </m:sub>
                      </m:sSub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𝑖𝑣</m:t>
                          </m:r>
                        </m:sub>
                      </m:sSub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IN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9B481D-D449-497E-AFD8-AD431F5DA3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70334-100D-40DE-93BB-5BABF5C6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6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5981D-D936-4636-A855-24DE345B8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Prefix weight distribution learned by APT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E1712-2D7B-463E-B97E-4D3653171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F596D-6177-4748-97EE-E2C709F6A55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72471" y="1110864"/>
            <a:ext cx="7200696" cy="33971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90BF0B-26B5-4C9A-9B9D-3CAE95E6AB19}"/>
              </a:ext>
            </a:extLst>
          </p:cNvPr>
          <p:cNvSpPr txBox="1"/>
          <p:nvPr/>
        </p:nvSpPr>
        <p:spPr>
          <a:xfrm>
            <a:off x="2005220" y="4760700"/>
            <a:ext cx="95838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CoNLL04 is concerned with bottom layers in the language model which are regarded as phrase-level features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382438-DD77-40D5-9845-4ED828A0756B}"/>
              </a:ext>
            </a:extLst>
          </p:cNvPr>
          <p:cNvSpPr txBox="1"/>
          <p:nvPr/>
        </p:nvSpPr>
        <p:spPr>
          <a:xfrm>
            <a:off x="2005219" y="5784430"/>
            <a:ext cx="95838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COPA pays more attention to the higher layers, indicating semantic information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862309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3264F-B614-4845-BCD4-B50C6561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65" y="-204151"/>
            <a:ext cx="10793895" cy="1112836"/>
          </a:xfrm>
        </p:spPr>
        <p:txBody>
          <a:bodyPr>
            <a:normAutofit fontScale="90000"/>
          </a:bodyPr>
          <a:lstStyle/>
          <a:p>
            <a:r>
              <a:rPr lang="en-IN" dirty="0"/>
              <a:t>Instance-Dependent Prompt Generation (IDPG)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496D9-40DF-430C-B3BF-3A99CAA96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Soft-prompts leaned through prompt tuning are fixed for a given task</a:t>
            </a:r>
          </a:p>
          <a:p>
            <a:r>
              <a:rPr lang="en-US" dirty="0"/>
              <a:t>All inputs instances for a given task is prepended with the same soft prompt token embeddings</a:t>
            </a:r>
          </a:p>
          <a:p>
            <a:r>
              <a:rPr lang="en-US" dirty="0"/>
              <a:t>Does not align with the traditional LM objective</a:t>
            </a:r>
          </a:p>
          <a:p>
            <a:pPr lvl="1"/>
            <a:r>
              <a:rPr lang="en-US" dirty="0"/>
              <a:t>Unlikely to see many different sentences with the same prefix in the pre-training corpus</a:t>
            </a:r>
          </a:p>
          <a:p>
            <a:r>
              <a:rPr lang="en-US" dirty="0"/>
              <a:t>A unified prompt may disturb the prediction and lead to a performance drop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82FA5-8637-47D8-96C8-13A7A980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EFBBA2-D10D-4862-B9E3-4ABEC2CA15D4}"/>
              </a:ext>
            </a:extLst>
          </p:cNvPr>
          <p:cNvSpPr txBox="1"/>
          <p:nvPr/>
        </p:nvSpPr>
        <p:spPr>
          <a:xfrm>
            <a:off x="2107095" y="6278251"/>
            <a:ext cx="8984973" cy="495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600" spc="50" dirty="0">
                <a:solidFill>
                  <a:srgbClr val="0070C0"/>
                </a:solidFill>
              </a:rPr>
              <a:t>Can we generate input-dependent soft prompts?</a:t>
            </a:r>
          </a:p>
        </p:txBody>
      </p:sp>
    </p:spTree>
    <p:extLst>
      <p:ext uri="{BB962C8B-B14F-4D97-AF65-F5344CB8AC3E}">
        <p14:creationId xmlns:p14="http://schemas.microsoft.com/office/powerpoint/2010/main" val="113157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329EF-B938-4F64-85C9-57AD223DD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 Tuning: General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C6B40-BF4C-409E-BF9C-043B43F56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503449-EF31-4F6D-A28D-67E950D1B03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19804" y="908685"/>
            <a:ext cx="4171288" cy="28137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DC912F-FEA3-4FC6-A46C-DC448EAC3E5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670437" y="908684"/>
            <a:ext cx="3959218" cy="2520315"/>
          </a:xfrm>
          <a:prstGeom prst="rect">
            <a:avLst/>
          </a:prstGeom>
        </p:spPr>
      </p:pic>
      <p:sp>
        <p:nvSpPr>
          <p:cNvPr id="7" name="Text Box 15">
            <a:extLst>
              <a:ext uri="{FF2B5EF4-FFF2-40B4-BE49-F238E27FC236}">
                <a16:creationId xmlns:a16="http://schemas.microsoft.com/office/drawing/2014/main" id="{A80B836D-31C4-4E2B-B5AC-257AA722C329}"/>
              </a:ext>
            </a:extLst>
          </p:cNvPr>
          <p:cNvSpPr txBox="1"/>
          <p:nvPr/>
        </p:nvSpPr>
        <p:spPr>
          <a:xfrm>
            <a:off x="6342324" y="3386320"/>
            <a:ext cx="998220" cy="266700"/>
          </a:xfrm>
          <a:prstGeom prst="rect">
            <a:avLst/>
          </a:prstGeom>
          <a:solidFill>
            <a:schemeClr val="lt1">
              <a:alpha val="0"/>
            </a:schemeClr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 prompts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9A5C94-DF9D-42FE-A66F-650FCBDE3766}"/>
                  </a:ext>
                </a:extLst>
              </p:cNvPr>
              <p:cNvSpPr txBox="1"/>
              <p:nvPr/>
            </p:nvSpPr>
            <p:spPr>
              <a:xfrm>
                <a:off x="1397107" y="3851803"/>
                <a:ext cx="8879953" cy="10852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IN" sz="1800" kern="1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Let us consider a task </a:t>
                </a:r>
                <a14:m>
                  <m:oMath xmlns:m="http://schemas.openxmlformats.org/officeDocument/2006/math"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en-IN" sz="1800" kern="1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with training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𝒟</m:t>
                        </m:r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𝑡𝑟𝑎𝑖𝑛</m:t>
                        </m:r>
                      </m:sub>
                    </m:sSub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bSup>
                      <m:sSubSup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𝐾</m:t>
                        </m:r>
                      </m:sup>
                    </m:sSubSup>
                  </m:oMath>
                </a14:m>
                <a:r>
                  <a:rPr lang="en-IN" sz="1800" kern="1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The input is defined as</a:t>
                </a:r>
                <a:endParaRPr lang="en-IN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𝐸</m:t>
                    </m:r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d>
                      <m:dPr>
                        <m:begChr m:val="["/>
                        <m:endChr m:val="]"/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IN" sz="1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𝐶𝐿𝑆</m:t>
                        </m:r>
                      </m:e>
                    </m:d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𝑆𝐸𝑃</m:t>
                        </m:r>
                      </m:e>
                    </m:d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𝐸𝑂𝑆</m:t>
                    </m:r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])</m:t>
                    </m:r>
                  </m:oMath>
                </a14:m>
                <a:r>
                  <a:rPr lang="en-IN" sz="1800" kern="1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for sentence-pair task or</a:t>
                </a:r>
                <a:endParaRPr lang="en-IN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07000"/>
                  </a:lnSpc>
                  <a:spcAft>
                    <a:spcPts val="800"/>
                  </a:spcAft>
                  <a:buFont typeface="Symbol" panose="05050102010706020507" pitchFamily="18" charset="2"/>
                  <a:buChar char="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𝐸</m:t>
                    </m:r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</m:t>
                    </m:r>
                    <m:d>
                      <m:dPr>
                        <m:begChr m:val="["/>
                        <m:endChr m:val="]"/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IN" sz="1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𝐶𝐿𝑆</m:t>
                        </m:r>
                      </m:e>
                    </m:d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𝐸𝑂𝑆</m:t>
                    </m:r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])</m:t>
                    </m:r>
                  </m:oMath>
                </a14:m>
                <a:r>
                  <a:rPr lang="en-IN" sz="1800" kern="1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for single sentence task. </a:t>
                </a:r>
                <a:endParaRPr lang="en-IN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9A5C94-DF9D-42FE-A66F-650FCBDE3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107" y="3851803"/>
                <a:ext cx="8879953" cy="1085297"/>
              </a:xfrm>
              <a:prstGeom prst="rect">
                <a:avLst/>
              </a:prstGeom>
              <a:blipFill>
                <a:blip r:embed="rId4"/>
                <a:stretch>
                  <a:fillRect l="-549" t="-2247" r="-412" b="-78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0F698A4-062A-4EC5-90C1-8874E4E2A2D5}"/>
                  </a:ext>
                </a:extLst>
              </p:cNvPr>
              <p:cNvSpPr txBox="1"/>
              <p:nvPr/>
            </p:nvSpPr>
            <p:spPr>
              <a:xfrm>
                <a:off x="1417983" y="4968760"/>
                <a:ext cx="8879953" cy="16968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IN" sz="1800" kern="1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Task-specific prompt:</a:t>
                </a:r>
                <a:endParaRPr lang="en-IN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</m:d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∈</m:t>
                    </m:r>
                    <m:sSup>
                      <m:sSup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×</m:t>
                        </m:r>
                        <m:r>
                          <a:rPr lang="en-IN" sz="18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IN" sz="1800" kern="1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N" sz="1800" kern="1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the number of soft-prompt token representations and </a:t>
                </a:r>
                <a14:m>
                  <m:oMath xmlns:m="http://schemas.openxmlformats.org/officeDocument/2006/math"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𝑑</m:t>
                    </m:r>
                  </m:oMath>
                </a14:m>
                <a:r>
                  <a:rPr lang="en-IN" sz="1800" kern="1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the hidden dimension. </a:t>
                </a:r>
                <a:endParaRPr lang="en-IN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07000"/>
                  </a:lnSpc>
                  <a:spcAft>
                    <a:spcPts val="800"/>
                  </a:spcAft>
                  <a:buFont typeface="Symbol" panose="05050102010706020507" pitchFamily="18" charset="2"/>
                  <a:buChar char=""/>
                </a:pPr>
                <a:r>
                  <a:rPr lang="en-IN" sz="1800" kern="1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Please note that </a:t>
                </a:r>
                <a14:m>
                  <m:oMath xmlns:m="http://schemas.openxmlformats.org/officeDocument/2006/math"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en-IN" sz="1800" kern="1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was not explicitly mentioned in the specification of soft-prompts in the methods discussed earlier. </a:t>
                </a:r>
                <a:endParaRPr lang="en-IN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0F698A4-062A-4EC5-90C1-8874E4E2A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983" y="4968760"/>
                <a:ext cx="8879953" cy="1696811"/>
              </a:xfrm>
              <a:prstGeom prst="rect">
                <a:avLst/>
              </a:prstGeom>
              <a:blipFill>
                <a:blip r:embed="rId5"/>
                <a:stretch>
                  <a:fillRect l="-618" t="-1799" r="-1168" b="-46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354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EB54-FC6E-4F5D-A53E-A18BB7838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66" y="-204151"/>
            <a:ext cx="10888184" cy="1112836"/>
          </a:xfrm>
        </p:spPr>
        <p:txBody>
          <a:bodyPr>
            <a:normAutofit fontScale="90000"/>
          </a:bodyPr>
          <a:lstStyle/>
          <a:p>
            <a:r>
              <a:rPr lang="en-IN" dirty="0"/>
              <a:t>Instance-Dependent Prompt Generation (IDPG)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4110F-02B2-4569-B212-E8D12C4C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C702DE-3C42-449C-A051-13121C9BA2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21080" y="1094464"/>
            <a:ext cx="9942776" cy="52631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38A497-C629-41BB-A510-FFAC9B285172}"/>
              </a:ext>
            </a:extLst>
          </p:cNvPr>
          <p:cNvSpPr txBox="1"/>
          <p:nvPr/>
        </p:nvSpPr>
        <p:spPr>
          <a:xfrm>
            <a:off x="9799983" y="5754757"/>
            <a:ext cx="1848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Encoding input with PTM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4FCC60-7959-4937-9A86-3EAED825CFB8}"/>
              </a:ext>
            </a:extLst>
          </p:cNvPr>
          <p:cNvSpPr txBox="1"/>
          <p:nvPr/>
        </p:nvSpPr>
        <p:spPr>
          <a:xfrm>
            <a:off x="10121348" y="4346713"/>
            <a:ext cx="1848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Neural Prompt Generator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03E89A-5458-496F-B6C2-6D61F62D18C8}"/>
              </a:ext>
            </a:extLst>
          </p:cNvPr>
          <p:cNvSpPr txBox="1"/>
          <p:nvPr/>
        </p:nvSpPr>
        <p:spPr>
          <a:xfrm>
            <a:off x="10246581" y="3312887"/>
            <a:ext cx="1848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Time-stamped soft-prompts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A62CA7-9817-4113-9B0D-7195EAF4C4BA}"/>
                  </a:ext>
                </a:extLst>
              </p:cNvPr>
              <p:cNvSpPr txBox="1"/>
              <p:nvPr/>
            </p:nvSpPr>
            <p:spPr>
              <a:xfrm>
                <a:off x="336276" y="5364009"/>
                <a:ext cx="4090252" cy="98732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IN" sz="2800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sz="280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IN" sz="2800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IN" sz="280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IN" sz="2800" i="0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A62CA7-9817-4113-9B0D-7195EAF4C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76" y="5364009"/>
                <a:ext cx="4090252" cy="9873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826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42EDD-E131-4D0C-A606-C43BCD3A3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66" y="-204151"/>
            <a:ext cx="10888184" cy="1112836"/>
          </a:xfrm>
        </p:spPr>
        <p:txBody>
          <a:bodyPr>
            <a:normAutofit/>
          </a:bodyPr>
          <a:lstStyle/>
          <a:p>
            <a:r>
              <a:rPr lang="en-IN" dirty="0"/>
              <a:t>IDPG: Prompt Generator Module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FFE48-5827-40E1-98E6-94680E53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D8DA3B-694D-4390-9699-0B44A639D95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390" y="1256606"/>
            <a:ext cx="5335973" cy="40219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9AEE10-77A8-4FF7-A4A1-51B39CFD989D}"/>
                  </a:ext>
                </a:extLst>
              </p:cNvPr>
              <p:cNvSpPr txBox="1"/>
              <p:nvPr/>
            </p:nvSpPr>
            <p:spPr>
              <a:xfrm>
                <a:off x="2732809" y="5601394"/>
                <a:ext cx="7322993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latin typeface="Arial" panose="020B0604020202020204" pitchFamily="34" charset="0"/>
                    <a:ea typeface="Times New Roman" panose="02020603050405020304" pitchFamily="18" charset="0"/>
                  </a:rPr>
                  <a:t>T</a:t>
                </a:r>
                <a:r>
                  <a:rPr lang="en-IN" sz="28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otal number of parameters for generator </a:t>
                </a:r>
                <a14:m>
                  <m:oMath xmlns:m="http://schemas.openxmlformats.org/officeDocument/2006/math">
                    <m:r>
                      <a:rPr lang="en-IN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</m:t>
                    </m:r>
                  </m:oMath>
                </a14:m>
                <a:r>
                  <a:rPr lang="en-IN" sz="28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𝑚</m:t>
                      </m:r>
                      <m:d>
                        <m:dPr>
                          <m:ctrlPr>
                            <a:rPr lang="en-IN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  <m:r>
                            <a:rPr lang="en-IN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+1</m:t>
                          </m:r>
                        </m:e>
                      </m:d>
                      <m:r>
                        <a:rPr lang="en-IN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IN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𝑡𝑑</m:t>
                      </m:r>
                      <m:r>
                        <a:rPr lang="en-IN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IN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𝑚</m:t>
                      </m:r>
                      <m:r>
                        <a:rPr lang="en-IN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+1)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9AEE10-77A8-4FF7-A4A1-51B39CFD9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809" y="5601394"/>
                <a:ext cx="7322993" cy="954107"/>
              </a:xfrm>
              <a:prstGeom prst="rect">
                <a:avLst/>
              </a:prstGeom>
              <a:blipFill>
                <a:blip r:embed="rId3"/>
                <a:stretch>
                  <a:fillRect l="-1664" t="-7051" r="-1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9938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FCF4-439B-4825-9B74-598B68A7E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66" y="-204151"/>
            <a:ext cx="11337234" cy="1112836"/>
          </a:xfrm>
        </p:spPr>
        <p:txBody>
          <a:bodyPr>
            <a:normAutofit fontScale="90000"/>
          </a:bodyPr>
          <a:lstStyle/>
          <a:p>
            <a:r>
              <a:rPr lang="en-IN" dirty="0"/>
              <a:t>IDPG: </a:t>
            </a:r>
            <a:r>
              <a:rPr lang="en-US" dirty="0"/>
              <a:t>Parameterized Hypercomplex </a:t>
            </a:r>
            <a:r>
              <a:rPr lang="en-US" dirty="0" err="1"/>
              <a:t>Mult</a:t>
            </a:r>
            <a:r>
              <a:rPr lang="en-US" dirty="0"/>
              <a:t>. (PMH)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01E70-8DA5-4E8F-925C-F2E0D8FC4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12B98-82C2-409E-8E63-5FBC63D6791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00907" y="3658765"/>
            <a:ext cx="10089335" cy="19909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F74571-64DC-49D1-BDB6-4269A83F1133}"/>
                  </a:ext>
                </a:extLst>
              </p:cNvPr>
              <p:cNvSpPr txBox="1"/>
              <p:nvPr/>
            </p:nvSpPr>
            <p:spPr>
              <a:xfrm>
                <a:off x="1001366" y="1009939"/>
                <a:ext cx="1018015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 are large, the cost of learning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becomes the main bottleneck</a:t>
                </a:r>
                <a:endParaRPr lang="en-IN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F74571-64DC-49D1-BDB6-4269A83F1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66" y="1009939"/>
                <a:ext cx="10180155" cy="830997"/>
              </a:xfrm>
              <a:prstGeom prst="rect">
                <a:avLst/>
              </a:prstGeom>
              <a:blipFill>
                <a:blip r:embed="rId3"/>
                <a:stretch>
                  <a:fillRect l="-898" t="-5147" b="-169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35ED60-1C8B-4B9B-9B6C-F8DFF35F3E44}"/>
                  </a:ext>
                </a:extLst>
              </p:cNvPr>
              <p:cNvSpPr txBox="1"/>
              <p:nvPr/>
            </p:nvSpPr>
            <p:spPr>
              <a:xfrm>
                <a:off x="1001365" y="1960855"/>
                <a:ext cx="1038887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PHM replaces the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(H in the Figure) by a sum of Kronecker products of several small matrices</a:t>
                </a:r>
                <a:endParaRPr lang="en-IN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35ED60-1C8B-4B9B-9B6C-F8DFF35F3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65" y="1960855"/>
                <a:ext cx="10388877" cy="830997"/>
              </a:xfrm>
              <a:prstGeom prst="rect">
                <a:avLst/>
              </a:prstGeom>
              <a:blipFill>
                <a:blip r:embed="rId4"/>
                <a:stretch>
                  <a:fillRect l="-880" t="-5147" b="-169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C0E6CFD-7DB0-49C7-862E-C230157B843D}"/>
                  </a:ext>
                </a:extLst>
              </p:cNvPr>
              <p:cNvSpPr txBox="1"/>
              <p:nvPr/>
            </p:nvSpPr>
            <p:spPr>
              <a:xfrm>
                <a:off x="2522051" y="2804224"/>
                <a:ext cx="3004105" cy="849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nary>
                            <m:naryPr>
                              <m:chr m:val="⨂"/>
                              <m:subHide m:val="on"/>
                              <m:sup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IN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C0E6CFD-7DB0-49C7-862E-C230157B8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051" y="2804224"/>
                <a:ext cx="3004105" cy="8496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2F78C80-3896-493E-B49B-05862B054D54}"/>
                  </a:ext>
                </a:extLst>
              </p:cNvPr>
              <p:cNvSpPr txBox="1"/>
              <p:nvPr/>
            </p:nvSpPr>
            <p:spPr>
              <a:xfrm>
                <a:off x="5257798" y="2911771"/>
                <a:ext cx="2874893" cy="501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IN" i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IN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f>
                            <m:f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IN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2F78C80-3896-493E-B49B-05862B054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798" y="2911771"/>
                <a:ext cx="2874893" cy="5010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3EC2B2-A4EA-4FF6-86EC-07CE2768DDE0}"/>
                  </a:ext>
                </a:extLst>
              </p:cNvPr>
              <p:cNvSpPr txBox="1"/>
              <p:nvPr/>
            </p:nvSpPr>
            <p:spPr>
              <a:xfrm>
                <a:off x="2283511" y="5732755"/>
                <a:ext cx="8719102" cy="1126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The number of parameters reduces from </a:t>
                </a:r>
                <a14:m>
                  <m:oMath xmlns:m="http://schemas.openxmlformats.org/officeDocument/2006/math">
                    <m:r>
                      <a:rPr lang="en-IN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en-IN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×</m:t>
                    </m:r>
                    <m:r>
                      <a:rPr lang="en-IN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IN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IN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to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𝑛</m:t>
                      </m:r>
                      <m:r>
                        <a:rPr lang="en-IN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×</m:t>
                      </m:r>
                      <m:d>
                        <m:dPr>
                          <m:ctrlPr>
                            <a:rPr lang="en-IN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r>
                            <a:rPr lang="en-IN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×</m:t>
                          </m:r>
                          <m:r>
                            <a:rPr lang="en-IN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r>
                            <a:rPr lang="en-IN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IN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IN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</m:den>
                          </m:f>
                          <m:r>
                            <a:rPr lang="en-IN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IN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IN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IN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</m:den>
                          </m:f>
                        </m:e>
                      </m:d>
                      <m:r>
                        <a:rPr lang="en-IN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IN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IN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e>
                        <m:sup>
                          <m:r>
                            <a:rPr lang="en-IN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p>
                      </m:sSup>
                      <m:r>
                        <a:rPr lang="en-IN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IN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𝑚</m:t>
                          </m:r>
                          <m:r>
                            <a:rPr lang="en-IN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×</m:t>
                          </m:r>
                          <m:r>
                            <a:rPr lang="en-IN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num>
                        <m:den>
                          <m:r>
                            <a:rPr lang="en-IN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3EC2B2-A4EA-4FF6-86EC-07CE2768D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511" y="5732755"/>
                <a:ext cx="8719102" cy="1126077"/>
              </a:xfrm>
              <a:prstGeom prst="rect">
                <a:avLst/>
              </a:prstGeom>
              <a:blipFill>
                <a:blip r:embed="rId7"/>
                <a:stretch>
                  <a:fillRect l="-1119" t="-37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171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7" grpId="0"/>
      <p:bldP spid="19" grpId="0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57C2-14F3-4768-B8D0-B0DEA7380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Selective Prompt Tuning (SPT)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CB6F9-3D1C-4396-AFCA-14C79278C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Soft-prompts are added to the </a:t>
            </a:r>
            <a:r>
              <a:rPr lang="en-US" dirty="0">
                <a:solidFill>
                  <a:srgbClr val="C00000"/>
                </a:solidFill>
              </a:rPr>
              <a:t>input layer </a:t>
            </a:r>
            <a:r>
              <a:rPr lang="en-US" dirty="0"/>
              <a:t>of a PTM</a:t>
            </a:r>
          </a:p>
          <a:p>
            <a:r>
              <a:rPr lang="en-US" dirty="0"/>
              <a:t>Late Prompt Tuning (LPT) suggested that prompt-tuning layers can be added in </a:t>
            </a:r>
            <a:r>
              <a:rPr lang="en-US" dirty="0">
                <a:solidFill>
                  <a:srgbClr val="C00000"/>
                </a:solidFill>
              </a:rPr>
              <a:t>any intermediate layers </a:t>
            </a:r>
            <a:r>
              <a:rPr lang="en-US" dirty="0"/>
              <a:t>of PTM</a:t>
            </a:r>
          </a:p>
          <a:p>
            <a:r>
              <a:rPr lang="en-US" dirty="0">
                <a:solidFill>
                  <a:srgbClr val="C00000"/>
                </a:solidFill>
              </a:rPr>
              <a:t>Selection of optimal PTM layer </a:t>
            </a:r>
            <a:r>
              <a:rPr lang="en-US" dirty="0"/>
              <a:t>to insert the prompt-tuning layer varies with the PTM</a:t>
            </a:r>
          </a:p>
          <a:p>
            <a:pPr lvl="1"/>
            <a:r>
              <a:rPr lang="en-US" dirty="0"/>
              <a:t>Difficult to achieve manually</a:t>
            </a:r>
          </a:p>
          <a:p>
            <a:r>
              <a:rPr lang="en-US" dirty="0"/>
              <a:t>Selective Prompt Tuning (SPT) framework </a:t>
            </a:r>
            <a:r>
              <a:rPr lang="en-US" dirty="0">
                <a:solidFill>
                  <a:srgbClr val="C00000"/>
                </a:solidFill>
              </a:rPr>
              <a:t>automatically searches for the optimal strategy of inserting prompts </a:t>
            </a:r>
            <a:r>
              <a:rPr lang="en-US" dirty="0"/>
              <a:t>into the PTMs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D5CC6-0B02-4E3D-A599-A1529DE12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72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71A4B-1666-4E13-B9CC-D2644FD36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SPT Architecture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C4844-AD14-4687-9442-725AC470A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FCF146-C223-48CE-BEEC-4D489F055CE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27641" y="967996"/>
            <a:ext cx="7445568" cy="49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442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9F5C3-2EDD-47B6-924E-94262CF65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 Generator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B35CD-8802-4BC4-AF76-4A63C3D20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780AA1-6916-4B8E-A562-5C56B278C3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71970" y="938502"/>
            <a:ext cx="2146981" cy="24904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24062A-FAB8-4813-843F-94FC3A74C9AC}"/>
                  </a:ext>
                </a:extLst>
              </p:cNvPr>
              <p:cNvSpPr txBox="1"/>
              <p:nvPr/>
            </p:nvSpPr>
            <p:spPr>
              <a:xfrm>
                <a:off x="4432852" y="1882738"/>
                <a:ext cx="5685183" cy="745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𝑀𝐿</m:t>
                      </m:r>
                      <m:sSub>
                        <m:sSubPr>
                          <m:ctrlPr>
                            <a:rPr lang="en-I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𝑢𝑝</m:t>
                          </m:r>
                        </m:sub>
                      </m:sSub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𝑃𝑜𝑜𝑙𝑖𝑛𝑔</m:t>
                              </m:r>
                              <m:d>
                                <m:d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𝑀𝐿</m:t>
                                  </m:r>
                                  <m:sSub>
                                    <m:sSubPr>
                                      <m:ctrlPr>
                                        <a:rPr lang="en-IN" sz="2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𝑑𝑜𝑤𝑛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24062A-FAB8-4813-843F-94FC3A74C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852" y="1882738"/>
                <a:ext cx="5685183" cy="745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E0C94A-A0CD-40F2-84C2-A0BA93B1ED78}"/>
                  </a:ext>
                </a:extLst>
              </p:cNvPr>
              <p:cNvSpPr txBox="1"/>
              <p:nvPr/>
            </p:nvSpPr>
            <p:spPr>
              <a:xfrm>
                <a:off x="1691722" y="3773071"/>
                <a:ext cx="9708462" cy="27378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en-IN" sz="2400" dirty="0">
                    <a:solidFill>
                      <a:srgbClr val="C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</a:rPr>
                  <a:t>D</a:t>
                </a:r>
                <a:r>
                  <a:rPr lang="en-IN" sz="2400" dirty="0">
                    <a:solidFill>
                      <a:srgbClr val="C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own-project</a:t>
                </a:r>
                <a:r>
                  <a:rPr lang="en-IN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the hidden states </a:t>
                </a:r>
                <a14:m>
                  <m:oMath xmlns:m="http://schemas.openxmlformats.org/officeDocument/2006/math">
                    <m:r>
                      <a:rPr lang="en-IN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h</m:t>
                    </m:r>
                  </m:oMath>
                </a14:m>
                <a:r>
                  <a:rPr lang="en-IN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of PTM from dimension </a:t>
                </a:r>
                <a14:m>
                  <m:oMath xmlns:m="http://schemas.openxmlformats.org/officeDocument/2006/math">
                    <m:r>
                      <a:rPr lang="en-IN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𝑑</m:t>
                    </m:r>
                  </m:oMath>
                </a14:m>
                <a:r>
                  <a:rPr lang="en-IN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to dimension </a:t>
                </a:r>
                <a14:m>
                  <m:oMath xmlns:m="http://schemas.openxmlformats.org/officeDocument/2006/math">
                    <m:r>
                      <a:rPr lang="en-IN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en-IN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(</m:t>
                    </m:r>
                    <m:r>
                      <a:rPr lang="en-IN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𝑚</m:t>
                    </m:r>
                    <m:r>
                      <a:rPr lang="en-IN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≪</m:t>
                    </m:r>
                    <m:r>
                      <a:rPr lang="en-IN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IN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IN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via a linear layer </a:t>
                </a:r>
                <a14:m>
                  <m:oMath xmlns:m="http://schemas.openxmlformats.org/officeDocument/2006/math">
                    <m:r>
                      <a:rPr lang="en-IN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𝑀𝐿</m:t>
                    </m:r>
                    <m:sSub>
                      <m:sSubPr>
                        <m:ctrlPr>
                          <a:rPr lang="en-IN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𝑑𝑜𝑤𝑛</m:t>
                        </m:r>
                      </m:sub>
                    </m:sSub>
                  </m:oMath>
                </a14:m>
                <a:endParaRPr lang="en-IN" sz="2400" dirty="0"/>
              </a:p>
              <a:p>
                <a:pPr marL="457200" indent="-457200">
                  <a:buAutoNum type="arabicPeriod"/>
                </a:pPr>
                <a:r>
                  <a:rPr lang="en-IN" sz="2400" dirty="0">
                    <a:latin typeface="Arial" panose="020B0604020202020204" pitchFamily="34" charset="0"/>
                    <a:ea typeface="Times New Roman" panose="02020603050405020304" pitchFamily="18" charset="0"/>
                  </a:rPr>
                  <a:t>Compute</a:t>
                </a:r>
                <a:r>
                  <a:rPr lang="en-IN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prompt </a:t>
                </a:r>
                <a14:m>
                  <m:oMath xmlns:m="http://schemas.openxmlformats.org/officeDocument/2006/math">
                    <m:r>
                      <a:rPr lang="en-IN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𝑝</m:t>
                    </m:r>
                  </m:oMath>
                </a14:m>
                <a:r>
                  <a:rPr lang="en-IN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with length </a:t>
                </a:r>
                <a14:m>
                  <m:oMath xmlns:m="http://schemas.openxmlformats.org/officeDocument/2006/math">
                    <m:r>
                      <a:rPr lang="en-IN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𝑙</m:t>
                    </m:r>
                  </m:oMath>
                </a14:m>
                <a:r>
                  <a:rPr lang="en-IN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through </a:t>
                </a:r>
                <a:r>
                  <a:rPr lang="en-IN" sz="2400" dirty="0">
                    <a:solidFill>
                      <a:srgbClr val="C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average pooling </a:t>
                </a:r>
                <a:r>
                  <a:rPr lang="en-IN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operation Pooling().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𝑝</m:t>
                    </m:r>
                    <m:r>
                      <a:rPr lang="en-IN" sz="2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IN" sz="24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4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IN" sz="24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endParaRPr lang="en-IN" sz="24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AutoNum type="arabicPeriod"/>
                </a:pPr>
                <a:r>
                  <a:rPr lang="en-IN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Pass pooled prompt through an </a:t>
                </a:r>
                <a:r>
                  <a:rPr lang="en-IN" sz="2400" dirty="0">
                    <a:solidFill>
                      <a:srgbClr val="C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activation function </a:t>
                </a:r>
                <a14:m>
                  <m:oMath xmlns:m="http://schemas.openxmlformats.org/officeDocument/2006/math">
                    <m:r>
                      <a:rPr lang="en-IN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endParaRPr lang="en-IN" sz="2400" dirty="0">
                  <a:latin typeface="Arial" panose="020B0604020202020204" pitchFamily="34" charset="0"/>
                </a:endParaRPr>
              </a:p>
              <a:p>
                <a:pPr marL="457200" indent="-457200">
                  <a:buFontTx/>
                  <a:buAutoNum type="arabicPeriod"/>
                </a:pPr>
                <a:r>
                  <a:rPr lang="en-IN" sz="2400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IN" sz="2400" kern="100" dirty="0">
                    <a:solidFill>
                      <a:srgbClr val="C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p-project</a:t>
                </a:r>
                <a:r>
                  <a:rPr lang="en-IN" sz="2400" kern="1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dimension </a:t>
                </a:r>
                <a14:m>
                  <m:oMath xmlns:m="http://schemas.openxmlformats.org/officeDocument/2006/math">
                    <m:r>
                      <a:rPr lang="en-IN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𝑑</m:t>
                    </m:r>
                  </m:oMath>
                </a14:m>
                <a:r>
                  <a:rPr lang="en-IN" sz="2400" kern="1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via another linear layer </a:t>
                </a:r>
                <a14:m>
                  <m:oMath xmlns:m="http://schemas.openxmlformats.org/officeDocument/2006/math">
                    <m:r>
                      <a:rPr lang="en-IN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𝑀𝐿</m:t>
                    </m:r>
                    <m:sSub>
                      <m:sSubPr>
                        <m:ctrlPr>
                          <a:rPr lang="en-IN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IN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𝑢𝑝</m:t>
                        </m:r>
                      </m:sub>
                    </m:sSub>
                  </m:oMath>
                </a14:m>
                <a:r>
                  <a:rPr lang="en-IN" sz="2400" kern="1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𝑝</m:t>
                    </m:r>
                    <m:r>
                      <a:rPr lang="en-IN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endParaRPr lang="en-IN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E0C94A-A0CD-40F2-84C2-A0BA93B1E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722" y="3773071"/>
                <a:ext cx="9708462" cy="2737801"/>
              </a:xfrm>
              <a:prstGeom prst="rect">
                <a:avLst/>
              </a:prstGeom>
              <a:blipFill>
                <a:blip r:embed="rId4"/>
                <a:stretch>
                  <a:fillRect l="-879" t="-1559" r="-10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9721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6005B-9593-4556-9F35-BD3920872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SPT: Prompt hyper-network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35687-F07E-4CAC-8D50-7696834C4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Optimal setting of prompt layers under the limited tunable parameter budgets</a:t>
            </a:r>
          </a:p>
          <a:p>
            <a:pPr lvl="1"/>
            <a:r>
              <a:rPr lang="en-US" dirty="0"/>
              <a:t>Assume the parameter budget allows K prompt layers</a:t>
            </a:r>
          </a:p>
          <a:p>
            <a:r>
              <a:rPr lang="en-IN" dirty="0"/>
              <a:t>Prompt hyper-network </a:t>
            </a:r>
          </a:p>
          <a:p>
            <a:pPr lvl="1"/>
            <a:r>
              <a:rPr lang="en-US" dirty="0"/>
              <a:t>To implement the variable importance of different layers </a:t>
            </a:r>
          </a:p>
          <a:p>
            <a:pPr lvl="1"/>
            <a:r>
              <a:rPr lang="en-US" dirty="0"/>
              <a:t>Each intermediate layer with a gated prompt generation layer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DF37-7C52-4112-825A-CE1937841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197845-E5A6-407C-A799-A4D1391DF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250" y="5175102"/>
            <a:ext cx="4995504" cy="12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722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2250D-8DE6-44FF-8EAF-15189CF8D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SPT: Prompt hyper-network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270625-8086-48C7-B4E8-4E895B173B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IN" dirty="0"/>
                  <a:t>Learnable probabilistic gating mechanism</a:t>
                </a:r>
              </a:p>
              <a:p>
                <a:pPr lvl="1"/>
                <a:r>
                  <a:rPr lang="en-US" dirty="0"/>
                  <a:t>Zero-initialized learnable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𝛼</m:t>
                        </m:r>
                      </m:e>
                      <m:sub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IN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n-IN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ℝ</m:t>
                    </m:r>
                  </m:oMath>
                </a14:m>
                <a:endParaRPr lang="en-IN" dirty="0"/>
              </a:p>
              <a:p>
                <a:pPr lvl="1"/>
                <a:r>
                  <a:rPr lang="en-US" dirty="0"/>
                  <a:t>Learnable gate at layer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is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𝑆𝑖𝑔𝑚𝑜𝑖𝑑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IN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∈(0,1)</m:t>
                    </m:r>
                  </m:oMath>
                </a14:m>
                <a:r>
                  <a:rPr lang="en-IN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</a:t>
                </a:r>
                <a:r>
                  <a:rPr lang="en-IN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IN" dirty="0"/>
                  <a:t>probability of activating prompt generator at layer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IN" dirty="0"/>
              </a:p>
              <a:p>
                <a:r>
                  <a:rPr lang="en-IN" dirty="0"/>
                  <a:t>Computation of prompt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 at layer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I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IN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1−</m:t>
                        </m:r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𝜏</m:t>
                        </m:r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∗</m:t>
                        </m:r>
                        <m:sSub>
                          <m:sSubPr>
                            <m:ctrlP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IN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∗</m:t>
                    </m:r>
                    <m:sSubSup>
                      <m:sSubSupPr>
                        <m:ctrlP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𝑝𝑟𝑒𝑣</m:t>
                            </m:r>
                          </m:e>
                        </m:d>
                      </m:sup>
                    </m:sSubSup>
                    <m:r>
                      <a:rPr lang="en-IN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IN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𝜏</m:t>
                    </m:r>
                    <m:r>
                      <a:rPr lang="en-IN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∗</m:t>
                    </m:r>
                    <m:sSub>
                      <m:sSubPr>
                        <m:ctrlP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𝑛𝑒𝑤</m:t>
                        </m:r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</m:t>
                        </m:r>
                      </m:sup>
                    </m:sSubSup>
                  </m:oMath>
                </a14:m>
                <a:endParaRPr lang="en-IN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𝜏</m:t>
                    </m:r>
                    <m:r>
                      <a:rPr lang="en-IN" b="0" i="0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=1.0</m:t>
                    </m:r>
                  </m:oMath>
                </a14:m>
                <a:r>
                  <a:rPr lang="en-US" dirty="0"/>
                  <a:t> is similar to adding instance-independent new prompts are inserted at each intermediate layer</a:t>
                </a:r>
              </a:p>
              <a:p>
                <a:r>
                  <a:rPr lang="en-US" dirty="0"/>
                  <a:t>The top K layers that receive the highest probabilistic gate values will be set as prompt layers to meet the parameter budget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270625-8086-48C7-B4E8-4E895B173B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09" r="-1503" b="-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2A5E5-B129-49BD-BA9E-77F71E7A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7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F5CF1-B1D9-4A9C-B325-BA1BDAF50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SPT: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DDC0B3-4A34-49BC-BA67-C7D7A0EEF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Two sets of parameters are to be trained: </a:t>
                </a:r>
              </a:p>
              <a:p>
                <a:pPr lvl="1"/>
                <a:r>
                  <a:rPr lang="en-US" dirty="0"/>
                  <a:t>learnable probabilistic gates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𝛼</m:t>
                        </m:r>
                      </m:e>
                      <m:sub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𝛼</m:t>
                    </m:r>
                  </m:oMath>
                </a14:m>
                <a:r>
                  <a:rPr lang="en-US" dirty="0"/>
                  <a:t> for simplicity)</a:t>
                </a:r>
              </a:p>
              <a:p>
                <a:pPr lvl="1"/>
                <a:r>
                  <a:rPr lang="en-US" dirty="0"/>
                  <a:t>prompt generator parameters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𝜔</m:t>
                        </m:r>
                      </m:e>
                      <m:sub>
                        <m:r>
                          <a:rPr lang="en-IN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𝜔</m:t>
                    </m:r>
                  </m:oMath>
                </a14:m>
                <a:r>
                  <a:rPr lang="en-US" dirty="0"/>
                  <a:t> for simplicity)</a:t>
                </a:r>
              </a:p>
              <a:p>
                <a:r>
                  <a:rPr lang="en-US" dirty="0"/>
                  <a:t>Nested (bi-level) optimization</a:t>
                </a:r>
              </a:p>
              <a:p>
                <a:pPr lvl="1"/>
                <a:r>
                  <a:rPr lang="en-US" dirty="0"/>
                  <a:t>[Optimize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𝛼</m:t>
                    </m:r>
                  </m:oMath>
                </a14:m>
                <a:r>
                  <a:rPr lang="en-IN" dirty="0"/>
                  <a:t> [Optimize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𝜔</m:t>
                    </m:r>
                  </m:oMath>
                </a14:m>
                <a:r>
                  <a:rPr lang="en-IN" dirty="0"/>
                  <a:t>]]</a:t>
                </a:r>
              </a:p>
              <a:p>
                <a:pPr lvl="1"/>
                <a:r>
                  <a:rPr lang="en-US" dirty="0"/>
                  <a:t>At each epoch, the train set is split into two splits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𝒟</m:t>
                        </m:r>
                      </m:e>
                      <m:sub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𝛼</m:t>
                        </m:r>
                      </m:sub>
                    </m:sSub>
                    <m:r>
                      <a:rPr lang="en-IN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𝒟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DDC0B3-4A34-49BC-BA67-C7D7A0EEF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8B78D-0D8A-4C56-805E-74AB2CC9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921C7B-F15F-46D0-A66A-172A21B6CCE6}"/>
                  </a:ext>
                </a:extLst>
              </p:cNvPr>
              <p:cNvSpPr txBox="1"/>
              <p:nvPr/>
            </p:nvSpPr>
            <p:spPr>
              <a:xfrm>
                <a:off x="2256182" y="5164998"/>
                <a:ext cx="5227983" cy="15817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sz="2800" i="1" kern="100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IN" sz="2800" i="1" kern="10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N" sz="2800" kern="10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IN" sz="2800" i="1" kern="10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lim>
                          </m:limLow>
                        </m:fName>
                        <m:e>
                          <m:r>
                            <a:rPr lang="en-IN" sz="2800" i="1" kern="10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ℒ</m:t>
                          </m:r>
                          <m:d>
                            <m:dPr>
                              <m:ctrlPr>
                                <a:rPr lang="en-IN" sz="2800" i="1" kern="10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 kern="10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 kern="10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𝒟</m:t>
                                  </m:r>
                                </m:e>
                                <m:sub>
                                  <m:r>
                                    <a:rPr lang="en-IN" sz="2800" i="1" kern="10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IN" sz="2800" i="1" kern="10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en-IN" sz="2800" i="1" kern="10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i="1" kern="10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IN" sz="2800" i="1" kern="10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IN" sz="2800" i="1" kern="10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a:rPr lang="en-IN" sz="2800" i="1" kern="10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IN" sz="2800" kern="100" dirty="0">
                  <a:solidFill>
                    <a:srgbClr val="0070C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kern="10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𝑠</m:t>
                      </m:r>
                      <m:r>
                        <a:rPr lang="en-IN" sz="2800" i="1" kern="10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en-IN" sz="2800" i="1" kern="10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IN" sz="2800" i="1" kern="10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. </m:t>
                      </m:r>
                      <m:sSup>
                        <m:sSupPr>
                          <m:ctrlPr>
                            <a:rPr lang="en-IN" sz="2800" i="1" kern="10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IN" sz="2800" i="1" kern="10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𝜔</m:t>
                          </m:r>
                        </m:e>
                        <m:sup>
                          <m:r>
                            <a:rPr lang="en-IN" sz="2800" i="1" kern="10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r>
                        <a:rPr lang="en-IN" sz="2800" i="1" kern="10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IN" sz="2800" i="1" kern="10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IN" sz="2800" i="1" kern="10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N" sz="2800" kern="10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IN" sz="2800" i="1" kern="10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</m:lim>
                          </m:limLow>
                        </m:fName>
                        <m:e>
                          <m:r>
                            <a:rPr lang="en-IN" sz="2800" i="1" kern="10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ℒ</m:t>
                          </m:r>
                          <m:r>
                            <a:rPr lang="en-IN" sz="2800" i="1" kern="10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800" i="1" kern="10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IN" sz="2800" i="1" kern="10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𝒟</m:t>
                              </m:r>
                            </m:e>
                            <m:sub>
                              <m:r>
                                <a:rPr lang="en-IN" sz="2800" i="1" kern="10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𝜔</m:t>
                              </m:r>
                            </m:sub>
                          </m:sSub>
                          <m:r>
                            <a:rPr lang="en-IN" sz="2800" i="1" kern="10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IN" sz="2800" i="1" kern="10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𝜔</m:t>
                          </m:r>
                          <m:r>
                            <a:rPr lang="en-IN" sz="2800" i="1" kern="10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n-IN" sz="2800" i="1" kern="10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IN" sz="2800" i="1" kern="10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IN" sz="2800" kern="100" dirty="0">
                  <a:solidFill>
                    <a:srgbClr val="0070C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921C7B-F15F-46D0-A66A-172A21B6C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6182" y="5164998"/>
                <a:ext cx="5227983" cy="15817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BBBF19-FB99-4C77-B8CB-E3779ECA4A5F}"/>
                  </a:ext>
                </a:extLst>
              </p:cNvPr>
              <p:cNvSpPr txBox="1"/>
              <p:nvPr/>
            </p:nvSpPr>
            <p:spPr>
              <a:xfrm>
                <a:off x="7889185" y="5394596"/>
                <a:ext cx="2556842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ℒ</m:t>
                    </m:r>
                    <m:r>
                      <a:rPr lang="en-IN" sz="1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()</m:t>
                    </m:r>
                  </m:oMath>
                </a14:m>
                <a:r>
                  <a:rPr lang="en-IN" sz="18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</a:t>
                </a:r>
                <a:r>
                  <a:rPr lang="en-IN" sz="2000" spc="50" dirty="0"/>
                  <a:t>is the objective function on a given downstream task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BBBF19-FB99-4C77-B8CB-E3779ECA4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185" y="5394596"/>
                <a:ext cx="2556842" cy="1015663"/>
              </a:xfrm>
              <a:prstGeom prst="rect">
                <a:avLst/>
              </a:prstGeom>
              <a:blipFill>
                <a:blip r:embed="rId4"/>
                <a:stretch>
                  <a:fillRect l="-2381" t="-2994" r="-3571" b="-101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CDBCB9F-6EFF-4C76-9627-EFC1E81C9D8F}"/>
              </a:ext>
            </a:extLst>
          </p:cNvPr>
          <p:cNvSpPr txBox="1"/>
          <p:nvPr/>
        </p:nvSpPr>
        <p:spPr>
          <a:xfrm>
            <a:off x="507270" y="6038575"/>
            <a:ext cx="2096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Inner optimization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0DE261-968A-4BAB-95C6-62B030B70869}"/>
              </a:ext>
            </a:extLst>
          </p:cNvPr>
          <p:cNvSpPr txBox="1"/>
          <p:nvPr/>
        </p:nvSpPr>
        <p:spPr>
          <a:xfrm>
            <a:off x="1207978" y="5318855"/>
            <a:ext cx="2171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Outer optimization</a:t>
            </a:r>
          </a:p>
        </p:txBody>
      </p:sp>
    </p:spTree>
    <p:extLst>
      <p:ext uri="{BB962C8B-B14F-4D97-AF65-F5344CB8AC3E}">
        <p14:creationId xmlns:p14="http://schemas.microsoft.com/office/powerpoint/2010/main" val="167247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D1778-F245-4097-A912-7D9C5466D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XPrompt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EC41C-0BEF-4704-876E-7DABDE837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4F588F-7955-493F-8B35-57F2998CA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037" y="907792"/>
            <a:ext cx="5056406" cy="36884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DC0B21-5611-4EFB-BE5B-E05E322F1588}"/>
              </a:ext>
            </a:extLst>
          </p:cNvPr>
          <p:cNvSpPr txBox="1"/>
          <p:nvPr/>
        </p:nvSpPr>
        <p:spPr>
          <a:xfrm>
            <a:off x="1610137" y="4625204"/>
            <a:ext cx="95316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Large performance gap </a:t>
            </a:r>
            <a:r>
              <a:rPr lang="en-IN" sz="2400" dirty="0"/>
              <a:t>between prompt tuning and fine-tuning for models of moderate and small scales (&lt; 11B parameters)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B67F1-DC6C-4351-9C6E-288D7CFB2F32}"/>
              </a:ext>
            </a:extLst>
          </p:cNvPr>
          <p:cNvSpPr txBox="1"/>
          <p:nvPr/>
        </p:nvSpPr>
        <p:spPr>
          <a:xfrm>
            <a:off x="1592869" y="5627042"/>
            <a:ext cx="99067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Trained prompt tokens can have a </a:t>
            </a:r>
            <a:r>
              <a:rPr lang="en-IN" sz="2400" dirty="0">
                <a:solidFill>
                  <a:srgbClr val="FF0000"/>
                </a:solidFill>
              </a:rPr>
              <a:t>negative impact on a downstream </a:t>
            </a:r>
            <a:r>
              <a:rPr lang="en-IN" sz="2400" dirty="0"/>
              <a:t>task and thus degrade its performance.</a:t>
            </a:r>
          </a:p>
        </p:txBody>
      </p:sp>
    </p:spTree>
    <p:extLst>
      <p:ext uri="{BB962C8B-B14F-4D97-AF65-F5344CB8AC3E}">
        <p14:creationId xmlns:p14="http://schemas.microsoft.com/office/powerpoint/2010/main" val="2071442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2056E-1FF8-4BC8-AFD1-A9B66F646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Impact of Negative Prompt Tokens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B1AA3-28E8-44A2-8C32-8EDD60170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76FCB5-00AF-4267-8FB5-58AE5C276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330" y="982768"/>
            <a:ext cx="7018628" cy="48924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9D0CBF-730A-48D0-A0E1-10A287F2BB95}"/>
              </a:ext>
            </a:extLst>
          </p:cNvPr>
          <p:cNvSpPr txBox="1"/>
          <p:nvPr/>
        </p:nvSpPr>
        <p:spPr>
          <a:xfrm>
            <a:off x="3356210" y="5949315"/>
            <a:ext cx="5980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How to get rid of the negative prompts?</a:t>
            </a:r>
          </a:p>
        </p:txBody>
      </p:sp>
    </p:spTree>
    <p:extLst>
      <p:ext uri="{BB962C8B-B14F-4D97-AF65-F5344CB8AC3E}">
        <p14:creationId xmlns:p14="http://schemas.microsoft.com/office/powerpoint/2010/main" val="66926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03B96-370B-4431-9DA3-25A328AF7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Lottery Ticket Hypothesis (LTH)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45EA3-A70C-476C-85D2-D49CB9ADD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50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4EF869-10B1-4741-9AE1-90D253336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94182"/>
            <a:ext cx="12192000" cy="417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148993-C5F3-4650-8E66-6E356BCC5DF4}"/>
              </a:ext>
            </a:extLst>
          </p:cNvPr>
          <p:cNvSpPr txBox="1"/>
          <p:nvPr/>
        </p:nvSpPr>
        <p:spPr>
          <a:xfrm>
            <a:off x="1488387" y="5036658"/>
            <a:ext cx="95341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“</a:t>
            </a:r>
            <a:r>
              <a:rPr lang="en-IN" sz="2000" i="1" dirty="0"/>
              <a:t>An over-parameterized </a:t>
            </a:r>
            <a:r>
              <a:rPr lang="en-IN" sz="2000" i="1" dirty="0">
                <a:solidFill>
                  <a:srgbClr val="C00000"/>
                </a:solidFill>
              </a:rPr>
              <a:t>network contains a sub-network </a:t>
            </a:r>
            <a:r>
              <a:rPr lang="en-IN" sz="2000" i="1" dirty="0"/>
              <a:t>that, when initialized and trained in isolation, can match or exceed the test accuracy of the original network after training for at most the same number of iterations”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52F1AD-6953-4A80-B5D5-1960C6937CAB}"/>
              </a:ext>
            </a:extLst>
          </p:cNvPr>
          <p:cNvSpPr txBox="1"/>
          <p:nvPr/>
        </p:nvSpPr>
        <p:spPr>
          <a:xfrm>
            <a:off x="1488387" y="6150114"/>
            <a:ext cx="9653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The sub-network is called </a:t>
            </a:r>
            <a:r>
              <a:rPr lang="en-IN" sz="2000" dirty="0">
                <a:solidFill>
                  <a:srgbClr val="C00000"/>
                </a:solidFill>
              </a:rPr>
              <a:t>lottery ticket</a:t>
            </a:r>
            <a:r>
              <a:rPr lang="en-IN" sz="2000" dirty="0"/>
              <a:t>, and the collection of the tickets is referred to as </a:t>
            </a:r>
            <a:r>
              <a:rPr lang="en-IN" sz="2000" dirty="0">
                <a:solidFill>
                  <a:srgbClr val="C00000"/>
                </a:solidFill>
              </a:rPr>
              <a:t>winning tickets.</a:t>
            </a:r>
          </a:p>
        </p:txBody>
      </p:sp>
    </p:spTree>
    <p:extLst>
      <p:ext uri="{BB962C8B-B14F-4D97-AF65-F5344CB8AC3E}">
        <p14:creationId xmlns:p14="http://schemas.microsoft.com/office/powerpoint/2010/main" val="138641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13272-C242-4C34-B546-CCD15B2B0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LTH in Prompt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CDFBE-3707-408C-8085-56ACEDBFA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winning tickets are the collection of positive prompt tokens</a:t>
            </a:r>
          </a:p>
          <a:p>
            <a:pPr lvl="1"/>
            <a:r>
              <a:rPr lang="en-US" dirty="0"/>
              <a:t>can achieve the same performance as using the entire collection of prompts</a:t>
            </a:r>
          </a:p>
          <a:p>
            <a:r>
              <a:rPr lang="en-US" dirty="0"/>
              <a:t>Losing tickets are the collection of negative prompt tokens</a:t>
            </a:r>
          </a:p>
          <a:p>
            <a:r>
              <a:rPr lang="en-US" dirty="0">
                <a:solidFill>
                  <a:srgbClr val="C00000"/>
                </a:solidFill>
              </a:rPr>
              <a:t>Identify the winning tickets and eliminate the losing ones, in the collection of trained prompt tokens.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07E79-C984-4DC3-AE92-83B1D87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63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D1A99-0FBF-4331-87D6-0B54CEE44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Xprompt</a:t>
            </a:r>
            <a:r>
              <a:rPr lang="en-IN" dirty="0"/>
              <a:t>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11555-F54B-4E1A-9B73-30EB20685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06CF3C-075D-4CE0-A74D-33C696083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28" y="1913173"/>
            <a:ext cx="11868343" cy="332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4947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1A427-FAA7-47F1-8811-88594F196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Hierarchical Structured Pruning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AE6EE-EE59-4722-BF02-33EA4158E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273B6C-1C8E-4635-9521-1A7EED264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05" y="1992505"/>
            <a:ext cx="9076207" cy="28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039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25CE-A7D4-41C4-B0C7-D19C583D7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 Level Pruning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9DC88C-DC34-4DC3-ABC2-ADD7E076F9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Train to identify negative prompt tokens</a:t>
                </a:r>
              </a:p>
              <a:p>
                <a:pPr lvl="1"/>
                <a:r>
                  <a:rPr lang="en-IN" dirty="0"/>
                  <a:t>Associate mask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 to each soft prompt token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IN" dirty="0"/>
              </a:p>
              <a:p>
                <a:pPr marL="3600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∈{0,1} 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Importance score of each token</a:t>
                </a:r>
              </a:p>
              <a:p>
                <a:pPr lvl="1"/>
                <a:r>
                  <a:rPr lang="en-IN" dirty="0"/>
                  <a:t>Expected sensitivity of the model output to the mask variable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9DC88C-DC34-4DC3-ABC2-ADD7E076F9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27AEB-6C92-4C1C-95BD-B2F00511C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8E950D-8C9B-467E-BB6B-6077627E1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714" y="4526173"/>
            <a:ext cx="4130398" cy="123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309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CD0FF-594E-4172-BB6E-2432FC78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Piece-Level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1B5A5-7793-41A7-ACCA-EEBF552EB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still fine-grained negative prompt pieces remaining in the embedding of each soft prompt token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F4644-8430-4DDB-A4AA-D7ACB421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55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342D203-771B-4A4A-B55A-0F2C951CF84B}"/>
              </a:ext>
            </a:extLst>
          </p:cNvPr>
          <p:cNvGrpSpPr/>
          <p:nvPr/>
        </p:nvGrpSpPr>
        <p:grpSpPr>
          <a:xfrm>
            <a:off x="3076461" y="2867439"/>
            <a:ext cx="1102518" cy="2302852"/>
            <a:chOff x="4984773" y="2497747"/>
            <a:chExt cx="1102518" cy="230285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F054796-4F93-4D81-BC9E-B00BE0049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84773" y="2497747"/>
              <a:ext cx="602381" cy="230285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9E2FE85-F541-494A-82CB-9914206342ED}"/>
                    </a:ext>
                  </a:extLst>
                </p:cNvPr>
                <p:cNvSpPr txBox="1"/>
                <p:nvPr/>
              </p:nvSpPr>
              <p:spPr>
                <a:xfrm>
                  <a:off x="5587154" y="2617652"/>
                  <a:ext cx="486607" cy="4029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b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IN" sz="2400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9E2FE85-F541-494A-82CB-9914206342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7154" y="2617652"/>
                  <a:ext cx="486607" cy="402995"/>
                </a:xfrm>
                <a:prstGeom prst="rect">
                  <a:avLst/>
                </a:prstGeom>
                <a:blipFill>
                  <a:blip r:embed="rId3"/>
                  <a:stretch>
                    <a:fillRect l="-13750" b="-1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B17B9B2-10DB-484B-8C1F-7A1A39A7ECEF}"/>
                    </a:ext>
                  </a:extLst>
                </p:cNvPr>
                <p:cNvSpPr txBox="1"/>
                <p:nvPr/>
              </p:nvSpPr>
              <p:spPr>
                <a:xfrm>
                  <a:off x="5587154" y="3244334"/>
                  <a:ext cx="493725" cy="4029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b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IN" sz="2400" dirty="0"/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B17B9B2-10DB-484B-8C1F-7A1A39A7EC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7154" y="3244334"/>
                  <a:ext cx="493725" cy="402995"/>
                </a:xfrm>
                <a:prstGeom prst="rect">
                  <a:avLst/>
                </a:prstGeom>
                <a:blipFill>
                  <a:blip r:embed="rId4"/>
                  <a:stretch>
                    <a:fillRect l="-13580" b="-1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28C371E-FD3C-468E-965F-6389B5BC0F35}"/>
                    </a:ext>
                  </a:extLst>
                </p:cNvPr>
                <p:cNvSpPr txBox="1"/>
                <p:nvPr/>
              </p:nvSpPr>
              <p:spPr>
                <a:xfrm>
                  <a:off x="5587154" y="4222663"/>
                  <a:ext cx="500137" cy="4029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IN" sz="2400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28C371E-FD3C-468E-965F-6389B5BC0F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7154" y="4222663"/>
                  <a:ext cx="500137" cy="402995"/>
                </a:xfrm>
                <a:prstGeom prst="rect">
                  <a:avLst/>
                </a:prstGeom>
                <a:blipFill>
                  <a:blip r:embed="rId5"/>
                  <a:stretch>
                    <a:fillRect l="-13253" b="-1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42E0D6-5BA9-41B1-82D1-9C0A90258DCF}"/>
                  </a:ext>
                </a:extLst>
              </p:cNvPr>
              <p:cNvSpPr txBox="1"/>
              <p:nvPr/>
            </p:nvSpPr>
            <p:spPr>
              <a:xfrm>
                <a:off x="5431737" y="2867439"/>
                <a:ext cx="2991525" cy="402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42E0D6-5BA9-41B1-82D1-9C0A90258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1737" y="2867439"/>
                <a:ext cx="2991525" cy="402995"/>
              </a:xfrm>
              <a:prstGeom prst="rect">
                <a:avLst/>
              </a:prstGeom>
              <a:blipFill>
                <a:blip r:embed="rId6"/>
                <a:stretch>
                  <a:fillRect l="-204" r="-1222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A1ADB2C-54DA-444B-BB21-193E008E5FDF}"/>
                  </a:ext>
                </a:extLst>
              </p:cNvPr>
              <p:cNvSpPr txBox="1"/>
              <p:nvPr/>
            </p:nvSpPr>
            <p:spPr>
              <a:xfrm>
                <a:off x="5488791" y="3488635"/>
                <a:ext cx="53114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A1ADB2C-54DA-444B-BB21-193E008E5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791" y="3488635"/>
                <a:ext cx="5311454" cy="369332"/>
              </a:xfrm>
              <a:prstGeom prst="rect">
                <a:avLst/>
              </a:prstGeom>
              <a:blipFill>
                <a:blip r:embed="rId7"/>
                <a:stretch>
                  <a:fillRect l="-459" t="-14754" r="-1147" b="-360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BA734C93-2589-4E7D-A60F-1505D9549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7337" y="4282298"/>
            <a:ext cx="3843501" cy="113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1131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9272-ABF0-44CD-913A-4475938EE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Rewinding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6F48C-466B-4F30-B569-9AFFA1484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66" y="1097280"/>
            <a:ext cx="10888184" cy="5180971"/>
          </a:xfrm>
        </p:spPr>
        <p:txBody>
          <a:bodyPr>
            <a:normAutofit lnSpcReduction="10000"/>
          </a:bodyPr>
          <a:lstStyle/>
          <a:p>
            <a:r>
              <a:rPr lang="en-IN" dirty="0"/>
              <a:t>Weight rewinding</a:t>
            </a:r>
          </a:p>
          <a:p>
            <a:pPr lvl="1"/>
            <a:r>
              <a:rPr lang="en-US" dirty="0"/>
              <a:t>Re-train the soft prompts after the two-level hierarchical structured pruning</a:t>
            </a:r>
          </a:p>
          <a:p>
            <a:r>
              <a:rPr lang="en-US" dirty="0"/>
              <a:t>Reset the parameters of the selected optimal soft prompts</a:t>
            </a:r>
          </a:p>
          <a:p>
            <a:r>
              <a:rPr lang="en-US" dirty="0"/>
              <a:t>Other soft prompts are pruned by setting the corresponding mask variables to 0</a:t>
            </a:r>
          </a:p>
          <a:p>
            <a:r>
              <a:rPr lang="en-US" dirty="0"/>
              <a:t>Re-train the soft prompts using the original learning strategies in prompt tuning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5283E-F705-4CEC-8B8C-7532363D7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2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rostyVTI">
  <a:themeElements>
    <a:clrScheme name="AnalogousFromDarkSeedLeftStep">
      <a:dk1>
        <a:srgbClr val="000000"/>
      </a:dk1>
      <a:lt1>
        <a:srgbClr val="FFFFFF"/>
      </a:lt1>
      <a:dk2>
        <a:srgbClr val="1C2B32"/>
      </a:dk2>
      <a:lt2>
        <a:srgbClr val="E2E8E2"/>
      </a:lt2>
      <a:accent1>
        <a:srgbClr val="D838D6"/>
      </a:accent1>
      <a:accent2>
        <a:srgbClr val="8526C6"/>
      </a:accent2>
      <a:accent3>
        <a:srgbClr val="5538D8"/>
      </a:accent3>
      <a:accent4>
        <a:srgbClr val="264CC6"/>
      </a:accent4>
      <a:accent5>
        <a:srgbClr val="38A1D8"/>
      </a:accent5>
      <a:accent6>
        <a:srgbClr val="23B6AC"/>
      </a:accent6>
      <a:hlink>
        <a:srgbClr val="3F7DBF"/>
      </a:hlink>
      <a:folHlink>
        <a:srgbClr val="7F7F7F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76616</TotalTime>
  <Words>2098</Words>
  <Application>Microsoft Office PowerPoint</Application>
  <PresentationFormat>Widescreen</PresentationFormat>
  <Paragraphs>337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6" baseType="lpstr">
      <vt:lpstr>Arial</vt:lpstr>
      <vt:lpstr>Avenir Next LT Pro</vt:lpstr>
      <vt:lpstr>Calibri</vt:lpstr>
      <vt:lpstr>Cambria Math</vt:lpstr>
      <vt:lpstr>Courier New</vt:lpstr>
      <vt:lpstr>Goudy Old Style</vt:lpstr>
      <vt:lpstr>Symbol</vt:lpstr>
      <vt:lpstr>Times New Roman</vt:lpstr>
      <vt:lpstr>Wingdings</vt:lpstr>
      <vt:lpstr>FrostyVTI</vt:lpstr>
      <vt:lpstr>LLM Post-Training</vt:lpstr>
      <vt:lpstr>LLM Training Stages</vt:lpstr>
      <vt:lpstr>Post-Training Language Models (PoLMs)</vt:lpstr>
      <vt:lpstr>Evolution of PoLMs</vt:lpstr>
      <vt:lpstr>PoLM Scope</vt:lpstr>
      <vt:lpstr>Fine Tuning PoLMs</vt:lpstr>
      <vt:lpstr>Supervised Fine-Tuning (SFT)</vt:lpstr>
      <vt:lpstr>Instruction Tuning</vt:lpstr>
      <vt:lpstr>Instruction Tuning</vt:lpstr>
      <vt:lpstr>Instruction Tuning Datasets</vt:lpstr>
      <vt:lpstr>Instruction Tuning Datasets</vt:lpstr>
      <vt:lpstr>Parameter Efficient Fine-Tuning (PEFT)</vt:lpstr>
      <vt:lpstr>Adapter: General Setup</vt:lpstr>
      <vt:lpstr>Adapter: General Setup</vt:lpstr>
      <vt:lpstr>Additive PEFT: Adapter</vt:lpstr>
      <vt:lpstr>Two Requirements of Adapters</vt:lpstr>
      <vt:lpstr>PowerPoint Presentation</vt:lpstr>
      <vt:lpstr>Sequential Adapters</vt:lpstr>
      <vt:lpstr>Sequential Adapters</vt:lpstr>
      <vt:lpstr>Residual Adapter</vt:lpstr>
      <vt:lpstr>Tiny-Attention Adapter</vt:lpstr>
      <vt:lpstr>Tiny-Attention Adapter</vt:lpstr>
      <vt:lpstr>PowerPoint Presentation</vt:lpstr>
      <vt:lpstr>Soft Prompt as Continuous Prompt</vt:lpstr>
      <vt:lpstr>Soft-Prompt: Prefix-Tuning or Prompt Tuning</vt:lpstr>
      <vt:lpstr>Soft-Prompt: Prefix-Tuning or Prompt Tuning</vt:lpstr>
      <vt:lpstr>Soft-Prompt: Prefix-Tuning or Prompt Tuning </vt:lpstr>
      <vt:lpstr>Soft-Prompt: Prefix-Tuning or Prompt Tuning </vt:lpstr>
      <vt:lpstr>Sparse Mixture of Prompts (SMoP)</vt:lpstr>
      <vt:lpstr>Sparse Mixture of Prompts</vt:lpstr>
      <vt:lpstr>Soft Prompt: Adaptive Prefix Tuning (APT)</vt:lpstr>
      <vt:lpstr>Soft Prompt: Adaptive Prefix Tuning (APT)</vt:lpstr>
      <vt:lpstr>Soft Prompt: Adaptive Prefix Tuning (APT)</vt:lpstr>
      <vt:lpstr>APT: Fine-Grained Weighting</vt:lpstr>
      <vt:lpstr>APT: Coarse-Grained Weighting</vt:lpstr>
      <vt:lpstr>Prefix weight distribution learned by APT</vt:lpstr>
      <vt:lpstr>Instance-Dependent Prompt Generation (IDPG)</vt:lpstr>
      <vt:lpstr>Prompt Tuning: General Framework</vt:lpstr>
      <vt:lpstr>Instance-Dependent Prompt Generation (IDPG)</vt:lpstr>
      <vt:lpstr>IDPG: Prompt Generator Module</vt:lpstr>
      <vt:lpstr>IDPG: Parameterized Hypercomplex Mult. (PMH)</vt:lpstr>
      <vt:lpstr>Selective Prompt Tuning (SPT)</vt:lpstr>
      <vt:lpstr>SPT Architecture </vt:lpstr>
      <vt:lpstr>Prompt Generator</vt:lpstr>
      <vt:lpstr>SPT: Prompt hyper-network</vt:lpstr>
      <vt:lpstr>SPT: Prompt hyper-network</vt:lpstr>
      <vt:lpstr>SPT: Optimization</vt:lpstr>
      <vt:lpstr>XPrompt</vt:lpstr>
      <vt:lpstr>Impact of Negative Prompt Tokens</vt:lpstr>
      <vt:lpstr>Lottery Ticket Hypothesis (LTH)</vt:lpstr>
      <vt:lpstr>LTH in Prompt Tuning</vt:lpstr>
      <vt:lpstr>Xprompt Workflow</vt:lpstr>
      <vt:lpstr>Hierarchical Structured Pruning</vt:lpstr>
      <vt:lpstr>Token Level Pruning</vt:lpstr>
      <vt:lpstr>Piece-Level Pruning</vt:lpstr>
      <vt:lpstr>Rewinding Phase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Neural Networks</dc:title>
  <dc:creator>Plaban Kumar Bhowmick</dc:creator>
  <cp:lastModifiedBy>Plaban Kumar Bhowmick</cp:lastModifiedBy>
  <cp:revision>1001</cp:revision>
  <dcterms:created xsi:type="dcterms:W3CDTF">2021-07-28T12:05:26Z</dcterms:created>
  <dcterms:modified xsi:type="dcterms:W3CDTF">2025-10-07T01:31:30Z</dcterms:modified>
</cp:coreProperties>
</file>